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409B842-7919-4587-BDF9-964155A98FAA}">
          <p14:sldIdLst>
            <p14:sldId id="256"/>
            <p14:sldId id="257"/>
            <p14:sldId id="258"/>
            <p14:sldId id="259"/>
          </p14:sldIdLst>
        </p14:section>
        <p14:section name="Data and method" id="{6B0FA2A0-F6F5-BB59-0811-FBEC227F09E4}">
          <p14:sldIdLst>
            <p14:sldId id="260"/>
            <p14:sldId id="261"/>
            <p14:sldId id="262"/>
            <p14:sldId id="263"/>
          </p14:sldIdLst>
        </p14:section>
        <p14:section name="Results" id="{54EFE1D7-B441-E668-C207-483BA9E8728B}">
          <p14:sldIdLst>
            <p14:sldId id="264"/>
            <p14:sldId id="265"/>
            <p14:sldId id="266"/>
          </p14:sldIdLst>
        </p14:section>
        <p14:section name="Wrap-up" id="{8C7E3F5C-56CF-2696-7CCC-F20F828035B8}">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2545"/>
                </a:solidFill>
                <a:latin typeface="+mn-lt"/>
              </a:defRPr>
            </a:pPr>
            <a:r>
              <a:rPr lang="en-US" sz="1400" b="0" i="0" u="none" strike="noStrike">
                <a:solidFill>
                  <a:srgbClr val="0B2545"/>
                </a:solidFill>
                <a:latin typeface="+mn-lt"/>
              </a:rPr>
              <a:t>Mean Absolute Error (lower is better)</a:t>
            </a:r>
          </a:p>
        </c:rich>
      </c:tx>
      <c:overlay val="0"/>
    </c:title>
    <c:autoTitleDeleted val="0"/>
    <c:plotArea>
      <c:layout/>
      <c:barChart>
        <c:barDir val="col"/>
        <c:grouping val="clustered"/>
        <c:varyColors val="0"/>
        <c:ser>
          <c:idx val="0"/>
          <c:order val="0"/>
          <c:tx>
            <c:strRef>
              <c:f>Sheet1!$B$1</c:f>
              <c:strCache>
                <c:ptCount val="1"/>
                <c:pt idx="0">
                  <c:v>MAE (mg/dL)</c:v>
                </c:pt>
              </c:strCache>
            </c:strRef>
          </c:tx>
          <c:spPr>
            <a:solidFill>
              <a:srgbClr val="5B7083"/>
            </a:solidFill>
            <a:effectLst/>
          </c:spPr>
          <c:invertIfNegative val="0"/>
          <c:dPt>
            <c:idx val="0"/>
            <c:invertIfNegative val="0"/>
            <c:bubble3D val="0"/>
            <c:extLst>
              <c:ext xmlns:c16="http://schemas.microsoft.com/office/drawing/2014/chart" uri="{C3380CC4-5D6E-409C-BE32-E72D297353CC}">
                <c16:uniqueId val="{00000001-8B48-485E-8F8B-C2FC40DFF709}"/>
              </c:ext>
            </c:extLst>
          </c:dPt>
          <c:dPt>
            <c:idx val="1"/>
            <c:invertIfNegative val="0"/>
            <c:bubble3D val="0"/>
            <c:spPr>
              <a:solidFill>
                <a:srgbClr val="0E8C8C"/>
              </a:solidFill>
              <a:effectLst/>
            </c:spPr>
            <c:extLst>
              <c:ext xmlns:c16="http://schemas.microsoft.com/office/drawing/2014/chart" uri="{C3380CC4-5D6E-409C-BE32-E72D297353CC}">
                <c16:uniqueId val="{00000003-8B48-485E-8F8B-C2FC40DFF709}"/>
              </c:ext>
            </c:extLst>
          </c:dPt>
          <c:dLbls>
            <c:numFmt formatCode="0.000" sourceLinked="0"/>
            <c:spPr>
              <a:noFill/>
              <a:ln>
                <a:noFill/>
              </a:ln>
              <a:effectLst/>
            </c:spPr>
            <c:txPr>
              <a:bodyPr/>
              <a:lstStyle/>
              <a:p>
                <a:pPr>
                  <a:defRPr sz="1400" b="1" i="0" u="none" strike="noStrike">
                    <a:solidFill>
                      <a:srgbClr val="0B2545"/>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Persistence baseline</c:v>
                </c:pt>
                <c:pt idx="1">
                  <c:v>GlucoTwin Random Forest</c:v>
                </c:pt>
              </c:strCache>
            </c:strRef>
          </c:cat>
          <c:val>
            <c:numRef>
              <c:f>Sheet1!$B$2:$B$3</c:f>
              <c:numCache>
                <c:formatCode>General</c:formatCode>
                <c:ptCount val="2"/>
                <c:pt idx="0">
                  <c:v>19.048999999999999</c:v>
                </c:pt>
                <c:pt idx="1">
                  <c:v>11.439</c:v>
                </c:pt>
              </c:numCache>
            </c:numRef>
          </c:val>
          <c:extLst>
            <c:ext xmlns:c16="http://schemas.microsoft.com/office/drawing/2014/chart" uri="{C3380CC4-5D6E-409C-BE32-E72D297353CC}">
              <c16:uniqueId val="{00000004-8B48-485E-8F8B-C2FC40DFF709}"/>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545"/>
                </a:solidFill>
                <a:latin typeface="+mn-lt"/>
              </a:defRPr>
            </a:pPr>
            <a:endParaRPr lang="en-US"/>
          </a:p>
        </c:txPr>
        <c:crossAx val="2094734552"/>
        <c:crosses val="autoZero"/>
        <c:auto val="1"/>
        <c:lblAlgn val="ctr"/>
        <c:lblOffset val="100"/>
        <c:noMultiLvlLbl val="1"/>
      </c:catAx>
      <c:valAx>
        <c:axId val="2094734552"/>
        <c:scaling>
          <c:orientation val="minMax"/>
          <c:max val="25"/>
          <c:min val="0"/>
        </c:scaling>
        <c:delete val="0"/>
        <c:axPos val="l"/>
        <c:majorGridlines>
          <c:spPr>
            <a:ln w="9525" cap="flat">
              <a:solidFill>
                <a:srgbClr val="E3EAEE"/>
              </a:solidFill>
              <a:prstDash val="solid"/>
              <a:round/>
            </a:ln>
          </c:spPr>
        </c:majorGridlines>
        <c:title>
          <c:tx>
            <c:rich>
              <a:bodyPr/>
              <a:lstStyle/>
              <a:p>
                <a:pPr>
                  <a:defRPr sz="1100" b="0" i="0" u="none" strike="noStrike">
                    <a:solidFill>
                      <a:srgbClr val="5B7083"/>
                    </a:solidFill>
                    <a:latin typeface="+mn-lt"/>
                  </a:defRPr>
                </a:pPr>
                <a:r>
                  <a:rPr lang="en-IN" sz="1100" b="0" i="0" u="none" strike="noStrike">
                    <a:solidFill>
                      <a:srgbClr val="5B7083"/>
                    </a:solidFill>
                    <a:latin typeface="+mn-lt"/>
                  </a:rPr>
                  <a:t>mg/dL</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083"/>
                </a:solidFill>
                <a:latin typeface="+mn-lt"/>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873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We are [TEAM NAME] from [COLLEGE], and our project is GlucoTwin, a predictive digital twin prototype for Type 2 diabetes monitoring.
In one sentence: GlucoTwin combines a patient's health-record profile with their recent sensor readings to estimate what their glucose will be two hours from now.
The little chart on the right is our visual idea for the whole talk. The solid line is the past, the dot is "now", and the dashed jump is the two-hour forecast. It's an illustrative curve, not real model output.
One thing we want to be upfront about from the start: everything you'll see today runs on synthetic, computer-generated patient data. This is a research prototype, not a clinical product.
Transition: Let's start with why forecasting matters at all.
[PLACEHOLDER: Replace team name, college and member names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problem. Most glucose monitoring is reactive: it tells you the number right now. A continuous glucose monitor, or CGM, is a small wearable sensor that does this every few minutes, which is great, but it still only tells you the present.
Look at the scenario on the right. It's made up purely to explain the idea. Someone with Type 2 diabetes checks at 1 pm after lunch and sees 152. On its own, that looks okay. But the trend is rising, and if we could estimate where they'll be at 3 pm, say around 194, that's above a common high threshold of 180.
So the difference is: the reactive view says "fine", the predictive view says "this might be worth a look." That's the gap we wanted to explore.
We deliberately avoided quoting big diabetes statistics here, because we want every number in this deck to be one we can stand behind.
Transition: So how does GlucoTwin try to close that gap?
Possible judge question: "Isn't a CGM trend arrow already predictive?" Answer: Trend arrows extrapolate the last few minutes. We're testing whether adding the patient's profile and a longer history helps estimate two hours out. We haven't compared against trend arrows directly.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GlucoTwin is our answer. Reading left to right: we start with patient data, which has two parts. First, the patient's profile from their health record, things like age, BMI and HbA1c. Second, their recent sensor readings: glucose, heart rate, steps and sleep.
The digital twin prototype is where those two are brought together for each patient. Then a machine-learning model, a Random Forest, estimates their glucose 120 minutes into the future. Finally, the dashboard compares that forecast with alert thresholds and flags it if it's too high or too low.
The key question we set out to test is simple: does knowing who the patient is, plus how their readings have been moving, give a better two-hour estimate than just assuming glucose stays where it is? Spoiler: on our synthetic data, it did, and we'll show the numbers later.
And to be clear, it's an early-warning research prototype. It doesn't diagnose, and it doesn't recommend treatment.
Transition: We keep saying "digital twin", so let's be precise about what we mean.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twin" can mean a lot of things, so here's what it means for us.
In plain English, a digital twin is a virtual copy of something real that keeps updating with data from it, so you can ask what's likely to happen next. Jet engines and factories have used this idea for years.
For patients, there's a spectrum. At one end, you have a data-driven virtual patient: a model that learns patterns from data. At the other end, you have a full physiological simulation, with equations for how insulin, food and organs interact. GlucoTwin is firmly at the data-driven end.
So, on the left column: what our prototype is. It joins each patient's profile with their sensor history, it forecasts glucose two hours ahead, and the forecast refreshes as new replayed readings come in.
On the right: what it is not, at least not yet. It doesn't simulate physiology, it isn't clinically validated, it isn't connected to real devices, and it's not for treatment decisions.
Transition: Next, the data the twin is built from.
Possible judge question: "Then why call it a digital twin and not just a prediction model?" Answer: Because it's organised per patient and keeps updating with that patient's stream, which is the core twin idea. We agree it's an early-stage twin and say so.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our data is synthetic, meaning generated by our own code, not taken from any real patient. That keeps privacy risk out of the prototype stage, but it also means results don't automatically transfer to real people.
On the left is the synthetic EHR, or Electronic Health Record. It's static: one profile per patient. It includes age, sex, BMI, HbA1c, which is a blood marker reflecting average glucose over roughly three months, how long they've had diabetes, medication indicators, and whether they have hypertension or CKD, chronic kidney disease.
On the right is the simulated sensor stream. It's dynamic: a new row every five minutes with glucose, heart rate, steps, sleep state and a timestamp. We also deliberately simulated missing readings, because real sensors drop out.
In the middle, the two are joined using the patient ID and put in time order.
The scale: 120 patients, 14 days each, five-minute sampling.
[TEAM NOTE, VERIFY BEFORE SUBMISSION: The brief says about 403,200 sensor rows, but 120 patients × 14 days × 288 five-minute readings per day = 483,840. 403,200 is what you'd get with 100 patients, or with 6-minute sampling. Please check the generator output and fix either the row count or the description, then remove the asterisk note from the slide.]
Possible judge question: "How did you generate the synthetic glucose?" [PLACEHOLDER: describe your generator, for example meal effects, activity effects, noise, in one or two sentences, only as implemented in your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system actually fits together. There are two paths.
The top shaded area is the runtime path, what happens when you use the dashboard. The synthetic EHR and synthetic sensor stream are validated and preprocessed, for example checking timestamps and handling missing readings. Then each patient's profile is joined to their sensor rows using the patient ID, in time order. Feature engineering turns the raw readings into model inputs, which we'll explain on the next slide. The Random Forest model produces a two-hour glucose forecast, the alert logic checks it against thresholds, and the result is shown in a Streamlit and Plotly dashboard. Streamlit is a Python framework for building web apps, and Plotly draws the interactive charts.
The dashed box at the bottom is the offline path, which runs once, before the demo. We build the same features, train the model on 96 patients, evaluate it on 24 patients it has never seen, and save the trained model to a file. The dashboard loads that saved model file when it starts. That's the teal dashed line going up.
What's not on this diagram matters too: there's no cloud service, no external API, no database server, no live device and no hospital connection. It all runs locally on files.
Possible judge question: "Does the model retrain as new data arrives?" Answer: No. It is trained offline once; at runtime it only makes predictions.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machine-learning model can't read a raw stream of numbers the way we do, so we turn the data into "features": specific, meaningful inputs.
The timeline at the top is the most important idea on this slide. Everything to the left of "now" can be used as input. The thing we want to predict, the target, is glucose exactly 120 minutes later. We never use anything from the future window as input; otherwise the model would be cheating.
The six feature groups are: glucose lags, which simply means what the glucose was 15, 30, 60 and 120 minutes ago; rolling averages, a smoothed recent level; the recent change, so the model knows if glucose is rising or falling; recent heart rate and steps, as activity signals; time-of-day features, which help with daily routines like meals and sleep; and the patient profile from the EHR.
The table on the right is one example row, with made-up numbers. At 10 am, glucose is 142 and has been rising from 118 two hours earlier. During training, the model also sees the actual glucose at 12:00, and learns the link between inputs and that outcome.
[PLACEHOLDER: If you want, add your exact rolling-window lengths and the time-of-day encoding from your code. We didn't state them on the slide because the brief didn't specify them.]
Possible judge question: "How do you handle missing readings?" [PLACEHOLDER: describe your actual method, for example dropping rows where required lags are missing, or forward-filling, exactly as in your code.]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itself. We used a Random Forest Regressor. "Regressor" just means it predicts a number, here glucose in mg/dL, rather than a category.
A Random Forest is a collection of decision trees. Each tree is like a flowchart of yes/no questions, for example "is glucose rising?" or "is HbA1c above some value?", and each tree ends up with its own estimate. The forest averages them. Our model uses 100 trees. Averaging many slightly different trees makes the prediction more stable than any single tree. The numbers on the trees here are illustrative.
Why Random Forest? It handles a mix of static profile features and time-series features well, it captures non-linear patterns without a lot of tuning, and it's a well-understood, strong first model for tabular data. We trained it offline and saved it as a model file, which the dashboard loads.
How we tested it is just as important. We split by patient: 96 patients for training and 24 completely separate patients for testing. No patient's readings appear on both sides. If we had split randomly by row, the model could see 9:00 and 9:10 of the same person in training and then be tested on 9:05, which would make results look better than they really are.
Finally, the persistence baseline: the simplest possible guess, that glucose in two hours equals glucose now. Any useful model has to beat that.
Possible judge questions: "Why not an LSTM or a transformer?" Answer: Random Forest gave us a solid, fast, explainable-to-build baseline for a prototype; comparing with time-series deep learning and gradient boosting is in our future work. "Did you tune hyperparameters?" [PLACEHOLDER: answer based on your code; only 100 trees is confirmed in the brief.]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we'd show the working dashboard. [PLACEHOLDER: Replace the dashed box with a real screenshot, or switch to the live demo here.]
Here's what you can do in it. First, choose a patient from the selector; all patients are synthetic. Their profile appears, the EHR fields like age, BMI and HbA1c. The main chart, built with Plotly, shows their recent glucose history along with the two-hour forecast. If the forecast crosses a threshold, an alert appears. And there's a panel showing how the model performed on the held-out test patients.
The replay feature is what makes it feel like a twin. Instead of connecting to a real wearable, which we haven't done, the dashboard steps through the stored synthetic readings as if they were arriving live, and you can watch the forecast update as each new reading comes in. So it's a demonstration of how the system would behave with a stream, using historical synthetic data.
[TEAM CHECK: If your UI includes a What-If or intervention panel, or explanations of which factors drove a prediction, label them on screen and here as "simulated demonstration, not validated". Only list features that are actually implemented.]
Demo tip: rehearse the path. Pick one patient where the forecast crosses 180 during replay so the alert is visible within 30 seconds.
Transition: The dashboard shows forecasts; now let's see how accurate they were.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actual recorded results, measured on the 24 synthetic patients the model never saw during training.
The headline is the chart. The persistence baseline, just assuming glucose stays the same, had a Mean Absolute Error of 19.049 mg/dL. GlucoTwin's Random Forest had 11.439. That's about 39.9 percent lower error. You can check: 19.049 minus 11.439 is 7.61, and 7.61 divided by 19.049 is about 0.399.
Quick definitions. MAE, Mean Absolute Error, is the average size of the miss, ignoring whether we were too high or too low. So on average our two-hour forecast was off by about 11.4 mg/dL. RMSE, Root Mean Squared Error, is similar but punishes big misses more; ours is 15.162, and the gap between RMSE and MAE tells us there are some larger errors. R squared, 0.8298, means the model explains roughly 83 percent of the variation in future glucose in this test set, where 1.0 would be perfect.
And the most important line on this slide is the dark box: this is synthetic data. Our generator created the patterns the model learned, so these numbers tell us the pipeline works and beats a naive baseline. They do not tell us how it would perform on real patients, and we are not claiming clinical accuracy.
Possible judge questions: "Is 11 mg/dL good?" Answer: It's a clear improvement over the baseline on our data, but whether it's good enough clinically can only be judged on real data with clinicians. "Where does it fail most?" [PLACEHOLDER: only answer if you have error analysis, for example by time of day or glucose range; otherwise say it's next on our list.] "Could the model just be learning your generator?" Answer: Yes, that's a real risk with synthetic data, and it's exactly why real-data validation is our first next step.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a forecast, how does it become a warning? We kept this deliberately simple and transparent.
Step one, the model forecasts glucose two hours ahead. Step two, the app compares that number with thresholds. In the current prototype, a forecast at or above 180 mg/dL raises a high alert, a forecast below 70 raises a low alert, and anything in between raises no alert. 70 to 180 is a commonly used target range, but here these are demonstration thresholds, and they're configurable.
The colour band shows where a forecast can land. The arrow is an illustrative forecast of 194, which falls in the high zone, so it would trigger a high alert.
What does an alert mean? Basically: "this might be worth a closer look in the next two hours." It's a prompt for attention, not a certainty, and since the model has an average error of around 11 mg/dL, forecasts near a threshold can go either way.
What it's not: it's not a diagnosis, not personalised medical advice, and the system never suggests insulin doses or any treatment. In a real setting, thresholds would be set by a clinician for each patient.
Possible judge question: "Won't you get false alarms near the threshold?" Answer: Yes, that's likely. Adding uncertainty ranges to each forecast, so the alert can say how confident it is, is part of our future 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balanced about what we've achieved.
Strengths. First, we join two very different kinds of data: a static health-record profile and a time-series sensor stream. Second, we forecast two hours ahead instead of just showing the current reading. Third, we evaluated at the patient level on 24 patients the model never saw, which is the honest way to test. Fourth, there's an interactive dashboard, and because the data is synthetic and generated by code, anyone can reproduce our setup. Fifth, we compare transparently against a simple baseline, so you can see exactly how much the model adds.
Limitations. Synthetic data may not reflect real human physiology, and that's the biggest one. There's no clinical validation and no prospective testing, meaning we haven't tested it forward in time on real patients. There's no real wearable integration; replay uses stored data. Random Forest predictions show correlations; they don't explain why glucose changes or what would happen if you intervened. And if any intervention or what-if simulation is shown in the UI, it's an illustration, not a validated treatment-effect model.
We think naming these clearly is part of building responsible health technology.
Transition: These limitations map directly to our next steps.
Possible judge question: "What is actually novel here?" Answer: The individual parts are standard. What we contribute is an end-to-end, reproducible pipeline that joins EHR and sensor data, evaluates per patient against a baseline, and presents forecasts in a twin-style dashboard, with its limits stated clearly.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except the dark "Today" box, is future work. None of it exists in the current prototype.
Today we have a working prototype: synthetic data, a Random Forest, a patient-level test and a Streamlit dashboard with replay.
Phase one is strengthening the method. We'd benchmark against more models, keeping persistence as the floor and adding gradient boosting and dedicated time-series models. We'd improve how we handle missing sensor readings, and add uncertainty estimates, so each forecast comes with a range instead of a single number.
Phase two is the big one: testing on real evidence. That means working only with properly authorized, de-identified clinical datasets, then external validation, meaning data from a different source, and prospective validation, meaning testing forward in time. We'd also get clinicians to use the dashboard and give feedback, and test how people actually interact with alerts.
Phase three only happens after appropriate privacy, security and regulatory safeguards are in place: secure integration with real sensors, and an intervention simulator that has actually been validated, rather than illustrated.
Possible judge question: "Which dataset would you use?" [PLACEHOLDER: only name a specific dataset if your team has checked its access terms. Otherwise say you'd look for authorized, de-identified CGM-plus-EHR datasets under the right approvals.]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problem: glucose monitoring today is mostly reactive; it tells you where glucose is, not where it's heading.
Our approach: GlucoTwin combines a patient's health-record profile with their recent sensor history, uses a Random Forest to forecast glucose two hours ahead, and turns that into simple alerts in an interactive dashboard.
The result: on 24 held-out synthetic patients, the model's average error was 11.439 mg/dL, compared with 19.049 for the "glucose stays the same" baseline, about 39.9 percent lower. R squared was 0.83.
The next step: before any clinical use, this has to be validated on properly authorized, de-identified real patient data, with clinicians involved.
From glucose monitoring to glucose forecasting: a research prototype for proactive diabetes care. Thank you, and we're happy to take questions.
[PLACEHOLDERS: Replace GitHub URL, demo video URL and team contact email.]
LIKELY JUDGE QUESTIONS, quick answers:
1. "Why synthetic data?" It let us build and test the full pipeline without privacy risk. The trade-off is that results don't transfer automatically to real patients.
2. "Is this clinically validated or compliant with HIPAA or DPDP?" No. It's a research prototype; no clinical validation or compliance certification is claimed.
3. "Why two hours?" Long enough to give time to respond, short enough that recent readings are still informative. [PLACEHOLDER: add your team's own reasoning if different.]
4. "Why Random Forest over deep learning?" A strong, fast first model for mixed tabular features; deep time-series models are in our comparison plan.
5. "How would this reach patients?" Only after real-data validation, clinician input, and security and regulatory safeguards.
6. "What's the biggest risk?" The model may have learned our generator's patterns rather than real physiology; that's why real-data validation is step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6217920" cy="109728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3" name="Text 0"/>
          <p:cNvSpPr>
            <a:spLocks noGrp="1"/>
          </p:cNvSpPr>
          <p:nvPr>
            <p:ph type="body" idx="101" hasCustomPrompt="1"/>
          </p:nvPr>
        </p:nvSpPr>
        <p:spPr>
          <a:xfrm>
            <a:off x="548640" y="3154680"/>
            <a:ext cx="6035040" cy="1005840"/>
          </a:xfrm>
          <a:prstGeom prst="rect">
            <a:avLst/>
          </a:prstGeom>
          <a:noFill/>
          <a:ln/>
        </p:spPr>
        <p:txBody>
          <a:bodyPr wrap="square" rtlCol="0"/>
          <a:lstStyle>
            <a:lvl1pPr marL="0" indent="0">
              <a:buNone/>
              <a:defRPr lang="en-US" sz="2200" dirty="0">
                <a:solidFill>
                  <a:schemeClr val="accent6"/>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GlucoTwin  ·  Research prototype  ·  All patient and sensor data are synthetic</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7315200" cy="274320"/>
          </a:xfrm>
          <a:prstGeom prst="rect">
            <a:avLst/>
          </a:prstGeom>
          <a:noFill/>
          <a:ln/>
        </p:spPr>
        <p:txBody>
          <a:bodyPr wrap="square" rtlCol="0"/>
          <a:lstStyle>
            <a:lvl1pPr marL="0" indent="0">
              <a:buNone/>
              <a:defRPr lang="en-US" sz="1200" b="1" kern="0" spc="200" dirty="0">
                <a:solidFill>
                  <a:schemeClr val="accent6"/>
                </a:solidFill>
              </a:defRPr>
            </a:lvl1pPr>
          </a:lstStyle>
          <a:p>
            <a:pPr marL="0" indent="0">
              <a:buNone/>
            </a:pPr>
            <a:endParaRPr lang="en-US" sz="1200" dirty="0"/>
          </a:p>
        </p:txBody>
      </p:sp>
      <p:sp>
        <p:nvSpPr>
          <p:cNvPr id="3" name="Text 0"/>
          <p:cNvSpPr>
            <a:spLocks noGrp="1"/>
          </p:cNvSpPr>
          <p:nvPr>
            <p:ph type="title" idx="101" hasCustomPrompt="1"/>
          </p:nvPr>
        </p:nvSpPr>
        <p:spPr>
          <a:xfrm>
            <a:off x="548640" y="713232"/>
            <a:ext cx="1106424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6.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Prateekkp/GlucoTwin" TargetMode="External"/><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image" Target="../media/image2.png"/><Relationship Id="rId10" Type="http://schemas.openxmlformats.org/officeDocument/2006/relationships/hyperlink" Target="https://drive.google.com/file/d/170j2lHUn91Lq56DxBENEc6oDBabGSrWg/view?usp=sharing" TargetMode="External"/><Relationship Id="rId4" Type="http://schemas.openxmlformats.org/officeDocument/2006/relationships/image" Target="../media/image4.pn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17320"/>
            <a:ext cx="6400800" cy="320040"/>
          </a:xfrm>
          <a:prstGeom prst="rect">
            <a:avLst/>
          </a:prstGeom>
          <a:noFill/>
          <a:ln/>
        </p:spPr>
        <p:txBody>
          <a:bodyPr wrap="square" lIns="0" tIns="0" rIns="0" bIns="0" rtlCol="0" anchor="t"/>
          <a:lstStyle/>
          <a:p>
            <a:pPr marL="0" indent="0">
              <a:buNone/>
            </a:pPr>
            <a:r>
              <a:rPr lang="en-US" sz="1300" b="1" kern="0" spc="200" dirty="0">
                <a:solidFill>
                  <a:schemeClr val="accent2"/>
                </a:solidFill>
              </a:rPr>
              <a:t>HAPPIEST HEALTH DIGITAL TWIN CHALLENGE 2026</a:t>
            </a:r>
            <a:endParaRPr lang="en-US" sz="1300" dirty="0"/>
          </a:p>
        </p:txBody>
      </p:sp>
      <p:sp>
        <p:nvSpPr>
          <p:cNvPr id="3" name="Text 0"/>
          <p:cNvSpPr>
            <a:spLocks noGrp="1"/>
          </p:cNvSpPr>
          <p:nvPr>
            <p:ph type="title" idx="100" hasCustomPrompt="1"/>
          </p:nvPr>
        </p:nvSpPr>
        <p:spPr>
          <a:xfrm>
            <a:off x="548640" y="1730829"/>
            <a:ext cx="6217920" cy="1097280"/>
          </a:xfrm>
          <a:prstGeom prst="rect">
            <a:avLst/>
          </a:prstGeom>
          <a:noFill/>
          <a:ln/>
        </p:spPr>
        <p:txBody>
          <a:bodyPr wrap="square" lIns="0" tIns="0" rIns="0" bIns="0" rtlCol="0" anchor="b"/>
          <a:lstStyle/>
          <a:p>
            <a:pPr marL="0" indent="0" algn="l">
              <a:buNone/>
            </a:pPr>
            <a:r>
              <a:rPr lang="en-US" sz="6000" b="1" dirty="0">
                <a:solidFill>
                  <a:schemeClr val="bg1"/>
                </a:solidFill>
              </a:rPr>
              <a:t>GlucoTwin</a:t>
            </a:r>
            <a:endParaRPr lang="en-US" sz="6000" dirty="0"/>
          </a:p>
        </p:txBody>
      </p:sp>
      <p:sp>
        <p:nvSpPr>
          <p:cNvPr id="4" name="Text 0"/>
          <p:cNvSpPr>
            <a:spLocks noGrp="1"/>
          </p:cNvSpPr>
          <p:nvPr>
            <p:ph type="body" idx="101" hasCustomPrompt="1"/>
          </p:nvPr>
        </p:nvSpPr>
        <p:spPr>
          <a:xfrm>
            <a:off x="579120" y="2865417"/>
            <a:ext cx="6035040" cy="1005840"/>
          </a:xfrm>
          <a:prstGeom prst="rect">
            <a:avLst/>
          </a:prstGeom>
          <a:noFill/>
          <a:ln/>
        </p:spPr>
        <p:txBody>
          <a:bodyPr wrap="square" lIns="0" tIns="0" rIns="0" bIns="0" rtlCol="0" anchor="t"/>
          <a:lstStyle/>
          <a:p>
            <a:pPr marL="0" indent="0">
              <a:buNone/>
            </a:pPr>
            <a:r>
              <a:rPr lang="en-US" sz="2200" dirty="0">
                <a:solidFill>
                  <a:schemeClr val="accent6"/>
                </a:solidFill>
              </a:rPr>
              <a:t>Predictive Digital Twin for Type 2 Diabetes Monitoring</a:t>
            </a:r>
            <a:endParaRPr lang="en-US" sz="2200" dirty="0"/>
          </a:p>
        </p:txBody>
      </p:sp>
      <p:sp>
        <p:nvSpPr>
          <p:cNvPr id="5" name="Text 3"/>
          <p:cNvSpPr txBox="1"/>
          <p:nvPr/>
        </p:nvSpPr>
        <p:spPr>
          <a:xfrm>
            <a:off x="571043" y="3745121"/>
            <a:ext cx="5852160" cy="640080"/>
          </a:xfrm>
          <a:prstGeom prst="rect">
            <a:avLst/>
          </a:prstGeom>
          <a:noFill/>
          <a:ln/>
        </p:spPr>
        <p:txBody>
          <a:bodyPr wrap="square" lIns="0" tIns="0" rIns="0" bIns="0" rtlCol="0" anchor="t"/>
          <a:lstStyle/>
          <a:p>
            <a:pPr marL="0" indent="0">
              <a:buNone/>
            </a:pPr>
            <a:r>
              <a:rPr lang="en-US" sz="1500" i="1" dirty="0">
                <a:solidFill>
                  <a:schemeClr val="bg1"/>
                </a:solidFill>
              </a:rPr>
              <a:t>Combining Electronic Health Records and wearable sensor data for two-hour glucose forecasting</a:t>
            </a:r>
            <a:endParaRPr lang="en-US" sz="1500" dirty="0"/>
          </a:p>
        </p:txBody>
      </p:sp>
      <p:sp>
        <p:nvSpPr>
          <p:cNvPr id="6" name="Text 4"/>
          <p:cNvSpPr txBox="1"/>
          <p:nvPr/>
        </p:nvSpPr>
        <p:spPr>
          <a:xfrm>
            <a:off x="571500" y="4799293"/>
            <a:ext cx="6400800" cy="1005840"/>
          </a:xfrm>
          <a:prstGeom prst="rect">
            <a:avLst/>
          </a:prstGeom>
          <a:noFill/>
          <a:ln/>
        </p:spPr>
        <p:txBody>
          <a:bodyPr wrap="square" lIns="0" tIns="0" rIns="0" bIns="0" rtlCol="0" anchor="t"/>
          <a:lstStyle/>
          <a:p>
            <a:pPr marL="0" indent="0">
              <a:spcAft>
                <a:spcPts val="400"/>
              </a:spcAft>
              <a:buNone/>
            </a:pPr>
            <a:r>
              <a:rPr lang="en-US" sz="1400" dirty="0">
                <a:solidFill>
                  <a:schemeClr val="accent6"/>
                </a:solidFill>
              </a:rPr>
              <a:t>Team: </a:t>
            </a:r>
            <a:r>
              <a:rPr lang="en-US" sz="1400" b="1" dirty="0">
                <a:solidFill>
                  <a:schemeClr val="accent3"/>
                </a:solidFill>
              </a:rPr>
              <a:t>prateekkumarprasad15 </a:t>
            </a:r>
            <a:endParaRPr lang="en-US" sz="1400" dirty="0"/>
          </a:p>
          <a:p>
            <a:pPr marL="0" indent="0">
              <a:spcAft>
                <a:spcPts val="400"/>
              </a:spcAft>
              <a:buNone/>
            </a:pPr>
            <a:r>
              <a:rPr lang="en-US" sz="1400" dirty="0">
                <a:solidFill>
                  <a:schemeClr val="accent6"/>
                </a:solidFill>
              </a:rPr>
              <a:t>College: </a:t>
            </a:r>
            <a:r>
              <a:rPr lang="en-US" sz="1400" b="1" dirty="0">
                <a:solidFill>
                  <a:schemeClr val="accent3"/>
                </a:solidFill>
              </a:rPr>
              <a:t>K.R. Mangalam University</a:t>
            </a:r>
            <a:endParaRPr lang="en-US" sz="1400" dirty="0"/>
          </a:p>
          <a:p>
            <a:pPr marL="0" indent="0">
              <a:spcAft>
                <a:spcPts val="400"/>
              </a:spcAft>
              <a:buNone/>
            </a:pPr>
            <a:r>
              <a:rPr lang="en-US" sz="1400" dirty="0">
                <a:solidFill>
                  <a:schemeClr val="accent6"/>
                </a:solidFill>
              </a:rPr>
              <a:t>Members: </a:t>
            </a:r>
            <a:r>
              <a:rPr lang="en-US" sz="1400" b="1" dirty="0">
                <a:solidFill>
                  <a:schemeClr val="accent3"/>
                </a:solidFill>
              </a:rPr>
              <a:t>Prateek, Akshat, Yatharth</a:t>
            </a:r>
            <a:endParaRPr lang="en-US" sz="1400" dirty="0"/>
          </a:p>
        </p:txBody>
      </p:sp>
      <p:sp>
        <p:nvSpPr>
          <p:cNvPr id="7" name="visual-panel"/>
          <p:cNvSpPr/>
          <p:nvPr/>
        </p:nvSpPr>
        <p:spPr>
          <a:xfrm>
            <a:off x="7086600" y="1325880"/>
            <a:ext cx="4526280" cy="4206240"/>
          </a:xfrm>
          <a:prstGeom prst="roundRect">
            <a:avLst>
              <a:gd name="adj" fmla="val 3261"/>
            </a:avLst>
          </a:prstGeom>
          <a:solidFill>
            <a:schemeClr val="tx2"/>
          </a:solidFill>
          <a:ln w="12700">
            <a:solidFill>
              <a:srgbClr val="2A4B75"/>
            </a:solidFill>
            <a:prstDash val="solid"/>
          </a:ln>
        </p:spPr>
        <p:txBody>
          <a:bodyPr/>
          <a:lstStyle/>
          <a:p>
            <a:endParaRPr lang="en-IN"/>
          </a:p>
        </p:txBody>
      </p:sp>
      <p:sp>
        <p:nvSpPr>
          <p:cNvPr id="8" name="Text 6"/>
          <p:cNvSpPr txBox="1"/>
          <p:nvPr/>
        </p:nvSpPr>
        <p:spPr>
          <a:xfrm>
            <a:off x="7360920" y="1554480"/>
            <a:ext cx="2743200" cy="274320"/>
          </a:xfrm>
          <a:prstGeom prst="rect">
            <a:avLst/>
          </a:prstGeom>
          <a:noFill/>
          <a:ln/>
        </p:spPr>
        <p:txBody>
          <a:bodyPr wrap="square" lIns="0" tIns="0" rIns="0" bIns="0" rtlCol="0" anchor="t"/>
          <a:lstStyle/>
          <a:p>
            <a:pPr marL="0" indent="0">
              <a:buNone/>
            </a:pPr>
            <a:r>
              <a:rPr lang="en-US" sz="1200" b="1" dirty="0">
                <a:solidFill>
                  <a:schemeClr val="accent6"/>
                </a:solidFill>
              </a:rPr>
              <a:t>Glucose (mg/dL)</a:t>
            </a:r>
            <a:endParaRPr lang="en-US" sz="1200" dirty="0"/>
          </a:p>
        </p:txBody>
      </p:sp>
      <p:sp>
        <p:nvSpPr>
          <p:cNvPr id="9" name="Shape 7"/>
          <p:cNvSpPr/>
          <p:nvPr/>
        </p:nvSpPr>
        <p:spPr>
          <a:xfrm>
            <a:off x="7406640" y="4526280"/>
            <a:ext cx="3886200" cy="914"/>
          </a:xfrm>
          <a:prstGeom prst="line">
            <a:avLst/>
          </a:prstGeom>
          <a:noFill/>
          <a:ln w="12700">
            <a:solidFill>
              <a:srgbClr val="3E5C7E"/>
            </a:solidFill>
            <a:prstDash val="solid"/>
          </a:ln>
        </p:spPr>
        <p:txBody>
          <a:bodyPr/>
          <a:lstStyle/>
          <a:p>
            <a:endParaRPr lang="en-IN"/>
          </a:p>
        </p:txBody>
      </p:sp>
      <p:sp>
        <p:nvSpPr>
          <p:cNvPr id="10" name="Shape 8"/>
          <p:cNvSpPr/>
          <p:nvPr/>
        </p:nvSpPr>
        <p:spPr>
          <a:xfrm>
            <a:off x="7406640" y="2828109"/>
            <a:ext cx="3886200" cy="914"/>
          </a:xfrm>
          <a:prstGeom prst="line">
            <a:avLst/>
          </a:prstGeom>
          <a:noFill/>
          <a:ln w="15875">
            <a:solidFill>
              <a:srgbClr val="E8A33D"/>
            </a:solidFill>
            <a:prstDash val="dash"/>
          </a:ln>
        </p:spPr>
        <p:txBody>
          <a:bodyPr/>
          <a:lstStyle/>
          <a:p>
            <a:endParaRPr lang="en-IN"/>
          </a:p>
        </p:txBody>
      </p:sp>
      <p:sp>
        <p:nvSpPr>
          <p:cNvPr id="11" name="Text 9"/>
          <p:cNvSpPr txBox="1"/>
          <p:nvPr/>
        </p:nvSpPr>
        <p:spPr>
          <a:xfrm>
            <a:off x="7406640" y="2572077"/>
            <a:ext cx="2194560" cy="228600"/>
          </a:xfrm>
          <a:prstGeom prst="rect">
            <a:avLst/>
          </a:prstGeom>
          <a:noFill/>
          <a:ln/>
        </p:spPr>
        <p:txBody>
          <a:bodyPr wrap="square" lIns="0" tIns="0" rIns="0" bIns="0" rtlCol="0" anchor="t"/>
          <a:lstStyle/>
          <a:p>
            <a:pPr marL="0" indent="0">
              <a:buNone/>
            </a:pPr>
            <a:r>
              <a:rPr lang="en-US" sz="1100" dirty="0">
                <a:solidFill>
                  <a:schemeClr val="accent3"/>
                </a:solidFill>
              </a:rPr>
              <a:t>180 mg/dL alert line</a:t>
            </a:r>
            <a:endParaRPr lang="en-US" sz="1100" dirty="0"/>
          </a:p>
        </p:txBody>
      </p:sp>
      <p:sp>
        <p:nvSpPr>
          <p:cNvPr id="12" name="Shape 10"/>
          <p:cNvSpPr/>
          <p:nvPr/>
        </p:nvSpPr>
        <p:spPr>
          <a:xfrm>
            <a:off x="7406640" y="3982865"/>
            <a:ext cx="388620" cy="50945"/>
          </a:xfrm>
          <a:prstGeom prst="line">
            <a:avLst/>
          </a:prstGeom>
          <a:noFill/>
          <a:ln w="38100">
            <a:solidFill>
              <a:srgbClr val="BFE6E3"/>
            </a:solidFill>
            <a:prstDash val="solid"/>
          </a:ln>
        </p:spPr>
        <p:txBody>
          <a:bodyPr/>
          <a:lstStyle/>
          <a:p>
            <a:endParaRPr lang="en-IN"/>
          </a:p>
        </p:txBody>
      </p:sp>
      <p:sp>
        <p:nvSpPr>
          <p:cNvPr id="13" name="Shape 11"/>
          <p:cNvSpPr/>
          <p:nvPr/>
        </p:nvSpPr>
        <p:spPr>
          <a:xfrm flipV="1">
            <a:off x="7795260" y="3948902"/>
            <a:ext cx="388620" cy="84909"/>
          </a:xfrm>
          <a:prstGeom prst="line">
            <a:avLst/>
          </a:prstGeom>
          <a:noFill/>
          <a:ln w="38100">
            <a:solidFill>
              <a:srgbClr val="BFE6E3"/>
            </a:solidFill>
            <a:prstDash val="solid"/>
          </a:ln>
        </p:spPr>
        <p:txBody>
          <a:bodyPr/>
          <a:lstStyle/>
          <a:p>
            <a:endParaRPr lang="en-IN"/>
          </a:p>
        </p:txBody>
      </p:sp>
      <p:sp>
        <p:nvSpPr>
          <p:cNvPr id="14" name="Shape 12"/>
          <p:cNvSpPr/>
          <p:nvPr/>
        </p:nvSpPr>
        <p:spPr>
          <a:xfrm flipV="1">
            <a:off x="8183880" y="3745121"/>
            <a:ext cx="388620" cy="203781"/>
          </a:xfrm>
          <a:prstGeom prst="line">
            <a:avLst/>
          </a:prstGeom>
          <a:noFill/>
          <a:ln w="38100">
            <a:solidFill>
              <a:srgbClr val="BFE6E3"/>
            </a:solidFill>
            <a:prstDash val="solid"/>
          </a:ln>
        </p:spPr>
        <p:txBody>
          <a:bodyPr/>
          <a:lstStyle/>
          <a:p>
            <a:endParaRPr lang="en-IN"/>
          </a:p>
        </p:txBody>
      </p:sp>
      <p:sp>
        <p:nvSpPr>
          <p:cNvPr id="15" name="Shape 13"/>
          <p:cNvSpPr/>
          <p:nvPr/>
        </p:nvSpPr>
        <p:spPr>
          <a:xfrm flipV="1">
            <a:off x="8572500" y="3490395"/>
            <a:ext cx="388620" cy="254726"/>
          </a:xfrm>
          <a:prstGeom prst="line">
            <a:avLst/>
          </a:prstGeom>
          <a:noFill/>
          <a:ln w="38100">
            <a:solidFill>
              <a:srgbClr val="BFE6E3"/>
            </a:solidFill>
            <a:prstDash val="solid"/>
          </a:ln>
        </p:spPr>
        <p:txBody>
          <a:bodyPr/>
          <a:lstStyle/>
          <a:p>
            <a:endParaRPr lang="en-IN"/>
          </a:p>
        </p:txBody>
      </p:sp>
      <p:sp>
        <p:nvSpPr>
          <p:cNvPr id="16" name="Shape 14"/>
          <p:cNvSpPr/>
          <p:nvPr/>
        </p:nvSpPr>
        <p:spPr>
          <a:xfrm flipV="1">
            <a:off x="8961120" y="3303597"/>
            <a:ext cx="388620" cy="186799"/>
          </a:xfrm>
          <a:prstGeom prst="line">
            <a:avLst/>
          </a:prstGeom>
          <a:noFill/>
          <a:ln w="38100">
            <a:solidFill>
              <a:srgbClr val="BFE6E3"/>
            </a:solidFill>
            <a:prstDash val="solid"/>
          </a:ln>
        </p:spPr>
        <p:txBody>
          <a:bodyPr/>
          <a:lstStyle/>
          <a:p>
            <a:endParaRPr lang="en-IN"/>
          </a:p>
        </p:txBody>
      </p:sp>
      <p:sp>
        <p:nvSpPr>
          <p:cNvPr id="17" name="Shape 15"/>
          <p:cNvSpPr/>
          <p:nvPr/>
        </p:nvSpPr>
        <p:spPr>
          <a:xfrm flipV="1">
            <a:off x="9349740" y="3201706"/>
            <a:ext cx="388620" cy="101890"/>
          </a:xfrm>
          <a:prstGeom prst="line">
            <a:avLst/>
          </a:prstGeom>
          <a:noFill/>
          <a:ln w="38100">
            <a:solidFill>
              <a:srgbClr val="BFE6E3"/>
            </a:solidFill>
            <a:prstDash val="solid"/>
          </a:ln>
        </p:spPr>
        <p:txBody>
          <a:bodyPr/>
          <a:lstStyle/>
          <a:p>
            <a:endParaRPr lang="en-IN"/>
          </a:p>
        </p:txBody>
      </p:sp>
      <p:sp>
        <p:nvSpPr>
          <p:cNvPr id="18" name="Shape 16"/>
          <p:cNvSpPr/>
          <p:nvPr/>
        </p:nvSpPr>
        <p:spPr>
          <a:xfrm>
            <a:off x="9738360" y="2057400"/>
            <a:ext cx="914" cy="2468880"/>
          </a:xfrm>
          <a:prstGeom prst="line">
            <a:avLst/>
          </a:prstGeom>
          <a:noFill/>
          <a:ln w="12700">
            <a:solidFill>
              <a:srgbClr val="BFE6E3"/>
            </a:solidFill>
            <a:prstDash val="sysDot"/>
          </a:ln>
        </p:spPr>
        <p:txBody>
          <a:bodyPr/>
          <a:lstStyle/>
          <a:p>
            <a:endParaRPr lang="en-IN"/>
          </a:p>
        </p:txBody>
      </p:sp>
      <p:sp>
        <p:nvSpPr>
          <p:cNvPr id="19" name="Shape 17"/>
          <p:cNvSpPr/>
          <p:nvPr/>
        </p:nvSpPr>
        <p:spPr>
          <a:xfrm flipV="1">
            <a:off x="9738360" y="2556401"/>
            <a:ext cx="1554480" cy="645305"/>
          </a:xfrm>
          <a:prstGeom prst="line">
            <a:avLst/>
          </a:prstGeom>
          <a:noFill/>
          <a:ln w="31750">
            <a:solidFill>
              <a:srgbClr val="2BB673"/>
            </a:solidFill>
            <a:prstDash val="dash"/>
          </a:ln>
        </p:spPr>
        <p:txBody>
          <a:bodyPr/>
          <a:lstStyle/>
          <a:p>
            <a:endParaRPr lang="en-IN"/>
          </a:p>
        </p:txBody>
      </p:sp>
      <p:sp>
        <p:nvSpPr>
          <p:cNvPr id="20" name="Shape 18"/>
          <p:cNvSpPr/>
          <p:nvPr/>
        </p:nvSpPr>
        <p:spPr>
          <a:xfrm>
            <a:off x="9656064" y="3119410"/>
            <a:ext cx="164592" cy="164592"/>
          </a:xfrm>
          <a:prstGeom prst="ellipse">
            <a:avLst/>
          </a:prstGeom>
          <a:solidFill>
            <a:schemeClr val="accent6"/>
          </a:solidFill>
          <a:ln w="19050">
            <a:solidFill>
              <a:schemeClr val="tx1"/>
            </a:solidFill>
            <a:prstDash val="solid"/>
          </a:ln>
        </p:spPr>
        <p:txBody>
          <a:bodyPr/>
          <a:lstStyle/>
          <a:p>
            <a:endParaRPr lang="en-IN"/>
          </a:p>
        </p:txBody>
      </p:sp>
      <p:sp>
        <p:nvSpPr>
          <p:cNvPr id="21" name="Shape 19"/>
          <p:cNvSpPr/>
          <p:nvPr/>
        </p:nvSpPr>
        <p:spPr>
          <a:xfrm>
            <a:off x="11173968" y="2437529"/>
            <a:ext cx="237744" cy="237744"/>
          </a:xfrm>
          <a:prstGeom prst="ellipse">
            <a:avLst/>
          </a:prstGeom>
          <a:solidFill>
            <a:schemeClr val="accent2"/>
          </a:solidFill>
          <a:ln w="19050">
            <a:solidFill>
              <a:schemeClr val="tx1"/>
            </a:solidFill>
            <a:prstDash val="solid"/>
          </a:ln>
        </p:spPr>
        <p:txBody>
          <a:bodyPr/>
          <a:lstStyle/>
          <a:p>
            <a:endParaRPr lang="en-IN"/>
          </a:p>
        </p:txBody>
      </p:sp>
      <p:sp>
        <p:nvSpPr>
          <p:cNvPr id="22" name="Text 20"/>
          <p:cNvSpPr txBox="1"/>
          <p:nvPr/>
        </p:nvSpPr>
        <p:spPr>
          <a:xfrm>
            <a:off x="6858000" y="4599432"/>
            <a:ext cx="1097280" cy="228600"/>
          </a:xfrm>
          <a:prstGeom prst="rect">
            <a:avLst/>
          </a:prstGeom>
          <a:noFill/>
          <a:ln/>
        </p:spPr>
        <p:txBody>
          <a:bodyPr wrap="square" lIns="0" tIns="0" rIns="0" bIns="0" rtlCol="0" anchor="t"/>
          <a:lstStyle/>
          <a:p>
            <a:pPr marL="0" indent="0" algn="ctr">
              <a:buNone/>
            </a:pPr>
            <a:r>
              <a:rPr lang="en-US" sz="1100" dirty="0">
                <a:solidFill>
                  <a:schemeClr val="accent6"/>
                </a:solidFill>
              </a:rPr>
              <a:t>−3 h</a:t>
            </a:r>
            <a:endParaRPr lang="en-US" sz="1100" dirty="0"/>
          </a:p>
        </p:txBody>
      </p:sp>
      <p:sp>
        <p:nvSpPr>
          <p:cNvPr id="23" name="Text 21"/>
          <p:cNvSpPr txBox="1"/>
          <p:nvPr/>
        </p:nvSpPr>
        <p:spPr>
          <a:xfrm>
            <a:off x="9189720" y="4599432"/>
            <a:ext cx="1097280" cy="228600"/>
          </a:xfrm>
          <a:prstGeom prst="rect">
            <a:avLst/>
          </a:prstGeom>
          <a:noFill/>
          <a:ln/>
        </p:spPr>
        <p:txBody>
          <a:bodyPr wrap="square" lIns="0" tIns="0" rIns="0" bIns="0" rtlCol="0" anchor="t"/>
          <a:lstStyle/>
          <a:p>
            <a:pPr marL="0" indent="0" algn="ctr">
              <a:buNone/>
            </a:pPr>
            <a:r>
              <a:rPr lang="en-US" sz="1100" dirty="0">
                <a:solidFill>
                  <a:schemeClr val="accent6"/>
                </a:solidFill>
              </a:rPr>
              <a:t>Now</a:t>
            </a:r>
            <a:endParaRPr lang="en-US" sz="1100" dirty="0"/>
          </a:p>
        </p:txBody>
      </p:sp>
      <p:sp>
        <p:nvSpPr>
          <p:cNvPr id="24" name="Text 22"/>
          <p:cNvSpPr txBox="1"/>
          <p:nvPr/>
        </p:nvSpPr>
        <p:spPr>
          <a:xfrm>
            <a:off x="10744200" y="4599432"/>
            <a:ext cx="1097280" cy="228600"/>
          </a:xfrm>
          <a:prstGeom prst="rect">
            <a:avLst/>
          </a:prstGeom>
          <a:noFill/>
          <a:ln/>
        </p:spPr>
        <p:txBody>
          <a:bodyPr wrap="square" lIns="0" tIns="0" rIns="0" bIns="0" rtlCol="0" anchor="t"/>
          <a:lstStyle/>
          <a:p>
            <a:pPr marL="0" indent="0" algn="ctr">
              <a:buNone/>
            </a:pPr>
            <a:r>
              <a:rPr lang="en-US" sz="1100" dirty="0">
                <a:solidFill>
                  <a:schemeClr val="accent6"/>
                </a:solidFill>
              </a:rPr>
              <a:t>+2 h</a:t>
            </a:r>
            <a:endParaRPr lang="en-US" sz="1100" dirty="0"/>
          </a:p>
        </p:txBody>
      </p:sp>
      <p:sp>
        <p:nvSpPr>
          <p:cNvPr id="25" name="Text 23"/>
          <p:cNvSpPr txBox="1"/>
          <p:nvPr/>
        </p:nvSpPr>
        <p:spPr>
          <a:xfrm>
            <a:off x="10378440" y="2144921"/>
            <a:ext cx="914400" cy="256032"/>
          </a:xfrm>
          <a:prstGeom prst="rect">
            <a:avLst/>
          </a:prstGeom>
          <a:noFill/>
          <a:ln/>
        </p:spPr>
        <p:txBody>
          <a:bodyPr wrap="square" lIns="0" tIns="0" rIns="0" bIns="0" rtlCol="0" anchor="t"/>
          <a:lstStyle/>
          <a:p>
            <a:pPr marL="0" indent="0" algn="r">
              <a:buNone/>
            </a:pPr>
            <a:r>
              <a:rPr lang="en-US" sz="1200" b="1" dirty="0">
                <a:solidFill>
                  <a:schemeClr val="accent2"/>
                </a:solidFill>
              </a:rPr>
              <a:t>Forecast</a:t>
            </a:r>
            <a:endParaRPr lang="en-US" sz="1200" dirty="0"/>
          </a:p>
        </p:txBody>
      </p:sp>
      <p:sp>
        <p:nvSpPr>
          <p:cNvPr id="26" name="Text 24"/>
          <p:cNvSpPr txBox="1"/>
          <p:nvPr/>
        </p:nvSpPr>
        <p:spPr>
          <a:xfrm>
            <a:off x="7360920" y="5120640"/>
            <a:ext cx="4023360" cy="274320"/>
          </a:xfrm>
          <a:prstGeom prst="rect">
            <a:avLst/>
          </a:prstGeom>
          <a:noFill/>
          <a:ln/>
        </p:spPr>
        <p:txBody>
          <a:bodyPr wrap="square" lIns="0" tIns="0" rIns="0" bIns="0" rtlCol="0" anchor="t"/>
          <a:lstStyle/>
          <a:p>
            <a:pPr marL="0" indent="0">
              <a:buNone/>
            </a:pPr>
            <a:r>
              <a:rPr lang="en-US" sz="1100" i="1" dirty="0">
                <a:solidFill>
                  <a:schemeClr val="accent6"/>
                </a:solidFill>
              </a:rPr>
              <a:t>Illustrative curve, not model output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01  ·  THE PROBLEM</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We see today’s glucose, not where it is heading</a:t>
            </a:r>
            <a:endParaRPr lang="en-US" sz="3400" dirty="0"/>
          </a:p>
        </p:txBody>
      </p:sp>
      <p:sp>
        <p:nvSpPr>
          <p:cNvPr id="4" name="card"/>
          <p:cNvSpPr/>
          <p:nvPr/>
        </p:nvSpPr>
        <p:spPr>
          <a:xfrm>
            <a:off x="548640" y="1600200"/>
            <a:ext cx="4846320" cy="1371600"/>
          </a:xfrm>
          <a:prstGeom prst="roundRect">
            <a:avLst>
              <a:gd name="adj" fmla="val 8000"/>
            </a:avLst>
          </a:prstGeom>
          <a:solidFill>
            <a:schemeClr val="bg2"/>
          </a:solidFill>
          <a:ln/>
        </p:spPr>
        <p:txBody>
          <a:bodyPr/>
          <a:lstStyle/>
          <a:p>
            <a:endParaRPr lang="en-IN"/>
          </a:p>
        </p:txBody>
      </p:sp>
      <p:sp>
        <p:nvSpPr>
          <p:cNvPr id="5" name="icon-circle"/>
          <p:cNvSpPr/>
          <p:nvPr/>
        </p:nvSpPr>
        <p:spPr>
          <a:xfrm>
            <a:off x="822960" y="1801368"/>
            <a:ext cx="566928" cy="566928"/>
          </a:xfrm>
          <a:prstGeom prst="ellipse">
            <a:avLst/>
          </a:prstGeom>
          <a:solidFill>
            <a:schemeClr val="accent5"/>
          </a:solidFill>
          <a:ln/>
        </p:spPr>
        <p:txBody>
          <a:bodyPr/>
          <a:lstStyle/>
          <a:p>
            <a:endParaRPr lang="en-IN"/>
          </a:p>
        </p:txBody>
      </p:sp>
      <p:pic>
        <p:nvPicPr>
          <p:cNvPr id="6" name="icon-FaClock" descr="preencoded.png"/>
          <p:cNvPicPr>
            <a:picLocks noChangeAspect="1"/>
          </p:cNvPicPr>
          <p:nvPr/>
        </p:nvPicPr>
        <p:blipFill>
          <a:blip r:embed="rId3"/>
          <a:stretch>
            <a:fillRect/>
          </a:stretch>
        </p:blipFill>
        <p:spPr>
          <a:xfrm>
            <a:off x="970361" y="1948769"/>
            <a:ext cx="272125" cy="272125"/>
          </a:xfrm>
          <a:prstGeom prst="rect">
            <a:avLst/>
          </a:prstGeom>
        </p:spPr>
      </p:pic>
      <p:sp>
        <p:nvSpPr>
          <p:cNvPr id="7" name="Text 4"/>
          <p:cNvSpPr txBox="1"/>
          <p:nvPr/>
        </p:nvSpPr>
        <p:spPr>
          <a:xfrm>
            <a:off x="1600200" y="1783080"/>
            <a:ext cx="3657600" cy="320040"/>
          </a:xfrm>
          <a:prstGeom prst="rect">
            <a:avLst/>
          </a:prstGeom>
          <a:noFill/>
          <a:ln/>
        </p:spPr>
        <p:txBody>
          <a:bodyPr wrap="square" lIns="0" tIns="0" rIns="0" bIns="0" rtlCol="0" anchor="t"/>
          <a:lstStyle/>
          <a:p>
            <a:pPr marL="0" indent="0">
              <a:buNone/>
            </a:pPr>
            <a:r>
              <a:rPr lang="en-US" sz="1800" b="1" dirty="0">
                <a:solidFill>
                  <a:schemeClr val="tx1"/>
                </a:solidFill>
              </a:rPr>
              <a:t>Reactive monitoring</a:t>
            </a:r>
            <a:endParaRPr lang="en-US" sz="1800" dirty="0"/>
          </a:p>
        </p:txBody>
      </p:sp>
      <p:sp>
        <p:nvSpPr>
          <p:cNvPr id="8" name="Text 5"/>
          <p:cNvSpPr txBox="1"/>
          <p:nvPr/>
        </p:nvSpPr>
        <p:spPr>
          <a:xfrm>
            <a:off x="1600200" y="2148840"/>
            <a:ext cx="3611880" cy="868680"/>
          </a:xfrm>
          <a:prstGeom prst="rect">
            <a:avLst/>
          </a:prstGeom>
          <a:noFill/>
          <a:ln/>
        </p:spPr>
        <p:txBody>
          <a:bodyPr wrap="square" lIns="0" tIns="0" rIns="0" bIns="0" rtlCol="0" anchor="t"/>
          <a:lstStyle/>
          <a:p>
            <a:pPr marL="0" indent="0">
              <a:buNone/>
            </a:pPr>
            <a:r>
              <a:rPr lang="en-US" sz="1400" dirty="0">
                <a:solidFill>
                  <a:schemeClr val="accent5"/>
                </a:solidFill>
              </a:rPr>
              <a:t>“What is the glucose right now?” A reading looks fine until it is already high or low.</a:t>
            </a:r>
            <a:endParaRPr lang="en-US" sz="1400" dirty="0"/>
          </a:p>
        </p:txBody>
      </p:sp>
      <p:sp>
        <p:nvSpPr>
          <p:cNvPr id="9" name="card"/>
          <p:cNvSpPr/>
          <p:nvPr/>
        </p:nvSpPr>
        <p:spPr>
          <a:xfrm>
            <a:off x="548640" y="3246120"/>
            <a:ext cx="4846320" cy="1371600"/>
          </a:xfrm>
          <a:prstGeom prst="roundRect">
            <a:avLst>
              <a:gd name="adj" fmla="val 8000"/>
            </a:avLst>
          </a:prstGeom>
          <a:solidFill>
            <a:schemeClr val="bg2"/>
          </a:solidFill>
          <a:ln/>
        </p:spPr>
        <p:txBody>
          <a:bodyPr/>
          <a:lstStyle/>
          <a:p>
            <a:endParaRPr lang="en-IN"/>
          </a:p>
        </p:txBody>
      </p:sp>
      <p:sp>
        <p:nvSpPr>
          <p:cNvPr id="10" name="icon-circle"/>
          <p:cNvSpPr/>
          <p:nvPr/>
        </p:nvSpPr>
        <p:spPr>
          <a:xfrm>
            <a:off x="822960" y="3447288"/>
            <a:ext cx="566928" cy="566928"/>
          </a:xfrm>
          <a:prstGeom prst="ellipse">
            <a:avLst/>
          </a:prstGeom>
          <a:solidFill>
            <a:schemeClr val="accent1"/>
          </a:solidFill>
          <a:ln/>
        </p:spPr>
        <p:txBody>
          <a:bodyPr/>
          <a:lstStyle/>
          <a:p>
            <a:endParaRPr lang="en-IN"/>
          </a:p>
        </p:txBody>
      </p:sp>
      <p:pic>
        <p:nvPicPr>
          <p:cNvPr id="11" name="icon-FaChartLine" descr="preencoded.png"/>
          <p:cNvPicPr>
            <a:picLocks noChangeAspect="1"/>
          </p:cNvPicPr>
          <p:nvPr/>
        </p:nvPicPr>
        <p:blipFill>
          <a:blip r:embed="rId4"/>
          <a:stretch>
            <a:fillRect/>
          </a:stretch>
        </p:blipFill>
        <p:spPr>
          <a:xfrm>
            <a:off x="970361" y="3594689"/>
            <a:ext cx="272125" cy="272125"/>
          </a:xfrm>
          <a:prstGeom prst="rect">
            <a:avLst/>
          </a:prstGeom>
        </p:spPr>
      </p:pic>
      <p:sp>
        <p:nvSpPr>
          <p:cNvPr id="12" name="Text 8"/>
          <p:cNvSpPr txBox="1"/>
          <p:nvPr/>
        </p:nvSpPr>
        <p:spPr>
          <a:xfrm>
            <a:off x="1600200" y="3429000"/>
            <a:ext cx="3657600" cy="320040"/>
          </a:xfrm>
          <a:prstGeom prst="rect">
            <a:avLst/>
          </a:prstGeom>
          <a:noFill/>
          <a:ln/>
        </p:spPr>
        <p:txBody>
          <a:bodyPr wrap="square" lIns="0" tIns="0" rIns="0" bIns="0" rtlCol="0" anchor="t"/>
          <a:lstStyle/>
          <a:p>
            <a:pPr marL="0" indent="0">
              <a:buNone/>
            </a:pPr>
            <a:r>
              <a:rPr lang="en-US" sz="1800" b="1" dirty="0">
                <a:solidFill>
                  <a:schemeClr val="tx1"/>
                </a:solidFill>
              </a:rPr>
              <a:t>Predictive monitoring</a:t>
            </a:r>
            <a:endParaRPr lang="en-US" sz="1800" dirty="0"/>
          </a:p>
        </p:txBody>
      </p:sp>
      <p:sp>
        <p:nvSpPr>
          <p:cNvPr id="13" name="Text 9"/>
          <p:cNvSpPr txBox="1"/>
          <p:nvPr/>
        </p:nvSpPr>
        <p:spPr>
          <a:xfrm>
            <a:off x="1600200" y="3794760"/>
            <a:ext cx="3611880" cy="731520"/>
          </a:xfrm>
          <a:prstGeom prst="rect">
            <a:avLst/>
          </a:prstGeom>
          <a:noFill/>
          <a:ln/>
        </p:spPr>
        <p:txBody>
          <a:bodyPr wrap="square" lIns="0" tIns="0" rIns="0" bIns="0" rtlCol="0" anchor="t"/>
          <a:lstStyle/>
          <a:p>
            <a:pPr marL="0" indent="0">
              <a:buNone/>
            </a:pPr>
            <a:r>
              <a:rPr lang="en-US" sz="1400" dirty="0">
                <a:solidFill>
                  <a:schemeClr val="accent5"/>
                </a:solidFill>
              </a:rPr>
              <a:t>“Where is glucose likely to be in two hours?” An estimate creates time to check in early.</a:t>
            </a:r>
            <a:endParaRPr lang="en-US" sz="1400" dirty="0"/>
          </a:p>
        </p:txBody>
      </p:sp>
      <p:sp>
        <p:nvSpPr>
          <p:cNvPr id="14" name="Text 10"/>
          <p:cNvSpPr txBox="1"/>
          <p:nvPr/>
        </p:nvSpPr>
        <p:spPr>
          <a:xfrm>
            <a:off x="548640" y="4937760"/>
            <a:ext cx="4846320" cy="822960"/>
          </a:xfrm>
          <a:prstGeom prst="rect">
            <a:avLst/>
          </a:prstGeom>
          <a:noFill/>
          <a:ln/>
        </p:spPr>
        <p:txBody>
          <a:bodyPr wrap="square" lIns="0" tIns="0" rIns="0" bIns="0" rtlCol="0" anchor="t"/>
          <a:lstStyle/>
          <a:p>
            <a:pPr marL="0" indent="0">
              <a:buNone/>
            </a:pPr>
            <a:r>
              <a:rPr lang="en-US" sz="1500" b="1" dirty="0">
                <a:solidFill>
                  <a:schemeClr val="tx1"/>
                </a:solidFill>
              </a:rPr>
              <a:t>Why it matters: </a:t>
            </a:r>
            <a:r>
              <a:rPr lang="en-US" sz="1500" dirty="0">
                <a:solidFill>
                  <a:schemeClr val="tx1"/>
                </a:solidFill>
              </a:rPr>
              <a:t>a two-hour heads-up turns a surprise into a prompt to review, not a guarantee of what will happen.</a:t>
            </a:r>
            <a:endParaRPr lang="en-US" sz="1500" dirty="0"/>
          </a:p>
        </p:txBody>
      </p:sp>
      <p:sp>
        <p:nvSpPr>
          <p:cNvPr id="15" name="card"/>
          <p:cNvSpPr/>
          <p:nvPr/>
        </p:nvSpPr>
        <p:spPr>
          <a:xfrm>
            <a:off x="5852160" y="1600200"/>
            <a:ext cx="5788152" cy="4434840"/>
          </a:xfrm>
          <a:prstGeom prst="roundRect">
            <a:avLst>
              <a:gd name="adj" fmla="val 2474"/>
            </a:avLst>
          </a:prstGeom>
          <a:solidFill>
            <a:schemeClr val="bg1"/>
          </a:solidFill>
          <a:ln w="12700">
            <a:solidFill>
              <a:srgbClr val="D3DEE4"/>
            </a:solidFill>
            <a:prstDash val="solid"/>
          </a:ln>
          <a:effectLst>
            <a:outerShdw blurRad="101600" dist="25400" dir="5400000" algn="bl" rotWithShape="0">
              <a:srgbClr val="0B2545">
                <a:alpha val="12000"/>
              </a:srgbClr>
            </a:outerShdw>
          </a:effectLst>
        </p:spPr>
        <p:txBody>
          <a:bodyPr/>
          <a:lstStyle/>
          <a:p>
            <a:endParaRPr lang="en-IN"/>
          </a:p>
        </p:txBody>
      </p:sp>
      <p:sp>
        <p:nvSpPr>
          <p:cNvPr id="16" name="Text 12"/>
          <p:cNvSpPr txBox="1"/>
          <p:nvPr/>
        </p:nvSpPr>
        <p:spPr>
          <a:xfrm>
            <a:off x="6172200" y="1783080"/>
            <a:ext cx="5212080" cy="777240"/>
          </a:xfrm>
          <a:prstGeom prst="rect">
            <a:avLst/>
          </a:prstGeom>
          <a:noFill/>
          <a:ln/>
        </p:spPr>
        <p:txBody>
          <a:bodyPr wrap="square" lIns="0" tIns="0" rIns="0" bIns="0" rtlCol="0" anchor="t"/>
          <a:lstStyle/>
          <a:p>
            <a:pPr marL="0" indent="0">
              <a:buNone/>
            </a:pPr>
            <a:r>
              <a:rPr lang="en-US" sz="1100" b="1" kern="0" spc="200" dirty="0">
                <a:solidFill>
                  <a:schemeClr val="accent3"/>
                </a:solidFill>
              </a:rPr>
              <a:t>ILLUSTRATIVE SCENARIO</a:t>
            </a:r>
            <a:endParaRPr lang="en-US" sz="1500" dirty="0"/>
          </a:p>
          <a:p>
            <a:pPr marL="0" indent="0">
              <a:buNone/>
            </a:pPr>
            <a:r>
              <a:rPr lang="en-US" sz="1500" dirty="0">
                <a:solidFill>
                  <a:schemeClr val="tx1"/>
                </a:solidFill>
              </a:rPr>
              <a:t>A person with Type 2 diabetes reads 152 mg/dL at 1:00 pm, after lunch.</a:t>
            </a:r>
            <a:endParaRPr lang="en-US" sz="1500" dirty="0"/>
          </a:p>
        </p:txBody>
      </p:sp>
      <p:sp>
        <p:nvSpPr>
          <p:cNvPr id="17" name="Shape 13"/>
          <p:cNvSpPr/>
          <p:nvPr/>
        </p:nvSpPr>
        <p:spPr>
          <a:xfrm>
            <a:off x="6400800" y="5029200"/>
            <a:ext cx="4754880" cy="914"/>
          </a:xfrm>
          <a:prstGeom prst="line">
            <a:avLst/>
          </a:prstGeom>
          <a:noFill/>
          <a:ln w="12700">
            <a:solidFill>
              <a:srgbClr val="D3DEE4"/>
            </a:solidFill>
            <a:prstDash val="solid"/>
          </a:ln>
        </p:spPr>
        <p:txBody>
          <a:bodyPr/>
          <a:lstStyle/>
          <a:p>
            <a:endParaRPr lang="en-IN"/>
          </a:p>
        </p:txBody>
      </p:sp>
      <p:sp>
        <p:nvSpPr>
          <p:cNvPr id="18" name="Shape 14"/>
          <p:cNvSpPr/>
          <p:nvPr/>
        </p:nvSpPr>
        <p:spPr>
          <a:xfrm>
            <a:off x="6400800" y="3383280"/>
            <a:ext cx="4754880" cy="914"/>
          </a:xfrm>
          <a:prstGeom prst="line">
            <a:avLst/>
          </a:prstGeom>
          <a:noFill/>
          <a:ln w="15875">
            <a:solidFill>
              <a:srgbClr val="E8A33D"/>
            </a:solidFill>
            <a:prstDash val="dash"/>
          </a:ln>
        </p:spPr>
        <p:txBody>
          <a:bodyPr/>
          <a:lstStyle/>
          <a:p>
            <a:endParaRPr lang="en-IN"/>
          </a:p>
        </p:txBody>
      </p:sp>
      <p:sp>
        <p:nvSpPr>
          <p:cNvPr id="19" name="Text 15"/>
          <p:cNvSpPr txBox="1"/>
          <p:nvPr/>
        </p:nvSpPr>
        <p:spPr>
          <a:xfrm>
            <a:off x="6400800" y="3127248"/>
            <a:ext cx="2194560" cy="228600"/>
          </a:xfrm>
          <a:prstGeom prst="rect">
            <a:avLst/>
          </a:prstGeom>
          <a:noFill/>
          <a:ln/>
        </p:spPr>
        <p:txBody>
          <a:bodyPr wrap="square" lIns="0" tIns="0" rIns="0" bIns="0" rtlCol="0" anchor="t"/>
          <a:lstStyle/>
          <a:p>
            <a:pPr marL="0" indent="0">
              <a:buNone/>
            </a:pPr>
            <a:r>
              <a:rPr lang="en-US" sz="1100" dirty="0">
                <a:solidFill>
                  <a:schemeClr val="accent3"/>
                </a:solidFill>
              </a:rPr>
              <a:t>180 mg/dL alert line</a:t>
            </a:r>
            <a:endParaRPr lang="en-US" sz="1100" dirty="0"/>
          </a:p>
        </p:txBody>
      </p:sp>
      <p:sp>
        <p:nvSpPr>
          <p:cNvPr id="20" name="Shape 16"/>
          <p:cNvSpPr/>
          <p:nvPr/>
        </p:nvSpPr>
        <p:spPr>
          <a:xfrm>
            <a:off x="6400800" y="4553712"/>
            <a:ext cx="528320" cy="73152"/>
          </a:xfrm>
          <a:prstGeom prst="line">
            <a:avLst/>
          </a:prstGeom>
          <a:noFill/>
          <a:ln w="38100">
            <a:solidFill>
              <a:srgbClr val="0E8C8C"/>
            </a:solidFill>
            <a:prstDash val="solid"/>
          </a:ln>
        </p:spPr>
        <p:txBody>
          <a:bodyPr/>
          <a:lstStyle/>
          <a:p>
            <a:endParaRPr lang="en-IN"/>
          </a:p>
        </p:txBody>
      </p:sp>
      <p:sp>
        <p:nvSpPr>
          <p:cNvPr id="21" name="Shape 17"/>
          <p:cNvSpPr/>
          <p:nvPr/>
        </p:nvSpPr>
        <p:spPr>
          <a:xfrm flipV="1">
            <a:off x="6929120" y="4517136"/>
            <a:ext cx="528320" cy="109728"/>
          </a:xfrm>
          <a:prstGeom prst="line">
            <a:avLst/>
          </a:prstGeom>
          <a:noFill/>
          <a:ln w="38100">
            <a:solidFill>
              <a:srgbClr val="0E8C8C"/>
            </a:solidFill>
            <a:prstDash val="solid"/>
          </a:ln>
        </p:spPr>
        <p:txBody>
          <a:bodyPr/>
          <a:lstStyle/>
          <a:p>
            <a:endParaRPr lang="en-IN"/>
          </a:p>
        </p:txBody>
      </p:sp>
      <p:sp>
        <p:nvSpPr>
          <p:cNvPr id="22" name="Shape 18"/>
          <p:cNvSpPr/>
          <p:nvPr/>
        </p:nvSpPr>
        <p:spPr>
          <a:xfrm flipV="1">
            <a:off x="7457440" y="4279392"/>
            <a:ext cx="528320" cy="237744"/>
          </a:xfrm>
          <a:prstGeom prst="line">
            <a:avLst/>
          </a:prstGeom>
          <a:noFill/>
          <a:ln w="38100">
            <a:solidFill>
              <a:srgbClr val="0E8C8C"/>
            </a:solidFill>
            <a:prstDash val="solid"/>
          </a:ln>
        </p:spPr>
        <p:txBody>
          <a:bodyPr/>
          <a:lstStyle/>
          <a:p>
            <a:endParaRPr lang="en-IN"/>
          </a:p>
        </p:txBody>
      </p:sp>
      <p:sp>
        <p:nvSpPr>
          <p:cNvPr id="23" name="Shape 19"/>
          <p:cNvSpPr/>
          <p:nvPr/>
        </p:nvSpPr>
        <p:spPr>
          <a:xfrm flipV="1">
            <a:off x="7985760" y="4041648"/>
            <a:ext cx="528320" cy="237744"/>
          </a:xfrm>
          <a:prstGeom prst="line">
            <a:avLst/>
          </a:prstGeom>
          <a:noFill/>
          <a:ln w="38100">
            <a:solidFill>
              <a:srgbClr val="0E8C8C"/>
            </a:solidFill>
            <a:prstDash val="solid"/>
          </a:ln>
        </p:spPr>
        <p:txBody>
          <a:bodyPr/>
          <a:lstStyle/>
          <a:p>
            <a:endParaRPr lang="en-IN"/>
          </a:p>
        </p:txBody>
      </p:sp>
      <p:sp>
        <p:nvSpPr>
          <p:cNvPr id="24" name="Shape 20"/>
          <p:cNvSpPr/>
          <p:nvPr/>
        </p:nvSpPr>
        <p:spPr>
          <a:xfrm flipV="1">
            <a:off x="8514080" y="3895344"/>
            <a:ext cx="528320" cy="146304"/>
          </a:xfrm>
          <a:prstGeom prst="line">
            <a:avLst/>
          </a:prstGeom>
          <a:noFill/>
          <a:ln w="38100">
            <a:solidFill>
              <a:srgbClr val="0E8C8C"/>
            </a:solidFill>
            <a:prstDash val="solid"/>
          </a:ln>
        </p:spPr>
        <p:txBody>
          <a:bodyPr/>
          <a:lstStyle/>
          <a:p>
            <a:endParaRPr lang="en-IN"/>
          </a:p>
        </p:txBody>
      </p:sp>
      <p:sp>
        <p:nvSpPr>
          <p:cNvPr id="25" name="Shape 21"/>
          <p:cNvSpPr/>
          <p:nvPr/>
        </p:nvSpPr>
        <p:spPr>
          <a:xfrm>
            <a:off x="9042400" y="2743200"/>
            <a:ext cx="914" cy="2286000"/>
          </a:xfrm>
          <a:prstGeom prst="line">
            <a:avLst/>
          </a:prstGeom>
          <a:noFill/>
          <a:ln w="12700">
            <a:solidFill>
              <a:srgbClr val="5B7083"/>
            </a:solidFill>
            <a:prstDash val="sysDot"/>
          </a:ln>
        </p:spPr>
        <p:txBody>
          <a:bodyPr/>
          <a:lstStyle/>
          <a:p>
            <a:endParaRPr lang="en-IN"/>
          </a:p>
        </p:txBody>
      </p:sp>
      <p:sp>
        <p:nvSpPr>
          <p:cNvPr id="26" name="Shape 22"/>
          <p:cNvSpPr/>
          <p:nvPr/>
        </p:nvSpPr>
        <p:spPr>
          <a:xfrm flipV="1">
            <a:off x="9042400" y="3127248"/>
            <a:ext cx="2113280" cy="768096"/>
          </a:xfrm>
          <a:prstGeom prst="line">
            <a:avLst/>
          </a:prstGeom>
          <a:noFill/>
          <a:ln w="31750">
            <a:solidFill>
              <a:srgbClr val="2BB673"/>
            </a:solidFill>
            <a:prstDash val="dash"/>
          </a:ln>
        </p:spPr>
        <p:txBody>
          <a:bodyPr/>
          <a:lstStyle/>
          <a:p>
            <a:endParaRPr lang="en-IN"/>
          </a:p>
        </p:txBody>
      </p:sp>
      <p:sp>
        <p:nvSpPr>
          <p:cNvPr id="27" name="Shape 23"/>
          <p:cNvSpPr/>
          <p:nvPr/>
        </p:nvSpPr>
        <p:spPr>
          <a:xfrm>
            <a:off x="8960104" y="3813048"/>
            <a:ext cx="164592" cy="164592"/>
          </a:xfrm>
          <a:prstGeom prst="ellipse">
            <a:avLst/>
          </a:prstGeom>
          <a:solidFill>
            <a:schemeClr val="accent1"/>
          </a:solidFill>
          <a:ln w="19050">
            <a:solidFill>
              <a:schemeClr val="bg1"/>
            </a:solidFill>
            <a:prstDash val="solid"/>
          </a:ln>
        </p:spPr>
        <p:txBody>
          <a:bodyPr/>
          <a:lstStyle/>
          <a:p>
            <a:endParaRPr lang="en-IN"/>
          </a:p>
        </p:txBody>
      </p:sp>
      <p:sp>
        <p:nvSpPr>
          <p:cNvPr id="28" name="Shape 24"/>
          <p:cNvSpPr/>
          <p:nvPr/>
        </p:nvSpPr>
        <p:spPr>
          <a:xfrm>
            <a:off x="11036808" y="3008376"/>
            <a:ext cx="237744" cy="237744"/>
          </a:xfrm>
          <a:prstGeom prst="ellipse">
            <a:avLst/>
          </a:prstGeom>
          <a:solidFill>
            <a:schemeClr val="accent2"/>
          </a:solidFill>
          <a:ln w="19050">
            <a:solidFill>
              <a:schemeClr val="bg1"/>
            </a:solidFill>
            <a:prstDash val="solid"/>
          </a:ln>
        </p:spPr>
        <p:txBody>
          <a:bodyPr/>
          <a:lstStyle/>
          <a:p>
            <a:endParaRPr lang="en-IN"/>
          </a:p>
        </p:txBody>
      </p:sp>
      <p:sp>
        <p:nvSpPr>
          <p:cNvPr id="29" name="Text 25"/>
          <p:cNvSpPr txBox="1"/>
          <p:nvPr/>
        </p:nvSpPr>
        <p:spPr>
          <a:xfrm>
            <a:off x="5852160" y="5102352"/>
            <a:ext cx="1097280" cy="228600"/>
          </a:xfrm>
          <a:prstGeom prst="rect">
            <a:avLst/>
          </a:prstGeom>
          <a:noFill/>
          <a:ln/>
        </p:spPr>
        <p:txBody>
          <a:bodyPr wrap="square" lIns="0" tIns="0" rIns="0" bIns="0" rtlCol="0" anchor="t"/>
          <a:lstStyle/>
          <a:p>
            <a:pPr marL="0" indent="0" algn="ctr">
              <a:buNone/>
            </a:pPr>
            <a:r>
              <a:rPr lang="en-US" sz="1100" dirty="0">
                <a:solidFill>
                  <a:schemeClr val="accent5"/>
                </a:solidFill>
              </a:rPr>
              <a:t>10:30</a:t>
            </a:r>
            <a:endParaRPr lang="en-US" sz="1100" dirty="0"/>
          </a:p>
        </p:txBody>
      </p:sp>
      <p:sp>
        <p:nvSpPr>
          <p:cNvPr id="30" name="Text 26"/>
          <p:cNvSpPr txBox="1"/>
          <p:nvPr/>
        </p:nvSpPr>
        <p:spPr>
          <a:xfrm>
            <a:off x="8493760" y="5102352"/>
            <a:ext cx="1097280" cy="228600"/>
          </a:xfrm>
          <a:prstGeom prst="rect">
            <a:avLst/>
          </a:prstGeom>
          <a:noFill/>
          <a:ln/>
        </p:spPr>
        <p:txBody>
          <a:bodyPr wrap="square" lIns="0" tIns="0" rIns="0" bIns="0" rtlCol="0" anchor="t"/>
          <a:lstStyle/>
          <a:p>
            <a:pPr marL="0" indent="0" algn="ctr">
              <a:buNone/>
            </a:pPr>
            <a:r>
              <a:rPr lang="en-US" sz="1100" dirty="0">
                <a:solidFill>
                  <a:schemeClr val="accent5"/>
                </a:solidFill>
              </a:rPr>
              <a:t>1:00 pm (now)</a:t>
            </a:r>
            <a:endParaRPr lang="en-US" sz="1100" dirty="0"/>
          </a:p>
        </p:txBody>
      </p:sp>
      <p:sp>
        <p:nvSpPr>
          <p:cNvPr id="31" name="Text 27"/>
          <p:cNvSpPr txBox="1"/>
          <p:nvPr/>
        </p:nvSpPr>
        <p:spPr>
          <a:xfrm>
            <a:off x="10607040" y="5102352"/>
            <a:ext cx="1097280" cy="228600"/>
          </a:xfrm>
          <a:prstGeom prst="rect">
            <a:avLst/>
          </a:prstGeom>
          <a:noFill/>
          <a:ln/>
        </p:spPr>
        <p:txBody>
          <a:bodyPr wrap="square" lIns="0" tIns="0" rIns="0" bIns="0" rtlCol="0" anchor="t"/>
          <a:lstStyle/>
          <a:p>
            <a:pPr marL="0" indent="0" algn="ctr">
              <a:buNone/>
            </a:pPr>
            <a:r>
              <a:rPr lang="en-US" sz="1100" dirty="0">
                <a:solidFill>
                  <a:schemeClr val="accent5"/>
                </a:solidFill>
              </a:rPr>
              <a:t>3:00 pm</a:t>
            </a:r>
            <a:endParaRPr lang="en-US" sz="1100" dirty="0"/>
          </a:p>
        </p:txBody>
      </p:sp>
      <p:sp>
        <p:nvSpPr>
          <p:cNvPr id="32" name="Text 28"/>
          <p:cNvSpPr txBox="1"/>
          <p:nvPr/>
        </p:nvSpPr>
        <p:spPr>
          <a:xfrm>
            <a:off x="9179560" y="3986784"/>
            <a:ext cx="1828800" cy="274320"/>
          </a:xfrm>
          <a:prstGeom prst="rect">
            <a:avLst/>
          </a:prstGeom>
          <a:noFill/>
          <a:ln/>
        </p:spPr>
        <p:txBody>
          <a:bodyPr wrap="square" lIns="0" tIns="0" rIns="0" bIns="0" rtlCol="0" anchor="t"/>
          <a:lstStyle/>
          <a:p>
            <a:pPr marL="0" indent="0">
              <a:buNone/>
            </a:pPr>
            <a:r>
              <a:rPr lang="en-US" sz="1200" b="1" dirty="0">
                <a:solidFill>
                  <a:schemeClr val="accent1"/>
                </a:solidFill>
              </a:rPr>
              <a:t>Now: 152, looks fine</a:t>
            </a:r>
            <a:endParaRPr lang="en-US" sz="1200" dirty="0"/>
          </a:p>
        </p:txBody>
      </p:sp>
      <p:sp>
        <p:nvSpPr>
          <p:cNvPr id="33" name="Text 29"/>
          <p:cNvSpPr txBox="1"/>
          <p:nvPr/>
        </p:nvSpPr>
        <p:spPr>
          <a:xfrm>
            <a:off x="9692640" y="2743200"/>
            <a:ext cx="1417320" cy="274320"/>
          </a:xfrm>
          <a:prstGeom prst="rect">
            <a:avLst/>
          </a:prstGeom>
          <a:noFill/>
          <a:ln/>
        </p:spPr>
        <p:txBody>
          <a:bodyPr wrap="square" lIns="0" tIns="0" rIns="0" bIns="0" rtlCol="0" anchor="t"/>
          <a:lstStyle/>
          <a:p>
            <a:pPr marL="0" indent="0" algn="r">
              <a:buNone/>
            </a:pPr>
            <a:r>
              <a:rPr lang="en-US" sz="1200" b="1" dirty="0">
                <a:solidFill>
                  <a:schemeClr val="accent2"/>
                </a:solidFill>
              </a:rPr>
              <a:t>+2 h est.: ~194</a:t>
            </a:r>
            <a:endParaRPr lang="en-US" sz="1200" dirty="0"/>
          </a:p>
        </p:txBody>
      </p:sp>
      <p:sp>
        <p:nvSpPr>
          <p:cNvPr id="34" name="Text 30"/>
          <p:cNvSpPr txBox="1"/>
          <p:nvPr/>
        </p:nvSpPr>
        <p:spPr>
          <a:xfrm>
            <a:off x="6172200" y="5596128"/>
            <a:ext cx="5303520" cy="274320"/>
          </a:xfrm>
          <a:prstGeom prst="rect">
            <a:avLst/>
          </a:prstGeom>
          <a:noFill/>
          <a:ln/>
        </p:spPr>
        <p:txBody>
          <a:bodyPr wrap="square" lIns="0" tIns="0" rIns="0" bIns="0" rtlCol="0" anchor="t"/>
          <a:lstStyle/>
          <a:p>
            <a:pPr marL="0" indent="0">
              <a:buNone/>
            </a:pPr>
            <a:r>
              <a:rPr lang="en-US" sz="1100" i="1" dirty="0">
                <a:solidFill>
                  <a:schemeClr val="accent5"/>
                </a:solidFill>
              </a:rPr>
              <a:t>Numbers invented to explain the idea; not patient data or model output.</a:t>
            </a:r>
            <a:endParaRPr lang="en-US" sz="1100" dirty="0"/>
          </a:p>
        </p:txBody>
      </p:sp>
      <p:sp>
        <p:nvSpPr>
          <p:cNvPr id="3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02  ·  OUR PROPOSED SOLUTION</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GlucoTwin estimates each patient’s glucose two hours ahead</a:t>
            </a:r>
            <a:endParaRPr lang="en-US" sz="3400" dirty="0"/>
          </a:p>
        </p:txBody>
      </p:sp>
      <p:sp>
        <p:nvSpPr>
          <p:cNvPr id="4" name="card"/>
          <p:cNvSpPr/>
          <p:nvPr/>
        </p:nvSpPr>
        <p:spPr>
          <a:xfrm>
            <a:off x="548640" y="1828800"/>
            <a:ext cx="2377440" cy="2514600"/>
          </a:xfrm>
          <a:prstGeom prst="roundRect">
            <a:avLst>
              <a:gd name="adj" fmla="val 4615"/>
            </a:avLst>
          </a:prstGeom>
          <a:solidFill>
            <a:schemeClr val="bg1"/>
          </a:solidFill>
          <a:ln/>
          <a:effectLst>
            <a:outerShdw blurRad="101600" dist="25400" dir="5400000" algn="bl" rotWithShape="0">
              <a:srgbClr val="0B2545">
                <a:alpha val="12000"/>
              </a:srgbClr>
            </a:outerShdw>
          </a:effectLst>
        </p:spPr>
        <p:txBody>
          <a:bodyPr/>
          <a:lstStyle/>
          <a:p>
            <a:endParaRPr lang="en-IN"/>
          </a:p>
        </p:txBody>
      </p:sp>
      <p:sp>
        <p:nvSpPr>
          <p:cNvPr id="5" name="icon-circle"/>
          <p:cNvSpPr/>
          <p:nvPr/>
        </p:nvSpPr>
        <p:spPr>
          <a:xfrm>
            <a:off x="1325880" y="2103120"/>
            <a:ext cx="822960" cy="822960"/>
          </a:xfrm>
          <a:prstGeom prst="ellipse">
            <a:avLst/>
          </a:prstGeom>
          <a:solidFill>
            <a:schemeClr val="accent5"/>
          </a:solidFill>
          <a:ln/>
        </p:spPr>
        <p:txBody>
          <a:bodyPr/>
          <a:lstStyle/>
          <a:p>
            <a:endParaRPr lang="en-IN"/>
          </a:p>
        </p:txBody>
      </p:sp>
      <p:pic>
        <p:nvPicPr>
          <p:cNvPr id="6" name="icon-FaUser" descr="preencoded.png"/>
          <p:cNvPicPr>
            <a:picLocks noChangeAspect="1"/>
          </p:cNvPicPr>
          <p:nvPr/>
        </p:nvPicPr>
        <p:blipFill>
          <a:blip r:embed="rId3"/>
          <a:stretch>
            <a:fillRect/>
          </a:stretch>
        </p:blipFill>
        <p:spPr>
          <a:xfrm>
            <a:off x="1539850" y="2317090"/>
            <a:ext cx="395021" cy="395021"/>
          </a:xfrm>
          <a:prstGeom prst="rect">
            <a:avLst/>
          </a:prstGeom>
        </p:spPr>
      </p:pic>
      <p:sp>
        <p:nvSpPr>
          <p:cNvPr id="7" name="Text 4"/>
          <p:cNvSpPr txBox="1"/>
          <p:nvPr/>
        </p:nvSpPr>
        <p:spPr>
          <a:xfrm>
            <a:off x="731520" y="3063240"/>
            <a:ext cx="2011680" cy="365760"/>
          </a:xfrm>
          <a:prstGeom prst="rect">
            <a:avLst/>
          </a:prstGeom>
          <a:noFill/>
          <a:ln/>
        </p:spPr>
        <p:txBody>
          <a:bodyPr wrap="square" lIns="0" tIns="0" rIns="0" bIns="0" rtlCol="0" anchor="t"/>
          <a:lstStyle/>
          <a:p>
            <a:pPr marL="0" indent="0" algn="ctr">
              <a:buNone/>
            </a:pPr>
            <a:r>
              <a:rPr lang="en-US" sz="1700" b="1" dirty="0">
                <a:solidFill>
                  <a:schemeClr val="tx1"/>
                </a:solidFill>
              </a:rPr>
              <a:t>Patient data</a:t>
            </a:r>
            <a:endParaRPr lang="en-US" sz="1700" dirty="0"/>
          </a:p>
        </p:txBody>
      </p:sp>
      <p:sp>
        <p:nvSpPr>
          <p:cNvPr id="8" name="Text 5"/>
          <p:cNvSpPr txBox="1"/>
          <p:nvPr/>
        </p:nvSpPr>
        <p:spPr>
          <a:xfrm>
            <a:off x="731520" y="3474720"/>
            <a:ext cx="2011680" cy="731520"/>
          </a:xfrm>
          <a:prstGeom prst="rect">
            <a:avLst/>
          </a:prstGeom>
          <a:noFill/>
          <a:ln/>
        </p:spPr>
        <p:txBody>
          <a:bodyPr wrap="square" lIns="0" tIns="0" rIns="0" bIns="0" rtlCol="0" anchor="t"/>
          <a:lstStyle/>
          <a:p>
            <a:pPr marL="0" indent="0" algn="ctr">
              <a:buNone/>
            </a:pPr>
            <a:r>
              <a:rPr lang="en-US" sz="1300" dirty="0">
                <a:solidFill>
                  <a:schemeClr val="accent5"/>
                </a:solidFill>
              </a:rPr>
              <a:t>Health-record profile + recent sensor readings</a:t>
            </a:r>
            <a:endParaRPr lang="en-US" sz="1300" dirty="0"/>
          </a:p>
        </p:txBody>
      </p:sp>
      <p:sp>
        <p:nvSpPr>
          <p:cNvPr id="9" name="Shape 6"/>
          <p:cNvSpPr/>
          <p:nvPr/>
        </p:nvSpPr>
        <p:spPr>
          <a:xfrm>
            <a:off x="2999232" y="3086100"/>
            <a:ext cx="374904" cy="914"/>
          </a:xfrm>
          <a:prstGeom prst="line">
            <a:avLst/>
          </a:prstGeom>
          <a:noFill/>
          <a:ln w="22225">
            <a:solidFill>
              <a:schemeClr val="accent1"/>
            </a:solidFill>
            <a:prstDash val="solid"/>
            <a:tailEnd type="triangle"/>
          </a:ln>
        </p:spPr>
        <p:txBody>
          <a:bodyPr/>
          <a:lstStyle/>
          <a:p>
            <a:endParaRPr lang="en-IN"/>
          </a:p>
        </p:txBody>
      </p:sp>
      <p:sp>
        <p:nvSpPr>
          <p:cNvPr id="10" name="card"/>
          <p:cNvSpPr/>
          <p:nvPr/>
        </p:nvSpPr>
        <p:spPr>
          <a:xfrm>
            <a:off x="3447288" y="1828800"/>
            <a:ext cx="2377440" cy="2514600"/>
          </a:xfrm>
          <a:prstGeom prst="roundRect">
            <a:avLst>
              <a:gd name="adj" fmla="val 4615"/>
            </a:avLst>
          </a:prstGeom>
          <a:solidFill>
            <a:schemeClr val="bg1"/>
          </a:solidFill>
          <a:ln/>
          <a:effectLst>
            <a:outerShdw blurRad="101600" dist="25400" dir="5400000" algn="bl" rotWithShape="0">
              <a:srgbClr val="0B2545">
                <a:alpha val="12000"/>
              </a:srgbClr>
            </a:outerShdw>
          </a:effectLst>
        </p:spPr>
        <p:txBody>
          <a:bodyPr/>
          <a:lstStyle/>
          <a:p>
            <a:endParaRPr lang="en-IN"/>
          </a:p>
        </p:txBody>
      </p:sp>
      <p:sp>
        <p:nvSpPr>
          <p:cNvPr id="11" name="icon-circle"/>
          <p:cNvSpPr/>
          <p:nvPr/>
        </p:nvSpPr>
        <p:spPr>
          <a:xfrm>
            <a:off x="4224528" y="2103120"/>
            <a:ext cx="822960" cy="822960"/>
          </a:xfrm>
          <a:prstGeom prst="ellipse">
            <a:avLst/>
          </a:prstGeom>
          <a:solidFill>
            <a:schemeClr val="tx2"/>
          </a:solidFill>
          <a:ln/>
        </p:spPr>
        <p:txBody>
          <a:bodyPr/>
          <a:lstStyle/>
          <a:p>
            <a:endParaRPr lang="en-IN"/>
          </a:p>
        </p:txBody>
      </p:sp>
      <p:pic>
        <p:nvPicPr>
          <p:cNvPr id="12" name="icon-FaProjectDiagram" descr="preencoded.png"/>
          <p:cNvPicPr>
            <a:picLocks noChangeAspect="1"/>
          </p:cNvPicPr>
          <p:nvPr/>
        </p:nvPicPr>
        <p:blipFill>
          <a:blip r:embed="rId4"/>
          <a:stretch>
            <a:fillRect/>
          </a:stretch>
        </p:blipFill>
        <p:spPr>
          <a:xfrm>
            <a:off x="4438498" y="2317090"/>
            <a:ext cx="395021" cy="395021"/>
          </a:xfrm>
          <a:prstGeom prst="rect">
            <a:avLst/>
          </a:prstGeom>
        </p:spPr>
      </p:pic>
      <p:sp>
        <p:nvSpPr>
          <p:cNvPr id="13" name="Text 9"/>
          <p:cNvSpPr txBox="1"/>
          <p:nvPr/>
        </p:nvSpPr>
        <p:spPr>
          <a:xfrm>
            <a:off x="3630168" y="3063240"/>
            <a:ext cx="2011680" cy="365760"/>
          </a:xfrm>
          <a:prstGeom prst="rect">
            <a:avLst/>
          </a:prstGeom>
          <a:noFill/>
          <a:ln/>
        </p:spPr>
        <p:txBody>
          <a:bodyPr wrap="square" lIns="0" tIns="0" rIns="0" bIns="0" rtlCol="0" anchor="t"/>
          <a:lstStyle/>
          <a:p>
            <a:pPr marL="0" indent="0" algn="ctr">
              <a:buNone/>
            </a:pPr>
            <a:r>
              <a:rPr lang="en-US" sz="1700" b="1" dirty="0">
                <a:solidFill>
                  <a:schemeClr val="tx1"/>
                </a:solidFill>
              </a:rPr>
              <a:t>Digital twin prototype</a:t>
            </a:r>
            <a:endParaRPr lang="en-US" sz="1700" dirty="0"/>
          </a:p>
        </p:txBody>
      </p:sp>
      <p:sp>
        <p:nvSpPr>
          <p:cNvPr id="14" name="Text 10"/>
          <p:cNvSpPr txBox="1"/>
          <p:nvPr/>
        </p:nvSpPr>
        <p:spPr>
          <a:xfrm>
            <a:off x="3630168" y="3474720"/>
            <a:ext cx="2011680" cy="731520"/>
          </a:xfrm>
          <a:prstGeom prst="rect">
            <a:avLst/>
          </a:prstGeom>
          <a:noFill/>
          <a:ln/>
        </p:spPr>
        <p:txBody>
          <a:bodyPr wrap="square" lIns="0" tIns="0" rIns="0" bIns="0" rtlCol="0" anchor="t"/>
          <a:lstStyle/>
          <a:p>
            <a:pPr marL="0" indent="0" algn="ctr">
              <a:buNone/>
            </a:pPr>
            <a:r>
              <a:rPr lang="en-US" sz="1300" dirty="0">
                <a:solidFill>
                  <a:schemeClr val="accent5"/>
                </a:solidFill>
              </a:rPr>
              <a:t>Per-patient data model that combines both</a:t>
            </a:r>
            <a:endParaRPr lang="en-US" sz="1300" dirty="0"/>
          </a:p>
        </p:txBody>
      </p:sp>
      <p:sp>
        <p:nvSpPr>
          <p:cNvPr id="15" name="Shape 11"/>
          <p:cNvSpPr/>
          <p:nvPr/>
        </p:nvSpPr>
        <p:spPr>
          <a:xfrm>
            <a:off x="5897880" y="3086100"/>
            <a:ext cx="374904" cy="914"/>
          </a:xfrm>
          <a:prstGeom prst="line">
            <a:avLst/>
          </a:prstGeom>
          <a:noFill/>
          <a:ln w="22225">
            <a:solidFill>
              <a:schemeClr val="accent1"/>
            </a:solidFill>
            <a:prstDash val="solid"/>
            <a:tailEnd type="triangle"/>
          </a:ln>
        </p:spPr>
        <p:txBody>
          <a:bodyPr/>
          <a:lstStyle/>
          <a:p>
            <a:endParaRPr lang="en-IN"/>
          </a:p>
        </p:txBody>
      </p:sp>
      <p:sp>
        <p:nvSpPr>
          <p:cNvPr id="16" name="card"/>
          <p:cNvSpPr/>
          <p:nvPr/>
        </p:nvSpPr>
        <p:spPr>
          <a:xfrm>
            <a:off x="6345936" y="1828800"/>
            <a:ext cx="2377440" cy="2514600"/>
          </a:xfrm>
          <a:prstGeom prst="roundRect">
            <a:avLst>
              <a:gd name="adj" fmla="val 4615"/>
            </a:avLst>
          </a:prstGeom>
          <a:solidFill>
            <a:schemeClr val="bg1"/>
          </a:solidFill>
          <a:ln/>
          <a:effectLst>
            <a:outerShdw blurRad="101600" dist="25400" dir="5400000" algn="bl" rotWithShape="0">
              <a:srgbClr val="0B2545">
                <a:alpha val="12000"/>
              </a:srgbClr>
            </a:outerShdw>
          </a:effectLst>
        </p:spPr>
        <p:txBody>
          <a:bodyPr/>
          <a:lstStyle/>
          <a:p>
            <a:endParaRPr lang="en-IN"/>
          </a:p>
        </p:txBody>
      </p:sp>
      <p:sp>
        <p:nvSpPr>
          <p:cNvPr id="17" name="icon-circle"/>
          <p:cNvSpPr/>
          <p:nvPr/>
        </p:nvSpPr>
        <p:spPr>
          <a:xfrm>
            <a:off x="7123176" y="2103120"/>
            <a:ext cx="822960" cy="822960"/>
          </a:xfrm>
          <a:prstGeom prst="ellipse">
            <a:avLst/>
          </a:prstGeom>
          <a:solidFill>
            <a:schemeClr val="accent1"/>
          </a:solidFill>
          <a:ln/>
        </p:spPr>
        <p:txBody>
          <a:bodyPr/>
          <a:lstStyle/>
          <a:p>
            <a:endParaRPr lang="en-IN"/>
          </a:p>
        </p:txBody>
      </p:sp>
      <p:pic>
        <p:nvPicPr>
          <p:cNvPr id="18" name="icon-FaChartLine" descr="preencoded.png"/>
          <p:cNvPicPr>
            <a:picLocks noChangeAspect="1"/>
          </p:cNvPicPr>
          <p:nvPr/>
        </p:nvPicPr>
        <p:blipFill>
          <a:blip r:embed="rId5"/>
          <a:stretch>
            <a:fillRect/>
          </a:stretch>
        </p:blipFill>
        <p:spPr>
          <a:xfrm>
            <a:off x="7337146" y="2317090"/>
            <a:ext cx="395021" cy="395021"/>
          </a:xfrm>
          <a:prstGeom prst="rect">
            <a:avLst/>
          </a:prstGeom>
        </p:spPr>
      </p:pic>
      <p:sp>
        <p:nvSpPr>
          <p:cNvPr id="19" name="Text 14"/>
          <p:cNvSpPr txBox="1"/>
          <p:nvPr/>
        </p:nvSpPr>
        <p:spPr>
          <a:xfrm>
            <a:off x="6528816" y="3063240"/>
            <a:ext cx="2011680" cy="365760"/>
          </a:xfrm>
          <a:prstGeom prst="rect">
            <a:avLst/>
          </a:prstGeom>
          <a:noFill/>
          <a:ln/>
        </p:spPr>
        <p:txBody>
          <a:bodyPr wrap="square" lIns="0" tIns="0" rIns="0" bIns="0" rtlCol="0" anchor="t"/>
          <a:lstStyle/>
          <a:p>
            <a:pPr marL="0" indent="0" algn="ctr">
              <a:buNone/>
            </a:pPr>
            <a:r>
              <a:rPr lang="en-US" sz="1700" b="1" dirty="0">
                <a:solidFill>
                  <a:schemeClr val="tx1"/>
                </a:solidFill>
              </a:rPr>
              <a:t>Two-hour forecast</a:t>
            </a:r>
            <a:endParaRPr lang="en-US" sz="1700" dirty="0"/>
          </a:p>
        </p:txBody>
      </p:sp>
      <p:sp>
        <p:nvSpPr>
          <p:cNvPr id="20" name="Text 15"/>
          <p:cNvSpPr txBox="1"/>
          <p:nvPr/>
        </p:nvSpPr>
        <p:spPr>
          <a:xfrm>
            <a:off x="6528816" y="3474720"/>
            <a:ext cx="2011680" cy="731520"/>
          </a:xfrm>
          <a:prstGeom prst="rect">
            <a:avLst/>
          </a:prstGeom>
          <a:noFill/>
          <a:ln/>
        </p:spPr>
        <p:txBody>
          <a:bodyPr wrap="square" lIns="0" tIns="0" rIns="0" bIns="0" rtlCol="0" anchor="t"/>
          <a:lstStyle/>
          <a:p>
            <a:pPr marL="0" indent="0" algn="ctr">
              <a:buNone/>
            </a:pPr>
            <a:r>
              <a:rPr lang="en-US" sz="1300" dirty="0">
                <a:solidFill>
                  <a:schemeClr val="accent5"/>
                </a:solidFill>
              </a:rPr>
              <a:t>Random Forest estimates glucose at +120 min</a:t>
            </a:r>
            <a:endParaRPr lang="en-US" sz="1300" dirty="0"/>
          </a:p>
        </p:txBody>
      </p:sp>
      <p:sp>
        <p:nvSpPr>
          <p:cNvPr id="21" name="Shape 16"/>
          <p:cNvSpPr/>
          <p:nvPr/>
        </p:nvSpPr>
        <p:spPr>
          <a:xfrm>
            <a:off x="8796528" y="3086100"/>
            <a:ext cx="374904" cy="914"/>
          </a:xfrm>
          <a:prstGeom prst="line">
            <a:avLst/>
          </a:prstGeom>
          <a:noFill/>
          <a:ln w="22225">
            <a:solidFill>
              <a:schemeClr val="accent1"/>
            </a:solidFill>
            <a:prstDash val="solid"/>
            <a:tailEnd type="triangle"/>
          </a:ln>
        </p:spPr>
        <p:txBody>
          <a:bodyPr/>
          <a:lstStyle/>
          <a:p>
            <a:endParaRPr lang="en-IN"/>
          </a:p>
        </p:txBody>
      </p:sp>
      <p:sp>
        <p:nvSpPr>
          <p:cNvPr id="22" name="card"/>
          <p:cNvSpPr/>
          <p:nvPr/>
        </p:nvSpPr>
        <p:spPr>
          <a:xfrm>
            <a:off x="9244584" y="1828800"/>
            <a:ext cx="2377440" cy="2514600"/>
          </a:xfrm>
          <a:prstGeom prst="roundRect">
            <a:avLst>
              <a:gd name="adj" fmla="val 4615"/>
            </a:avLst>
          </a:prstGeom>
          <a:solidFill>
            <a:schemeClr val="bg1"/>
          </a:solidFill>
          <a:ln/>
          <a:effectLst>
            <a:outerShdw blurRad="101600" dist="25400" dir="5400000" algn="bl" rotWithShape="0">
              <a:srgbClr val="0B2545">
                <a:alpha val="12000"/>
              </a:srgbClr>
            </a:outerShdw>
          </a:effectLst>
        </p:spPr>
        <p:txBody>
          <a:bodyPr/>
          <a:lstStyle/>
          <a:p>
            <a:endParaRPr lang="en-IN"/>
          </a:p>
        </p:txBody>
      </p:sp>
      <p:sp>
        <p:nvSpPr>
          <p:cNvPr id="23" name="icon-circle"/>
          <p:cNvSpPr/>
          <p:nvPr/>
        </p:nvSpPr>
        <p:spPr>
          <a:xfrm>
            <a:off x="10021824" y="2103120"/>
            <a:ext cx="822960" cy="822960"/>
          </a:xfrm>
          <a:prstGeom prst="ellipse">
            <a:avLst/>
          </a:prstGeom>
          <a:solidFill>
            <a:schemeClr val="accent2"/>
          </a:solidFill>
          <a:ln/>
        </p:spPr>
        <p:txBody>
          <a:bodyPr/>
          <a:lstStyle/>
          <a:p>
            <a:endParaRPr lang="en-IN"/>
          </a:p>
        </p:txBody>
      </p:sp>
      <p:pic>
        <p:nvPicPr>
          <p:cNvPr id="24" name="icon-FaBell" descr="preencoded.png"/>
          <p:cNvPicPr>
            <a:picLocks noChangeAspect="1"/>
          </p:cNvPicPr>
          <p:nvPr/>
        </p:nvPicPr>
        <p:blipFill>
          <a:blip r:embed="rId6"/>
          <a:stretch>
            <a:fillRect/>
          </a:stretch>
        </p:blipFill>
        <p:spPr>
          <a:xfrm>
            <a:off x="10235794" y="2317090"/>
            <a:ext cx="395021" cy="395021"/>
          </a:xfrm>
          <a:prstGeom prst="rect">
            <a:avLst/>
          </a:prstGeom>
        </p:spPr>
      </p:pic>
      <p:sp>
        <p:nvSpPr>
          <p:cNvPr id="25" name="Text 19"/>
          <p:cNvSpPr txBox="1"/>
          <p:nvPr/>
        </p:nvSpPr>
        <p:spPr>
          <a:xfrm>
            <a:off x="9427464" y="3063240"/>
            <a:ext cx="2011680" cy="365760"/>
          </a:xfrm>
          <a:prstGeom prst="rect">
            <a:avLst/>
          </a:prstGeom>
          <a:noFill/>
          <a:ln/>
        </p:spPr>
        <p:txBody>
          <a:bodyPr wrap="square" lIns="0" tIns="0" rIns="0" bIns="0" rtlCol="0" anchor="t"/>
          <a:lstStyle/>
          <a:p>
            <a:pPr marL="0" indent="0" algn="ctr">
              <a:buNone/>
            </a:pPr>
            <a:r>
              <a:rPr lang="en-US" sz="1700" b="1" dirty="0">
                <a:solidFill>
                  <a:schemeClr val="tx1"/>
                </a:solidFill>
              </a:rPr>
              <a:t>Dashboard alert</a:t>
            </a:r>
            <a:endParaRPr lang="en-US" sz="1700" dirty="0"/>
          </a:p>
        </p:txBody>
      </p:sp>
      <p:sp>
        <p:nvSpPr>
          <p:cNvPr id="26" name="Text 20"/>
          <p:cNvSpPr txBox="1"/>
          <p:nvPr/>
        </p:nvSpPr>
        <p:spPr>
          <a:xfrm>
            <a:off x="9427464" y="3474720"/>
            <a:ext cx="2011680" cy="731520"/>
          </a:xfrm>
          <a:prstGeom prst="rect">
            <a:avLst/>
          </a:prstGeom>
          <a:noFill/>
          <a:ln/>
        </p:spPr>
        <p:txBody>
          <a:bodyPr wrap="square" lIns="0" tIns="0" rIns="0" bIns="0" rtlCol="0" anchor="t"/>
          <a:lstStyle/>
          <a:p>
            <a:pPr marL="0" indent="0" algn="ctr">
              <a:buNone/>
            </a:pPr>
            <a:r>
              <a:rPr lang="en-US" sz="1300" dirty="0">
                <a:solidFill>
                  <a:schemeClr val="accent5"/>
                </a:solidFill>
              </a:rPr>
              <a:t>Flags forecasts outside demo thresholds</a:t>
            </a:r>
            <a:endParaRPr lang="en-US" sz="1300" dirty="0"/>
          </a:p>
        </p:txBody>
      </p:sp>
      <p:sp>
        <p:nvSpPr>
          <p:cNvPr id="27" name="Text 21"/>
          <p:cNvSpPr txBox="1"/>
          <p:nvPr/>
        </p:nvSpPr>
        <p:spPr>
          <a:xfrm>
            <a:off x="548640" y="4800600"/>
            <a:ext cx="11064240" cy="822960"/>
          </a:xfrm>
          <a:prstGeom prst="rect">
            <a:avLst/>
          </a:prstGeom>
          <a:noFill/>
          <a:ln/>
        </p:spPr>
        <p:txBody>
          <a:bodyPr wrap="square" lIns="0" tIns="0" rIns="0" bIns="0" rtlCol="0" anchor="t"/>
          <a:lstStyle/>
          <a:p>
            <a:pPr marL="0" indent="0">
              <a:buNone/>
            </a:pPr>
            <a:r>
              <a:rPr lang="en-US" sz="1600" b="1" dirty="0">
                <a:solidFill>
                  <a:schemeClr val="accent1"/>
                </a:solidFill>
              </a:rPr>
              <a:t>Objective: </a:t>
            </a:r>
            <a:r>
              <a:rPr lang="en-US" sz="1600" dirty="0">
                <a:solidFill>
                  <a:schemeClr val="tx1"/>
                </a:solidFill>
              </a:rPr>
              <a:t>test whether combining who the patient is (static history) with what their body is doing now (recent sensor patterns) gives a better two-hour estimate than assuming glucose stays the same.</a:t>
            </a:r>
            <a:endParaRPr lang="en-US" sz="1600" dirty="0"/>
          </a:p>
        </p:txBody>
      </p:sp>
      <p:sp>
        <p:nvSpPr>
          <p:cNvPr id="28" name="Text 22"/>
          <p:cNvSpPr txBox="1"/>
          <p:nvPr/>
        </p:nvSpPr>
        <p:spPr>
          <a:xfrm>
            <a:off x="548640" y="5669280"/>
            <a:ext cx="11064240" cy="320040"/>
          </a:xfrm>
          <a:prstGeom prst="rect">
            <a:avLst/>
          </a:prstGeom>
          <a:noFill/>
          <a:ln/>
        </p:spPr>
        <p:txBody>
          <a:bodyPr wrap="square" lIns="0" tIns="0" rIns="0" bIns="0" rtlCol="0" anchor="t"/>
          <a:lstStyle/>
          <a:p>
            <a:pPr marL="0" indent="0">
              <a:buNone/>
            </a:pPr>
            <a:r>
              <a:rPr lang="en-US" sz="1300" i="1" dirty="0">
                <a:solidFill>
                  <a:schemeClr val="accent5"/>
                </a:solidFill>
              </a:rPr>
              <a:t>Early-warning research prototype: it supports attention, it does not diagnose or prescribe.</a:t>
            </a:r>
            <a:endParaRPr lang="en-US" sz="1300" dirty="0"/>
          </a:p>
        </p:txBody>
      </p:sp>
      <p:sp>
        <p:nvSpPr>
          <p:cNvPr id="2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03  ·  WHAT IS A DIGITAL TWIN?</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A virtual patient that updates with data, scoped honestly</a:t>
            </a:r>
            <a:endParaRPr lang="en-US" sz="3400" dirty="0"/>
          </a:p>
        </p:txBody>
      </p:sp>
      <p:sp>
        <p:nvSpPr>
          <p:cNvPr id="4" name="Text 2"/>
          <p:cNvSpPr txBox="1"/>
          <p:nvPr/>
        </p:nvSpPr>
        <p:spPr>
          <a:xfrm>
            <a:off x="548640" y="1600200"/>
            <a:ext cx="3840480" cy="1737360"/>
          </a:xfrm>
          <a:prstGeom prst="rect">
            <a:avLst/>
          </a:prstGeom>
          <a:noFill/>
          <a:ln/>
        </p:spPr>
        <p:txBody>
          <a:bodyPr wrap="square" lIns="0" tIns="0" rIns="0" bIns="0" rtlCol="0" anchor="t"/>
          <a:lstStyle/>
          <a:p>
            <a:pPr marL="0" indent="0">
              <a:buNone/>
            </a:pPr>
            <a:r>
              <a:rPr lang="en-US" sz="1800" b="1" dirty="0">
                <a:solidFill>
                  <a:schemeClr val="tx1"/>
                </a:solidFill>
              </a:rPr>
              <a:t>In plain English</a:t>
            </a:r>
            <a:endParaRPr lang="en-US" sz="1500" dirty="0"/>
          </a:p>
          <a:p>
            <a:pPr marL="0" indent="0">
              <a:buNone/>
            </a:pPr>
            <a:r>
              <a:rPr lang="en-US" sz="1500" dirty="0">
                <a:solidFill>
                  <a:schemeClr val="accent5"/>
                </a:solidFill>
              </a:rPr>
              <a:t>A digital twin is a virtual copy of something real that is kept up to date with data from it, so you can ask “what is likely to happen next?”</a:t>
            </a:r>
            <a:endParaRPr lang="en-US" sz="1500" dirty="0"/>
          </a:p>
        </p:txBody>
      </p:sp>
      <p:sp>
        <p:nvSpPr>
          <p:cNvPr id="5" name="Text 3"/>
          <p:cNvSpPr txBox="1"/>
          <p:nvPr/>
        </p:nvSpPr>
        <p:spPr>
          <a:xfrm>
            <a:off x="548640" y="3566160"/>
            <a:ext cx="3840480" cy="320040"/>
          </a:xfrm>
          <a:prstGeom prst="rect">
            <a:avLst/>
          </a:prstGeom>
          <a:noFill/>
          <a:ln/>
        </p:spPr>
        <p:txBody>
          <a:bodyPr wrap="square" lIns="0" tIns="0" rIns="0" bIns="0" rtlCol="0" anchor="t"/>
          <a:lstStyle/>
          <a:p>
            <a:pPr marL="0" indent="0">
              <a:buNone/>
            </a:pPr>
            <a:r>
              <a:rPr lang="en-US" sz="1500" b="1" dirty="0">
                <a:solidFill>
                  <a:schemeClr val="tx1"/>
                </a:solidFill>
              </a:rPr>
              <a:t>Where GlucoTwin sits</a:t>
            </a:r>
            <a:endParaRPr lang="en-US" sz="1500" dirty="0"/>
          </a:p>
        </p:txBody>
      </p:sp>
      <p:sp>
        <p:nvSpPr>
          <p:cNvPr id="6" name="Shape 4"/>
          <p:cNvSpPr/>
          <p:nvPr/>
        </p:nvSpPr>
        <p:spPr>
          <a:xfrm>
            <a:off x="548640" y="4069080"/>
            <a:ext cx="3840480" cy="201168"/>
          </a:xfrm>
          <a:prstGeom prst="roundRect">
            <a:avLst>
              <a:gd name="adj" fmla="val 50000"/>
            </a:avLst>
          </a:prstGeom>
          <a:solidFill>
            <a:schemeClr val="bg2"/>
          </a:solidFill>
          <a:ln w="12700">
            <a:solidFill>
              <a:srgbClr val="D3DEE4"/>
            </a:solidFill>
            <a:prstDash val="solid"/>
          </a:ln>
        </p:spPr>
        <p:txBody>
          <a:bodyPr/>
          <a:lstStyle/>
          <a:p>
            <a:endParaRPr lang="en-IN"/>
          </a:p>
        </p:txBody>
      </p:sp>
      <p:sp>
        <p:nvSpPr>
          <p:cNvPr id="7" name="Shape 5"/>
          <p:cNvSpPr/>
          <p:nvPr/>
        </p:nvSpPr>
        <p:spPr>
          <a:xfrm>
            <a:off x="1234440" y="3986784"/>
            <a:ext cx="365760" cy="365760"/>
          </a:xfrm>
          <a:prstGeom prst="ellipse">
            <a:avLst/>
          </a:prstGeom>
          <a:solidFill>
            <a:schemeClr val="accent1"/>
          </a:solidFill>
          <a:ln w="25400">
            <a:solidFill>
              <a:schemeClr val="bg1"/>
            </a:solidFill>
            <a:prstDash val="solid"/>
          </a:ln>
        </p:spPr>
        <p:txBody>
          <a:bodyPr/>
          <a:lstStyle/>
          <a:p>
            <a:endParaRPr lang="en-IN"/>
          </a:p>
        </p:txBody>
      </p:sp>
      <p:sp>
        <p:nvSpPr>
          <p:cNvPr id="8" name="Text 6"/>
          <p:cNvSpPr txBox="1"/>
          <p:nvPr/>
        </p:nvSpPr>
        <p:spPr>
          <a:xfrm>
            <a:off x="548640" y="4480560"/>
            <a:ext cx="1828800" cy="548640"/>
          </a:xfrm>
          <a:prstGeom prst="rect">
            <a:avLst/>
          </a:prstGeom>
          <a:noFill/>
          <a:ln/>
        </p:spPr>
        <p:txBody>
          <a:bodyPr wrap="square" lIns="0" tIns="0" rIns="0" bIns="0" rtlCol="0" anchor="t"/>
          <a:lstStyle/>
          <a:p>
            <a:pPr marL="0" indent="0">
              <a:buNone/>
            </a:pPr>
            <a:r>
              <a:rPr lang="en-US" sz="1200" b="1" dirty="0">
                <a:solidFill>
                  <a:schemeClr val="accent1"/>
                </a:solidFill>
              </a:rPr>
              <a:t>Data-driven virtual patient</a:t>
            </a:r>
            <a:endParaRPr lang="en-US" sz="1200" dirty="0"/>
          </a:p>
        </p:txBody>
      </p:sp>
      <p:sp>
        <p:nvSpPr>
          <p:cNvPr id="9" name="Text 7"/>
          <p:cNvSpPr txBox="1"/>
          <p:nvPr/>
        </p:nvSpPr>
        <p:spPr>
          <a:xfrm>
            <a:off x="2560320" y="4480560"/>
            <a:ext cx="1828800" cy="548640"/>
          </a:xfrm>
          <a:prstGeom prst="rect">
            <a:avLst/>
          </a:prstGeom>
          <a:noFill/>
          <a:ln/>
        </p:spPr>
        <p:txBody>
          <a:bodyPr wrap="square" lIns="0" tIns="0" rIns="0" bIns="0" rtlCol="0" anchor="t"/>
          <a:lstStyle/>
          <a:p>
            <a:pPr marL="0" indent="0" algn="r">
              <a:buNone/>
            </a:pPr>
            <a:r>
              <a:rPr lang="en-US" sz="1200" dirty="0">
                <a:solidFill>
                  <a:schemeClr val="accent5"/>
                </a:solidFill>
              </a:rPr>
              <a:t>Full physiological simulation</a:t>
            </a:r>
            <a:endParaRPr lang="en-US" sz="1200" dirty="0"/>
          </a:p>
        </p:txBody>
      </p:sp>
      <p:sp>
        <p:nvSpPr>
          <p:cNvPr id="10" name="Text 8"/>
          <p:cNvSpPr txBox="1"/>
          <p:nvPr/>
        </p:nvSpPr>
        <p:spPr>
          <a:xfrm>
            <a:off x="548640" y="5166360"/>
            <a:ext cx="3840480" cy="822960"/>
          </a:xfrm>
          <a:prstGeom prst="rect">
            <a:avLst/>
          </a:prstGeom>
          <a:noFill/>
          <a:ln/>
        </p:spPr>
        <p:txBody>
          <a:bodyPr wrap="square" lIns="0" tIns="0" rIns="0" bIns="0" rtlCol="0" anchor="t"/>
          <a:lstStyle/>
          <a:p>
            <a:pPr marL="0" indent="0">
              <a:buNone/>
            </a:pPr>
            <a:r>
              <a:rPr lang="en-US" sz="1300" i="1" dirty="0">
                <a:solidFill>
                  <a:schemeClr val="accent5"/>
                </a:solidFill>
              </a:rPr>
              <a:t>We are at the data-driven end. A mechanistic model of insulin and glucose in the body is outside our current scope.</a:t>
            </a:r>
            <a:endParaRPr lang="en-US" sz="1300" dirty="0"/>
          </a:p>
        </p:txBody>
      </p:sp>
      <p:sp>
        <p:nvSpPr>
          <p:cNvPr id="11" name="card"/>
          <p:cNvSpPr/>
          <p:nvPr/>
        </p:nvSpPr>
        <p:spPr>
          <a:xfrm>
            <a:off x="4892040" y="1600200"/>
            <a:ext cx="3246120" cy="3657600"/>
          </a:xfrm>
          <a:prstGeom prst="roundRect">
            <a:avLst>
              <a:gd name="adj" fmla="val 3380"/>
            </a:avLst>
          </a:prstGeom>
          <a:solidFill>
            <a:schemeClr val="bg2"/>
          </a:solidFill>
          <a:ln/>
        </p:spPr>
        <p:txBody>
          <a:bodyPr/>
          <a:lstStyle/>
          <a:p>
            <a:endParaRPr lang="en-IN"/>
          </a:p>
        </p:txBody>
      </p:sp>
      <p:sp>
        <p:nvSpPr>
          <p:cNvPr id="12" name="icon-circle"/>
          <p:cNvSpPr/>
          <p:nvPr/>
        </p:nvSpPr>
        <p:spPr>
          <a:xfrm>
            <a:off x="5120640" y="1828800"/>
            <a:ext cx="502920" cy="502920"/>
          </a:xfrm>
          <a:prstGeom prst="ellipse">
            <a:avLst/>
          </a:prstGeom>
          <a:solidFill>
            <a:schemeClr val="accent2"/>
          </a:solidFill>
          <a:ln/>
        </p:spPr>
        <p:txBody>
          <a:bodyPr/>
          <a:lstStyle/>
          <a:p>
            <a:endParaRPr lang="en-IN"/>
          </a:p>
        </p:txBody>
      </p:sp>
      <p:pic>
        <p:nvPicPr>
          <p:cNvPr id="13" name="icon-FaCheckCircle" descr="preencoded.png"/>
          <p:cNvPicPr>
            <a:picLocks noChangeAspect="1"/>
          </p:cNvPicPr>
          <p:nvPr/>
        </p:nvPicPr>
        <p:blipFill>
          <a:blip r:embed="rId3"/>
          <a:stretch>
            <a:fillRect/>
          </a:stretch>
        </p:blipFill>
        <p:spPr>
          <a:xfrm>
            <a:off x="5251399" y="1959559"/>
            <a:ext cx="241402" cy="241402"/>
          </a:xfrm>
          <a:prstGeom prst="rect">
            <a:avLst/>
          </a:prstGeom>
        </p:spPr>
      </p:pic>
      <p:sp>
        <p:nvSpPr>
          <p:cNvPr id="14" name="Text 11"/>
          <p:cNvSpPr txBox="1"/>
          <p:nvPr/>
        </p:nvSpPr>
        <p:spPr>
          <a:xfrm>
            <a:off x="5760720" y="1892808"/>
            <a:ext cx="2286000" cy="365760"/>
          </a:xfrm>
          <a:prstGeom prst="rect">
            <a:avLst/>
          </a:prstGeom>
          <a:noFill/>
          <a:ln/>
        </p:spPr>
        <p:txBody>
          <a:bodyPr wrap="square" lIns="0" tIns="0" rIns="0" bIns="0" rtlCol="0" anchor="t"/>
          <a:lstStyle/>
          <a:p>
            <a:pPr marL="0" indent="0">
              <a:buNone/>
            </a:pPr>
            <a:r>
              <a:rPr lang="en-US" sz="1600" b="1" dirty="0">
                <a:solidFill>
                  <a:schemeClr val="tx1"/>
                </a:solidFill>
              </a:rPr>
              <a:t>What our prototype is</a:t>
            </a:r>
            <a:endParaRPr lang="en-US" sz="1600" dirty="0"/>
          </a:p>
        </p:txBody>
      </p:sp>
      <p:sp>
        <p:nvSpPr>
          <p:cNvPr id="15" name="Text 12"/>
          <p:cNvSpPr txBox="1"/>
          <p:nvPr/>
        </p:nvSpPr>
        <p:spPr>
          <a:xfrm>
            <a:off x="5120640" y="2560320"/>
            <a:ext cx="2834640"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A per-patient record joining profile and sensor history</a:t>
            </a:r>
            <a:endParaRPr lang="en-US" sz="1400" dirty="0"/>
          </a:p>
          <a:p>
            <a:pPr marL="342900" indent="-342900">
              <a:spcAft>
                <a:spcPts val="1000"/>
              </a:spcAft>
              <a:buSzPct val="100000"/>
              <a:buChar char="•"/>
            </a:pPr>
            <a:r>
              <a:rPr lang="en-US" sz="1400" dirty="0">
                <a:solidFill>
                  <a:schemeClr val="tx1"/>
                </a:solidFill>
              </a:rPr>
              <a:t>A statistical forecaster of glucose at +120 min</a:t>
            </a:r>
            <a:endParaRPr lang="en-US" sz="1400" dirty="0"/>
          </a:p>
          <a:p>
            <a:pPr marL="342900" indent="-342900">
              <a:spcAft>
                <a:spcPts val="1000"/>
              </a:spcAft>
              <a:buSzPct val="100000"/>
              <a:buChar char="•"/>
            </a:pPr>
            <a:r>
              <a:rPr lang="en-US" sz="1400" dirty="0">
                <a:solidFill>
                  <a:schemeClr val="tx1"/>
                </a:solidFill>
              </a:rPr>
              <a:t>Refreshed as new (replayed) readings arrive</a:t>
            </a:r>
            <a:endParaRPr lang="en-US" sz="1400" dirty="0"/>
          </a:p>
          <a:p>
            <a:pPr marL="342900" indent="-342900">
              <a:spcAft>
                <a:spcPts val="1000"/>
              </a:spcAft>
              <a:buSzPct val="100000"/>
              <a:buChar char="•"/>
            </a:pPr>
            <a:r>
              <a:rPr lang="en-US" sz="1400" dirty="0">
                <a:solidFill>
                  <a:schemeClr val="tx1"/>
                </a:solidFill>
              </a:rPr>
              <a:t>Built and tested on synthetic data</a:t>
            </a:r>
            <a:endParaRPr lang="en-US" sz="1400" dirty="0"/>
          </a:p>
        </p:txBody>
      </p:sp>
      <p:sp>
        <p:nvSpPr>
          <p:cNvPr id="16" name="card"/>
          <p:cNvSpPr/>
          <p:nvPr/>
        </p:nvSpPr>
        <p:spPr>
          <a:xfrm>
            <a:off x="8394192" y="1600200"/>
            <a:ext cx="3246120" cy="3657600"/>
          </a:xfrm>
          <a:prstGeom prst="roundRect">
            <a:avLst>
              <a:gd name="adj" fmla="val 3380"/>
            </a:avLst>
          </a:prstGeom>
          <a:solidFill>
            <a:schemeClr val="bg2"/>
          </a:solidFill>
          <a:ln/>
        </p:spPr>
        <p:txBody>
          <a:bodyPr/>
          <a:lstStyle/>
          <a:p>
            <a:endParaRPr lang="en-IN"/>
          </a:p>
        </p:txBody>
      </p:sp>
      <p:sp>
        <p:nvSpPr>
          <p:cNvPr id="17" name="icon-circle"/>
          <p:cNvSpPr/>
          <p:nvPr/>
        </p:nvSpPr>
        <p:spPr>
          <a:xfrm>
            <a:off x="8622792" y="1828800"/>
            <a:ext cx="502920" cy="502920"/>
          </a:xfrm>
          <a:prstGeom prst="ellipse">
            <a:avLst/>
          </a:prstGeom>
          <a:solidFill>
            <a:schemeClr val="accent3"/>
          </a:solidFill>
          <a:ln/>
        </p:spPr>
        <p:txBody>
          <a:bodyPr/>
          <a:lstStyle/>
          <a:p>
            <a:endParaRPr lang="en-IN"/>
          </a:p>
        </p:txBody>
      </p:sp>
      <p:pic>
        <p:nvPicPr>
          <p:cNvPr id="18" name="icon-FaExclamationTriangle" descr="preencoded.png"/>
          <p:cNvPicPr>
            <a:picLocks noChangeAspect="1"/>
          </p:cNvPicPr>
          <p:nvPr/>
        </p:nvPicPr>
        <p:blipFill>
          <a:blip r:embed="rId4"/>
          <a:stretch>
            <a:fillRect/>
          </a:stretch>
        </p:blipFill>
        <p:spPr>
          <a:xfrm>
            <a:off x="8753551" y="1959559"/>
            <a:ext cx="241402" cy="241402"/>
          </a:xfrm>
          <a:prstGeom prst="rect">
            <a:avLst/>
          </a:prstGeom>
        </p:spPr>
      </p:pic>
      <p:sp>
        <p:nvSpPr>
          <p:cNvPr id="19" name="Text 15"/>
          <p:cNvSpPr txBox="1"/>
          <p:nvPr/>
        </p:nvSpPr>
        <p:spPr>
          <a:xfrm>
            <a:off x="9262872" y="1892808"/>
            <a:ext cx="2286000" cy="365760"/>
          </a:xfrm>
          <a:prstGeom prst="rect">
            <a:avLst/>
          </a:prstGeom>
          <a:noFill/>
          <a:ln/>
        </p:spPr>
        <p:txBody>
          <a:bodyPr wrap="square" lIns="0" tIns="0" rIns="0" bIns="0" rtlCol="0" anchor="t"/>
          <a:lstStyle/>
          <a:p>
            <a:pPr marL="0" indent="0">
              <a:buNone/>
            </a:pPr>
            <a:r>
              <a:rPr lang="en-US" sz="1600" b="1" dirty="0">
                <a:solidFill>
                  <a:schemeClr val="tx1"/>
                </a:solidFill>
              </a:rPr>
              <a:t>What it is not (yet)</a:t>
            </a:r>
            <a:endParaRPr lang="en-US" sz="1600" dirty="0"/>
          </a:p>
        </p:txBody>
      </p:sp>
      <p:sp>
        <p:nvSpPr>
          <p:cNvPr id="20" name="Text 16"/>
          <p:cNvSpPr txBox="1"/>
          <p:nvPr/>
        </p:nvSpPr>
        <p:spPr>
          <a:xfrm>
            <a:off x="8622792" y="2560320"/>
            <a:ext cx="2834640"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A simulation of insulin, digestion or organ physiology</a:t>
            </a:r>
            <a:endParaRPr lang="en-US" sz="1400" dirty="0"/>
          </a:p>
          <a:p>
            <a:pPr marL="342900" indent="-342900">
              <a:spcAft>
                <a:spcPts val="1000"/>
              </a:spcAft>
              <a:buSzPct val="100000"/>
              <a:buChar char="•"/>
            </a:pPr>
            <a:r>
              <a:rPr lang="en-US" sz="1400" dirty="0">
                <a:solidFill>
                  <a:schemeClr val="tx1"/>
                </a:solidFill>
              </a:rPr>
              <a:t>Clinically validated</a:t>
            </a:r>
            <a:endParaRPr lang="en-US" sz="1400" dirty="0"/>
          </a:p>
          <a:p>
            <a:pPr marL="342900" indent="-342900">
              <a:spcAft>
                <a:spcPts val="1000"/>
              </a:spcAft>
              <a:buSzPct val="100000"/>
              <a:buChar char="•"/>
            </a:pPr>
            <a:r>
              <a:rPr lang="en-US" sz="1400" dirty="0">
                <a:solidFill>
                  <a:schemeClr val="tx1"/>
                </a:solidFill>
              </a:rPr>
              <a:t>Connected to real wearables or hospital systems</a:t>
            </a:r>
            <a:endParaRPr lang="en-US" sz="1400" dirty="0"/>
          </a:p>
          <a:p>
            <a:pPr marL="342900" indent="-342900">
              <a:spcAft>
                <a:spcPts val="1000"/>
              </a:spcAft>
              <a:buSzPct val="100000"/>
              <a:buChar char="•"/>
            </a:pPr>
            <a:r>
              <a:rPr lang="en-US" sz="1400" dirty="0">
                <a:solidFill>
                  <a:schemeClr val="tx1"/>
                </a:solidFill>
              </a:rPr>
              <a:t>A tool for treatment decisions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04  ·  DATA SOURCES AND DATASET</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Two synthetic sources: a static profile and a dynamic stream</a:t>
            </a:r>
            <a:endParaRPr lang="en-US" sz="3400" dirty="0"/>
          </a:p>
        </p:txBody>
      </p:sp>
      <p:sp>
        <p:nvSpPr>
          <p:cNvPr id="4" name="card"/>
          <p:cNvSpPr/>
          <p:nvPr/>
        </p:nvSpPr>
        <p:spPr>
          <a:xfrm>
            <a:off x="548640" y="1600200"/>
            <a:ext cx="4206240" cy="3246120"/>
          </a:xfrm>
          <a:prstGeom prst="roundRect">
            <a:avLst>
              <a:gd name="adj" fmla="val 3380"/>
            </a:avLst>
          </a:prstGeom>
          <a:solidFill>
            <a:schemeClr val="bg1"/>
          </a:solidFill>
          <a:ln/>
          <a:effectLst>
            <a:outerShdw blurRad="101600" dist="25400" dir="5400000" algn="bl" rotWithShape="0">
              <a:srgbClr val="0B2545">
                <a:alpha val="12000"/>
              </a:srgbClr>
            </a:outerShdw>
          </a:effectLst>
        </p:spPr>
        <p:txBody>
          <a:bodyPr/>
          <a:lstStyle/>
          <a:p>
            <a:endParaRPr lang="en-IN"/>
          </a:p>
        </p:txBody>
      </p:sp>
      <p:sp>
        <p:nvSpPr>
          <p:cNvPr id="5" name="icon-circle"/>
          <p:cNvSpPr/>
          <p:nvPr/>
        </p:nvSpPr>
        <p:spPr>
          <a:xfrm>
            <a:off x="822960" y="1801368"/>
            <a:ext cx="566928" cy="566928"/>
          </a:xfrm>
          <a:prstGeom prst="ellipse">
            <a:avLst/>
          </a:prstGeom>
          <a:solidFill>
            <a:schemeClr val="tx2"/>
          </a:solidFill>
          <a:ln/>
        </p:spPr>
        <p:txBody>
          <a:bodyPr/>
          <a:lstStyle/>
          <a:p>
            <a:endParaRPr lang="en-IN"/>
          </a:p>
        </p:txBody>
      </p:sp>
      <p:pic>
        <p:nvPicPr>
          <p:cNvPr id="6" name="icon-FaFileMedical" descr="preencoded.png"/>
          <p:cNvPicPr>
            <a:picLocks noChangeAspect="1"/>
          </p:cNvPicPr>
          <p:nvPr/>
        </p:nvPicPr>
        <p:blipFill>
          <a:blip r:embed="rId3"/>
          <a:stretch>
            <a:fillRect/>
          </a:stretch>
        </p:blipFill>
        <p:spPr>
          <a:xfrm>
            <a:off x="970361" y="1948769"/>
            <a:ext cx="272125" cy="272125"/>
          </a:xfrm>
          <a:prstGeom prst="rect">
            <a:avLst/>
          </a:prstGeom>
        </p:spPr>
      </p:pic>
      <p:sp>
        <p:nvSpPr>
          <p:cNvPr id="7" name="Text 4"/>
          <p:cNvSpPr txBox="1"/>
          <p:nvPr/>
        </p:nvSpPr>
        <p:spPr>
          <a:xfrm>
            <a:off x="1554480" y="1801368"/>
            <a:ext cx="2926080" cy="320040"/>
          </a:xfrm>
          <a:prstGeom prst="rect">
            <a:avLst/>
          </a:prstGeom>
          <a:noFill/>
          <a:ln/>
        </p:spPr>
        <p:txBody>
          <a:bodyPr wrap="square" lIns="0" tIns="0" rIns="0" bIns="0" rtlCol="0" anchor="t"/>
          <a:lstStyle/>
          <a:p>
            <a:pPr marL="0" indent="0">
              <a:buNone/>
            </a:pPr>
            <a:r>
              <a:rPr lang="en-US" sz="1800" b="1" dirty="0">
                <a:solidFill>
                  <a:schemeClr val="tx1"/>
                </a:solidFill>
              </a:rPr>
              <a:t>Synthetic EHR</a:t>
            </a:r>
            <a:endParaRPr lang="en-US" sz="1800" dirty="0"/>
          </a:p>
        </p:txBody>
      </p:sp>
      <p:sp>
        <p:nvSpPr>
          <p:cNvPr id="8" name="Text 5"/>
          <p:cNvSpPr txBox="1"/>
          <p:nvPr/>
        </p:nvSpPr>
        <p:spPr>
          <a:xfrm>
            <a:off x="1554480" y="2121408"/>
            <a:ext cx="2926080" cy="274320"/>
          </a:xfrm>
          <a:prstGeom prst="rect">
            <a:avLst/>
          </a:prstGeom>
          <a:noFill/>
          <a:ln/>
        </p:spPr>
        <p:txBody>
          <a:bodyPr wrap="square" lIns="0" tIns="0" rIns="0" bIns="0" rtlCol="0" anchor="t"/>
          <a:lstStyle/>
          <a:p>
            <a:pPr marL="0" indent="0">
              <a:buNone/>
            </a:pPr>
            <a:r>
              <a:rPr lang="en-US" sz="1200" dirty="0">
                <a:solidFill>
                  <a:schemeClr val="accent5"/>
                </a:solidFill>
              </a:rPr>
              <a:t>Static · one profile per patient</a:t>
            </a:r>
            <a:endParaRPr lang="en-US" sz="1200" dirty="0"/>
          </a:p>
        </p:txBody>
      </p:sp>
      <p:sp>
        <p:nvSpPr>
          <p:cNvPr id="9" name="Text 6"/>
          <p:cNvSpPr txBox="1"/>
          <p:nvPr/>
        </p:nvSpPr>
        <p:spPr>
          <a:xfrm>
            <a:off x="822960" y="2606040"/>
            <a:ext cx="374904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Age, sex, BMI</a:t>
            </a:r>
            <a:endParaRPr lang="en-US" sz="1400" dirty="0"/>
          </a:p>
          <a:p>
            <a:pPr marL="342900" indent="-342900">
              <a:spcAft>
                <a:spcPts val="600"/>
              </a:spcAft>
              <a:buSzPct val="100000"/>
              <a:buChar char="•"/>
            </a:pPr>
            <a:r>
              <a:rPr lang="en-US" sz="1400" dirty="0">
                <a:solidFill>
                  <a:schemeClr val="tx1"/>
                </a:solidFill>
              </a:rPr>
              <a:t>HbA1c (3-month average glucose marker)</a:t>
            </a:r>
            <a:endParaRPr lang="en-US" sz="1400" dirty="0"/>
          </a:p>
          <a:p>
            <a:pPr marL="342900" indent="-342900">
              <a:spcAft>
                <a:spcPts val="600"/>
              </a:spcAft>
              <a:buSzPct val="100000"/>
              <a:buChar char="•"/>
            </a:pPr>
            <a:r>
              <a:rPr lang="en-US" sz="1400" dirty="0">
                <a:solidFill>
                  <a:schemeClr val="tx1"/>
                </a:solidFill>
              </a:rPr>
              <a:t>Diabetes duration, medication indicators</a:t>
            </a:r>
            <a:endParaRPr lang="en-US" sz="1400" dirty="0"/>
          </a:p>
          <a:p>
            <a:pPr marL="342900" indent="-342900">
              <a:spcAft>
                <a:spcPts val="600"/>
              </a:spcAft>
              <a:buSzPct val="100000"/>
              <a:buChar char="•"/>
            </a:pPr>
            <a:r>
              <a:rPr lang="en-US" sz="1400" dirty="0">
                <a:solidFill>
                  <a:schemeClr val="tx1"/>
                </a:solidFill>
              </a:rPr>
              <a:t>Hypertension, CKD (chronic kidney disease)</a:t>
            </a:r>
            <a:endParaRPr lang="en-US" sz="1400" dirty="0"/>
          </a:p>
        </p:txBody>
      </p:sp>
      <p:sp>
        <p:nvSpPr>
          <p:cNvPr id="10" name="card"/>
          <p:cNvSpPr/>
          <p:nvPr/>
        </p:nvSpPr>
        <p:spPr>
          <a:xfrm>
            <a:off x="7406640" y="1600200"/>
            <a:ext cx="4206240" cy="3246120"/>
          </a:xfrm>
          <a:prstGeom prst="roundRect">
            <a:avLst>
              <a:gd name="adj" fmla="val 3380"/>
            </a:avLst>
          </a:prstGeom>
          <a:solidFill>
            <a:schemeClr val="bg1"/>
          </a:solidFill>
          <a:ln/>
          <a:effectLst>
            <a:outerShdw blurRad="101600" dist="25400" dir="5400000" algn="bl" rotWithShape="0">
              <a:srgbClr val="0B2545">
                <a:alpha val="12000"/>
              </a:srgbClr>
            </a:outerShdw>
          </a:effectLst>
        </p:spPr>
        <p:txBody>
          <a:bodyPr/>
          <a:lstStyle/>
          <a:p>
            <a:endParaRPr lang="en-IN"/>
          </a:p>
        </p:txBody>
      </p:sp>
      <p:sp>
        <p:nvSpPr>
          <p:cNvPr id="11" name="icon-circle"/>
          <p:cNvSpPr/>
          <p:nvPr/>
        </p:nvSpPr>
        <p:spPr>
          <a:xfrm>
            <a:off x="7680960" y="1801368"/>
            <a:ext cx="566928" cy="566928"/>
          </a:xfrm>
          <a:prstGeom prst="ellipse">
            <a:avLst/>
          </a:prstGeom>
          <a:solidFill>
            <a:schemeClr val="accent1"/>
          </a:solidFill>
          <a:ln/>
        </p:spPr>
        <p:txBody>
          <a:bodyPr/>
          <a:lstStyle/>
          <a:p>
            <a:endParaRPr lang="en-IN"/>
          </a:p>
        </p:txBody>
      </p:sp>
      <p:pic>
        <p:nvPicPr>
          <p:cNvPr id="12" name="icon-FaHeartbeat" descr="preencoded.png"/>
          <p:cNvPicPr>
            <a:picLocks noChangeAspect="1"/>
          </p:cNvPicPr>
          <p:nvPr/>
        </p:nvPicPr>
        <p:blipFill>
          <a:blip r:embed="rId4"/>
          <a:stretch>
            <a:fillRect/>
          </a:stretch>
        </p:blipFill>
        <p:spPr>
          <a:xfrm>
            <a:off x="7828361" y="1948769"/>
            <a:ext cx="272125" cy="272125"/>
          </a:xfrm>
          <a:prstGeom prst="rect">
            <a:avLst/>
          </a:prstGeom>
        </p:spPr>
      </p:pic>
      <p:sp>
        <p:nvSpPr>
          <p:cNvPr id="13" name="Text 9"/>
          <p:cNvSpPr txBox="1"/>
          <p:nvPr/>
        </p:nvSpPr>
        <p:spPr>
          <a:xfrm>
            <a:off x="8412480" y="1801368"/>
            <a:ext cx="3108960" cy="320040"/>
          </a:xfrm>
          <a:prstGeom prst="rect">
            <a:avLst/>
          </a:prstGeom>
          <a:noFill/>
          <a:ln/>
        </p:spPr>
        <p:txBody>
          <a:bodyPr wrap="square" lIns="0" tIns="0" rIns="0" bIns="0" rtlCol="0" anchor="t"/>
          <a:lstStyle/>
          <a:p>
            <a:pPr marL="0" indent="0">
              <a:buNone/>
            </a:pPr>
            <a:r>
              <a:rPr lang="en-US" sz="1800" b="1" dirty="0">
                <a:solidFill>
                  <a:schemeClr val="tx1"/>
                </a:solidFill>
              </a:rPr>
              <a:t>Simulated sensor stream</a:t>
            </a:r>
            <a:endParaRPr lang="en-US" sz="1800" dirty="0"/>
          </a:p>
        </p:txBody>
      </p:sp>
      <p:sp>
        <p:nvSpPr>
          <p:cNvPr id="14" name="Text 10"/>
          <p:cNvSpPr txBox="1"/>
          <p:nvPr/>
        </p:nvSpPr>
        <p:spPr>
          <a:xfrm>
            <a:off x="8412480" y="2121408"/>
            <a:ext cx="3108960" cy="274320"/>
          </a:xfrm>
          <a:prstGeom prst="rect">
            <a:avLst/>
          </a:prstGeom>
          <a:noFill/>
          <a:ln/>
        </p:spPr>
        <p:txBody>
          <a:bodyPr wrap="square" lIns="0" tIns="0" rIns="0" bIns="0" rtlCol="0" anchor="t"/>
          <a:lstStyle/>
          <a:p>
            <a:pPr marL="0" indent="0">
              <a:buNone/>
            </a:pPr>
            <a:r>
              <a:rPr lang="en-US" sz="1200" dirty="0">
                <a:solidFill>
                  <a:schemeClr val="accent5"/>
                </a:solidFill>
              </a:rPr>
              <a:t>Dynamic · one row every 5 minutes</a:t>
            </a:r>
            <a:endParaRPr lang="en-US" sz="1200" dirty="0"/>
          </a:p>
        </p:txBody>
      </p:sp>
      <p:sp>
        <p:nvSpPr>
          <p:cNvPr id="15" name="Text 11"/>
          <p:cNvSpPr txBox="1"/>
          <p:nvPr/>
        </p:nvSpPr>
        <p:spPr>
          <a:xfrm>
            <a:off x="7680960" y="2606040"/>
            <a:ext cx="374904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Glucose (mg/dL)</a:t>
            </a:r>
            <a:endParaRPr lang="en-US" sz="1400" dirty="0"/>
          </a:p>
          <a:p>
            <a:pPr marL="342900" indent="-342900">
              <a:spcAft>
                <a:spcPts val="600"/>
              </a:spcAft>
              <a:buSzPct val="100000"/>
              <a:buChar char="•"/>
            </a:pPr>
            <a:r>
              <a:rPr lang="en-US" sz="1400" dirty="0">
                <a:solidFill>
                  <a:schemeClr val="tx1"/>
                </a:solidFill>
              </a:rPr>
              <a:t>Heart rate, steps</a:t>
            </a:r>
            <a:endParaRPr lang="en-US" sz="1400" dirty="0"/>
          </a:p>
          <a:p>
            <a:pPr marL="342900" indent="-342900">
              <a:spcAft>
                <a:spcPts val="600"/>
              </a:spcAft>
              <a:buSzPct val="100000"/>
              <a:buChar char="•"/>
            </a:pPr>
            <a:r>
              <a:rPr lang="en-US" sz="1400" dirty="0">
                <a:solidFill>
                  <a:schemeClr val="tx1"/>
                </a:solidFill>
              </a:rPr>
              <a:t>Sleep state</a:t>
            </a:r>
            <a:endParaRPr lang="en-US" sz="1400" dirty="0"/>
          </a:p>
          <a:p>
            <a:pPr marL="342900" indent="-342900">
              <a:spcAft>
                <a:spcPts val="600"/>
              </a:spcAft>
              <a:buSzPct val="100000"/>
              <a:buChar char="•"/>
            </a:pPr>
            <a:r>
              <a:rPr lang="en-US" sz="1400" dirty="0">
                <a:solidFill>
                  <a:schemeClr val="tx1"/>
                </a:solidFill>
              </a:rPr>
              <a:t>Timestamps; some readings deliberately missing</a:t>
            </a:r>
            <a:endParaRPr lang="en-US" sz="1400" dirty="0"/>
          </a:p>
        </p:txBody>
      </p:sp>
      <p:sp>
        <p:nvSpPr>
          <p:cNvPr id="16" name="Shape 12"/>
          <p:cNvSpPr/>
          <p:nvPr/>
        </p:nvSpPr>
        <p:spPr>
          <a:xfrm>
            <a:off x="4846320" y="3218688"/>
            <a:ext cx="594360" cy="914"/>
          </a:xfrm>
          <a:prstGeom prst="line">
            <a:avLst/>
          </a:prstGeom>
          <a:noFill/>
          <a:ln w="22225">
            <a:solidFill>
              <a:schemeClr val="accent1"/>
            </a:solidFill>
            <a:prstDash val="solid"/>
            <a:tailEnd type="triangle"/>
          </a:ln>
        </p:spPr>
        <p:txBody>
          <a:bodyPr/>
          <a:lstStyle/>
          <a:p>
            <a:endParaRPr lang="en-IN"/>
          </a:p>
        </p:txBody>
      </p:sp>
      <p:sp>
        <p:nvSpPr>
          <p:cNvPr id="17" name="Shape 13"/>
          <p:cNvSpPr/>
          <p:nvPr/>
        </p:nvSpPr>
        <p:spPr>
          <a:xfrm flipH="1" flipV="1">
            <a:off x="6720840" y="3218688"/>
            <a:ext cx="594360" cy="914"/>
          </a:xfrm>
          <a:prstGeom prst="line">
            <a:avLst/>
          </a:prstGeom>
          <a:noFill/>
          <a:ln w="22225">
            <a:solidFill>
              <a:schemeClr val="accent1"/>
            </a:solidFill>
            <a:prstDash val="solid"/>
            <a:tailEnd type="triangle"/>
          </a:ln>
        </p:spPr>
        <p:txBody>
          <a:bodyPr/>
          <a:lstStyle/>
          <a:p>
            <a:endParaRPr lang="en-IN"/>
          </a:p>
        </p:txBody>
      </p:sp>
      <p:sp>
        <p:nvSpPr>
          <p:cNvPr id="18" name="join-node"/>
          <p:cNvSpPr/>
          <p:nvPr/>
        </p:nvSpPr>
        <p:spPr>
          <a:xfrm>
            <a:off x="5486400" y="2624328"/>
            <a:ext cx="1188720" cy="1188720"/>
          </a:xfrm>
          <a:prstGeom prst="ellipse">
            <a:avLst/>
          </a:prstGeom>
          <a:solidFill>
            <a:schemeClr val="accent1"/>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5852160" y="2807208"/>
            <a:ext cx="457200" cy="457200"/>
          </a:xfrm>
          <a:prstGeom prst="rect">
            <a:avLst/>
          </a:prstGeom>
        </p:spPr>
      </p:pic>
      <p:sp>
        <p:nvSpPr>
          <p:cNvPr id="20" name="Text 15"/>
          <p:cNvSpPr txBox="1"/>
          <p:nvPr/>
        </p:nvSpPr>
        <p:spPr>
          <a:xfrm>
            <a:off x="5486400" y="3310128"/>
            <a:ext cx="1188720" cy="274320"/>
          </a:xfrm>
          <a:prstGeom prst="rect">
            <a:avLst/>
          </a:prstGeom>
          <a:noFill/>
          <a:ln/>
        </p:spPr>
        <p:txBody>
          <a:bodyPr wrap="square" lIns="0" tIns="0" rIns="0" bIns="0" rtlCol="0" anchor="t"/>
          <a:lstStyle/>
          <a:p>
            <a:pPr marL="0" indent="0" algn="ctr">
              <a:buNone/>
            </a:pPr>
            <a:r>
              <a:rPr lang="en-US" sz="1200" b="1" dirty="0">
                <a:solidFill>
                  <a:schemeClr val="bg1"/>
                </a:solidFill>
              </a:rPr>
              <a:t>Patient ID</a:t>
            </a:r>
            <a:endParaRPr lang="en-US" sz="1200" dirty="0"/>
          </a:p>
        </p:txBody>
      </p:sp>
      <p:sp>
        <p:nvSpPr>
          <p:cNvPr id="21" name="Text 16"/>
          <p:cNvSpPr txBox="1"/>
          <p:nvPr/>
        </p:nvSpPr>
        <p:spPr>
          <a:xfrm>
            <a:off x="4983480" y="3931920"/>
            <a:ext cx="2194560" cy="548640"/>
          </a:xfrm>
          <a:prstGeom prst="rect">
            <a:avLst/>
          </a:prstGeom>
          <a:noFill/>
          <a:ln/>
        </p:spPr>
        <p:txBody>
          <a:bodyPr wrap="square" lIns="0" tIns="0" rIns="0" bIns="0" rtlCol="0" anchor="t"/>
          <a:lstStyle/>
          <a:p>
            <a:pPr marL="0" indent="0" algn="ctr">
              <a:buNone/>
            </a:pPr>
            <a:r>
              <a:rPr lang="en-US" sz="1200" dirty="0">
                <a:solidFill>
                  <a:schemeClr val="accent5"/>
                </a:solidFill>
              </a:rPr>
              <a:t>Joined per patient, ordered by time</a:t>
            </a:r>
            <a:endParaRPr lang="en-US" sz="1200" dirty="0"/>
          </a:p>
        </p:txBody>
      </p:sp>
      <p:sp>
        <p:nvSpPr>
          <p:cNvPr id="22" name="stat"/>
          <p:cNvSpPr/>
          <p:nvPr/>
        </p:nvSpPr>
        <p:spPr>
          <a:xfrm>
            <a:off x="548640" y="5029200"/>
            <a:ext cx="2578608" cy="914400"/>
          </a:xfrm>
          <a:prstGeom prst="roundRect">
            <a:avLst>
              <a:gd name="adj" fmla="val 10000"/>
            </a:avLst>
          </a:prstGeom>
          <a:solidFill>
            <a:schemeClr val="bg2"/>
          </a:solidFill>
          <a:ln/>
        </p:spPr>
        <p:txBody>
          <a:bodyPr/>
          <a:lstStyle/>
          <a:p>
            <a:endParaRPr lang="en-IN"/>
          </a:p>
        </p:txBody>
      </p:sp>
      <p:sp>
        <p:nvSpPr>
          <p:cNvPr id="23" name="Text 18"/>
          <p:cNvSpPr txBox="1"/>
          <p:nvPr/>
        </p:nvSpPr>
        <p:spPr>
          <a:xfrm>
            <a:off x="731520" y="5074920"/>
            <a:ext cx="2212848" cy="502920"/>
          </a:xfrm>
          <a:prstGeom prst="rect">
            <a:avLst/>
          </a:prstGeom>
          <a:noFill/>
          <a:ln/>
        </p:spPr>
        <p:txBody>
          <a:bodyPr wrap="square" lIns="0" tIns="0" rIns="0" bIns="0" rtlCol="0" anchor="t"/>
          <a:lstStyle/>
          <a:p>
            <a:pPr marL="0" indent="0">
              <a:buNone/>
            </a:pPr>
            <a:r>
              <a:rPr lang="en-US" sz="2800" b="1" dirty="0">
                <a:solidFill>
                  <a:schemeClr val="accent1"/>
                </a:solidFill>
              </a:rPr>
              <a:t>120</a:t>
            </a:r>
            <a:endParaRPr lang="en-US" sz="2800" dirty="0"/>
          </a:p>
        </p:txBody>
      </p:sp>
      <p:sp>
        <p:nvSpPr>
          <p:cNvPr id="24" name="Text 19"/>
          <p:cNvSpPr txBox="1"/>
          <p:nvPr/>
        </p:nvSpPr>
        <p:spPr>
          <a:xfrm>
            <a:off x="731520" y="5577840"/>
            <a:ext cx="2212848" cy="274320"/>
          </a:xfrm>
          <a:prstGeom prst="rect">
            <a:avLst/>
          </a:prstGeom>
          <a:noFill/>
          <a:ln/>
        </p:spPr>
        <p:txBody>
          <a:bodyPr wrap="square" lIns="0" tIns="0" rIns="0" bIns="0" rtlCol="0" anchor="t"/>
          <a:lstStyle/>
          <a:p>
            <a:pPr marL="0" indent="0">
              <a:buNone/>
            </a:pPr>
            <a:r>
              <a:rPr lang="en-US" sz="1200" dirty="0">
                <a:solidFill>
                  <a:schemeClr val="accent5"/>
                </a:solidFill>
              </a:rPr>
              <a:t>synthetic patients</a:t>
            </a:r>
            <a:endParaRPr lang="en-US" sz="1200" dirty="0"/>
          </a:p>
        </p:txBody>
      </p:sp>
      <p:sp>
        <p:nvSpPr>
          <p:cNvPr id="25" name="stat"/>
          <p:cNvSpPr/>
          <p:nvPr/>
        </p:nvSpPr>
        <p:spPr>
          <a:xfrm>
            <a:off x="3374136" y="5029200"/>
            <a:ext cx="2578608" cy="914400"/>
          </a:xfrm>
          <a:prstGeom prst="roundRect">
            <a:avLst>
              <a:gd name="adj" fmla="val 10000"/>
            </a:avLst>
          </a:prstGeom>
          <a:solidFill>
            <a:schemeClr val="bg2"/>
          </a:solidFill>
          <a:ln/>
        </p:spPr>
        <p:txBody>
          <a:bodyPr/>
          <a:lstStyle/>
          <a:p>
            <a:endParaRPr lang="en-IN"/>
          </a:p>
        </p:txBody>
      </p:sp>
      <p:sp>
        <p:nvSpPr>
          <p:cNvPr id="26" name="Text 21"/>
          <p:cNvSpPr txBox="1"/>
          <p:nvPr/>
        </p:nvSpPr>
        <p:spPr>
          <a:xfrm>
            <a:off x="3557016" y="5074920"/>
            <a:ext cx="2212848" cy="502920"/>
          </a:xfrm>
          <a:prstGeom prst="rect">
            <a:avLst/>
          </a:prstGeom>
          <a:noFill/>
          <a:ln/>
        </p:spPr>
        <p:txBody>
          <a:bodyPr wrap="square" lIns="0" tIns="0" rIns="0" bIns="0" rtlCol="0" anchor="t"/>
          <a:lstStyle/>
          <a:p>
            <a:pPr marL="0" indent="0">
              <a:buNone/>
            </a:pPr>
            <a:r>
              <a:rPr lang="en-US" sz="2800" b="1" dirty="0">
                <a:solidFill>
                  <a:schemeClr val="accent1"/>
                </a:solidFill>
              </a:rPr>
              <a:t>14</a:t>
            </a:r>
            <a:endParaRPr lang="en-US" sz="2800" dirty="0"/>
          </a:p>
        </p:txBody>
      </p:sp>
      <p:sp>
        <p:nvSpPr>
          <p:cNvPr id="27" name="Text 22"/>
          <p:cNvSpPr txBox="1"/>
          <p:nvPr/>
        </p:nvSpPr>
        <p:spPr>
          <a:xfrm>
            <a:off x="3557016" y="5577840"/>
            <a:ext cx="2212848" cy="274320"/>
          </a:xfrm>
          <a:prstGeom prst="rect">
            <a:avLst/>
          </a:prstGeom>
          <a:noFill/>
          <a:ln/>
        </p:spPr>
        <p:txBody>
          <a:bodyPr wrap="square" lIns="0" tIns="0" rIns="0" bIns="0" rtlCol="0" anchor="t"/>
          <a:lstStyle/>
          <a:p>
            <a:pPr marL="0" indent="0">
              <a:buNone/>
            </a:pPr>
            <a:r>
              <a:rPr lang="en-US" sz="1200" dirty="0">
                <a:solidFill>
                  <a:schemeClr val="accent5"/>
                </a:solidFill>
              </a:rPr>
              <a:t>days per patient</a:t>
            </a:r>
            <a:endParaRPr lang="en-US" sz="1200" dirty="0"/>
          </a:p>
        </p:txBody>
      </p:sp>
      <p:sp>
        <p:nvSpPr>
          <p:cNvPr id="28" name="stat"/>
          <p:cNvSpPr/>
          <p:nvPr/>
        </p:nvSpPr>
        <p:spPr>
          <a:xfrm>
            <a:off x="6199632" y="5029200"/>
            <a:ext cx="2578608" cy="914400"/>
          </a:xfrm>
          <a:prstGeom prst="roundRect">
            <a:avLst>
              <a:gd name="adj" fmla="val 10000"/>
            </a:avLst>
          </a:prstGeom>
          <a:solidFill>
            <a:schemeClr val="bg2"/>
          </a:solidFill>
          <a:ln/>
        </p:spPr>
        <p:txBody>
          <a:bodyPr/>
          <a:lstStyle/>
          <a:p>
            <a:endParaRPr lang="en-IN"/>
          </a:p>
        </p:txBody>
      </p:sp>
      <p:sp>
        <p:nvSpPr>
          <p:cNvPr id="29" name="Text 24"/>
          <p:cNvSpPr txBox="1"/>
          <p:nvPr/>
        </p:nvSpPr>
        <p:spPr>
          <a:xfrm>
            <a:off x="6382512" y="5074920"/>
            <a:ext cx="2212848" cy="502920"/>
          </a:xfrm>
          <a:prstGeom prst="rect">
            <a:avLst/>
          </a:prstGeom>
          <a:noFill/>
          <a:ln/>
        </p:spPr>
        <p:txBody>
          <a:bodyPr wrap="square" lIns="0" tIns="0" rIns="0" bIns="0" rtlCol="0" anchor="t"/>
          <a:lstStyle/>
          <a:p>
            <a:pPr marL="0" indent="0">
              <a:buNone/>
            </a:pPr>
            <a:r>
              <a:rPr lang="en-US" sz="2800" b="1" dirty="0">
                <a:solidFill>
                  <a:schemeClr val="accent1"/>
                </a:solidFill>
              </a:rPr>
              <a:t>5 min</a:t>
            </a:r>
            <a:endParaRPr lang="en-US" sz="2800" dirty="0"/>
          </a:p>
        </p:txBody>
      </p:sp>
      <p:sp>
        <p:nvSpPr>
          <p:cNvPr id="30" name="Text 25"/>
          <p:cNvSpPr txBox="1"/>
          <p:nvPr/>
        </p:nvSpPr>
        <p:spPr>
          <a:xfrm>
            <a:off x="6382512" y="5577840"/>
            <a:ext cx="2212848" cy="274320"/>
          </a:xfrm>
          <a:prstGeom prst="rect">
            <a:avLst/>
          </a:prstGeom>
          <a:noFill/>
          <a:ln/>
        </p:spPr>
        <p:txBody>
          <a:bodyPr wrap="square" lIns="0" tIns="0" rIns="0" bIns="0" rtlCol="0" anchor="t"/>
          <a:lstStyle/>
          <a:p>
            <a:pPr marL="0" indent="0">
              <a:buNone/>
            </a:pPr>
            <a:r>
              <a:rPr lang="en-US" sz="1200" dirty="0">
                <a:solidFill>
                  <a:schemeClr val="accent5"/>
                </a:solidFill>
              </a:rPr>
              <a:t>sampling interval</a:t>
            </a:r>
            <a:endParaRPr lang="en-US" sz="1200" dirty="0"/>
          </a:p>
        </p:txBody>
      </p:sp>
      <p:sp>
        <p:nvSpPr>
          <p:cNvPr id="31" name="stat"/>
          <p:cNvSpPr/>
          <p:nvPr/>
        </p:nvSpPr>
        <p:spPr>
          <a:xfrm>
            <a:off x="9025128" y="5029200"/>
            <a:ext cx="2578608" cy="914400"/>
          </a:xfrm>
          <a:prstGeom prst="roundRect">
            <a:avLst>
              <a:gd name="adj" fmla="val 10000"/>
            </a:avLst>
          </a:prstGeom>
          <a:solidFill>
            <a:schemeClr val="bg2"/>
          </a:solidFill>
          <a:ln/>
        </p:spPr>
        <p:txBody>
          <a:bodyPr/>
          <a:lstStyle/>
          <a:p>
            <a:endParaRPr lang="en-IN"/>
          </a:p>
        </p:txBody>
      </p:sp>
      <p:sp>
        <p:nvSpPr>
          <p:cNvPr id="32" name="Text 27"/>
          <p:cNvSpPr txBox="1"/>
          <p:nvPr/>
        </p:nvSpPr>
        <p:spPr>
          <a:xfrm>
            <a:off x="9208008" y="5074920"/>
            <a:ext cx="2212848" cy="502920"/>
          </a:xfrm>
          <a:prstGeom prst="rect">
            <a:avLst/>
          </a:prstGeom>
          <a:noFill/>
          <a:ln/>
        </p:spPr>
        <p:txBody>
          <a:bodyPr wrap="square" lIns="0" tIns="0" rIns="0" bIns="0" rtlCol="0" anchor="t"/>
          <a:lstStyle/>
          <a:p>
            <a:pPr marL="0" indent="0">
              <a:buNone/>
            </a:pPr>
            <a:r>
              <a:rPr lang="en-US" sz="2800" b="1" dirty="0">
                <a:solidFill>
                  <a:schemeClr val="accent1"/>
                </a:solidFill>
              </a:rPr>
              <a:t>~403,200*</a:t>
            </a:r>
            <a:endParaRPr lang="en-US" sz="2800" dirty="0"/>
          </a:p>
        </p:txBody>
      </p:sp>
      <p:sp>
        <p:nvSpPr>
          <p:cNvPr id="33" name="Text 28"/>
          <p:cNvSpPr txBox="1"/>
          <p:nvPr/>
        </p:nvSpPr>
        <p:spPr>
          <a:xfrm>
            <a:off x="9208008" y="5577840"/>
            <a:ext cx="2212848" cy="274320"/>
          </a:xfrm>
          <a:prstGeom prst="rect">
            <a:avLst/>
          </a:prstGeom>
          <a:noFill/>
          <a:ln/>
        </p:spPr>
        <p:txBody>
          <a:bodyPr wrap="square" lIns="0" tIns="0" rIns="0" bIns="0" rtlCol="0" anchor="t"/>
          <a:lstStyle/>
          <a:p>
            <a:pPr marL="0" indent="0">
              <a:buNone/>
            </a:pPr>
            <a:r>
              <a:rPr lang="en-US" sz="1200" dirty="0">
                <a:solidFill>
                  <a:schemeClr val="accent5"/>
                </a:solidFill>
              </a:rPr>
              <a:t>generated sensor rows</a:t>
            </a:r>
            <a:endParaRPr lang="en-US" sz="1200" dirty="0"/>
          </a:p>
        </p:txBody>
      </p:sp>
      <p:sp>
        <p:nvSpPr>
          <p:cNvPr id="34" name="Text 29"/>
          <p:cNvSpPr txBox="1"/>
          <p:nvPr/>
        </p:nvSpPr>
        <p:spPr>
          <a:xfrm>
            <a:off x="5120640" y="6053328"/>
            <a:ext cx="6519672" cy="256032"/>
          </a:xfrm>
          <a:prstGeom prst="rect">
            <a:avLst/>
          </a:prstGeom>
          <a:noFill/>
          <a:ln/>
        </p:spPr>
        <p:txBody>
          <a:bodyPr wrap="square" lIns="0" tIns="0" rIns="0" bIns="0" rtlCol="0" anchor="t"/>
          <a:lstStyle/>
          <a:p>
            <a:pPr marL="0" indent="0" algn="r">
              <a:buNone/>
            </a:pPr>
            <a:r>
              <a:rPr lang="en-US" sz="1000" b="1" dirty="0">
                <a:solidFill>
                  <a:schemeClr val="accent3"/>
                </a:solidFill>
              </a:rPr>
              <a:t>*VERIFY BEFORE SUBMISSION: </a:t>
            </a:r>
            <a:r>
              <a:rPr lang="en-US" sz="1000" dirty="0">
                <a:solidFill>
                  <a:schemeClr val="accent5"/>
                </a:solidFill>
              </a:rPr>
              <a:t>120 × 14 days × 288 readings/day = 483,840. Confirm the row count from the generator.</a:t>
            </a:r>
            <a:endParaRPr lang="en-US" sz="1000" dirty="0"/>
          </a:p>
        </p:txBody>
      </p:sp>
      <p:sp>
        <p:nvSpPr>
          <p:cNvPr id="3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05  ·  SYSTEM ARCHITECTURE</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An offline training path and a runtime forecasting path</a:t>
            </a:r>
            <a:endParaRPr lang="en-US" sz="3400" dirty="0"/>
          </a:p>
        </p:txBody>
      </p:sp>
      <p:sp>
        <p:nvSpPr>
          <p:cNvPr id="4" name="lane-runtime"/>
          <p:cNvSpPr/>
          <p:nvPr/>
        </p:nvSpPr>
        <p:spPr>
          <a:xfrm>
            <a:off x="548640" y="1508760"/>
            <a:ext cx="11091672" cy="2971800"/>
          </a:xfrm>
          <a:prstGeom prst="roundRect">
            <a:avLst>
              <a:gd name="adj" fmla="val 3692"/>
            </a:avLst>
          </a:prstGeom>
          <a:solidFill>
            <a:schemeClr val="bg2"/>
          </a:solidFill>
          <a:ln/>
        </p:spPr>
        <p:txBody>
          <a:bodyPr/>
          <a:lstStyle/>
          <a:p>
            <a:endParaRPr lang="en-IN"/>
          </a:p>
        </p:txBody>
      </p:sp>
      <p:sp>
        <p:nvSpPr>
          <p:cNvPr id="5" name="Text 3"/>
          <p:cNvSpPr txBox="1"/>
          <p:nvPr/>
        </p:nvSpPr>
        <p:spPr>
          <a:xfrm>
            <a:off x="777240" y="1627632"/>
            <a:ext cx="3657600"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RUNTIME PATH  (dashboard)</a:t>
            </a:r>
            <a:endParaRPr lang="en-US" sz="1100" dirty="0"/>
          </a:p>
        </p:txBody>
      </p:sp>
      <p:sp>
        <p:nvSpPr>
          <p:cNvPr id="6" name="arch-box"/>
          <p:cNvSpPr/>
          <p:nvPr/>
        </p:nvSpPr>
        <p:spPr>
          <a:xfrm>
            <a:off x="777240" y="1920240"/>
            <a:ext cx="1691640" cy="548640"/>
          </a:xfrm>
          <a:prstGeom prst="roundRect">
            <a:avLst>
              <a:gd name="adj" fmla="val 13333"/>
            </a:avLst>
          </a:prstGeom>
          <a:solidFill>
            <a:schemeClr val="tx2"/>
          </a:solidFill>
          <a:ln w="12700">
            <a:solidFill>
              <a:srgbClr val="D3DEE4"/>
            </a:solidFill>
            <a:prstDash val="solid"/>
          </a:ln>
        </p:spPr>
        <p:txBody>
          <a:bodyPr/>
          <a:lstStyle/>
          <a:p>
            <a:endParaRPr lang="en-IN"/>
          </a:p>
        </p:txBody>
      </p:sp>
      <p:sp>
        <p:nvSpPr>
          <p:cNvPr id="7" name="Text 5"/>
          <p:cNvSpPr txBox="1"/>
          <p:nvPr/>
        </p:nvSpPr>
        <p:spPr>
          <a:xfrm>
            <a:off x="850392" y="1920240"/>
            <a:ext cx="1545336" cy="548640"/>
          </a:xfrm>
          <a:prstGeom prst="rect">
            <a:avLst/>
          </a:prstGeom>
          <a:noFill/>
          <a:ln/>
        </p:spPr>
        <p:txBody>
          <a:bodyPr wrap="square" lIns="0" tIns="0" rIns="0" bIns="0" rtlCol="0" anchor="ctr"/>
          <a:lstStyle/>
          <a:p>
            <a:pPr marL="0" indent="0" algn="ctr">
              <a:buNone/>
            </a:pPr>
            <a:r>
              <a:rPr lang="en-US" sz="1300" b="1" dirty="0">
                <a:solidFill>
                  <a:schemeClr val="bg1"/>
                </a:solidFill>
              </a:rPr>
              <a:t>Synthetic EHR</a:t>
            </a:r>
            <a:endParaRPr lang="en-US" sz="1300" dirty="0"/>
          </a:p>
        </p:txBody>
      </p:sp>
      <p:sp>
        <p:nvSpPr>
          <p:cNvPr id="8" name="arch-box"/>
          <p:cNvSpPr/>
          <p:nvPr/>
        </p:nvSpPr>
        <p:spPr>
          <a:xfrm>
            <a:off x="777240" y="2560320"/>
            <a:ext cx="1691640" cy="548640"/>
          </a:xfrm>
          <a:prstGeom prst="roundRect">
            <a:avLst>
              <a:gd name="adj" fmla="val 13333"/>
            </a:avLst>
          </a:prstGeom>
          <a:solidFill>
            <a:schemeClr val="tx2"/>
          </a:solidFill>
          <a:ln w="12700">
            <a:solidFill>
              <a:srgbClr val="D3DEE4"/>
            </a:solidFill>
            <a:prstDash val="solid"/>
          </a:ln>
        </p:spPr>
        <p:txBody>
          <a:bodyPr/>
          <a:lstStyle/>
          <a:p>
            <a:endParaRPr lang="en-IN"/>
          </a:p>
        </p:txBody>
      </p:sp>
      <p:sp>
        <p:nvSpPr>
          <p:cNvPr id="9" name="Text 7"/>
          <p:cNvSpPr txBox="1"/>
          <p:nvPr/>
        </p:nvSpPr>
        <p:spPr>
          <a:xfrm>
            <a:off x="850392" y="2560320"/>
            <a:ext cx="1545336" cy="548640"/>
          </a:xfrm>
          <a:prstGeom prst="rect">
            <a:avLst/>
          </a:prstGeom>
          <a:noFill/>
          <a:ln/>
        </p:spPr>
        <p:txBody>
          <a:bodyPr wrap="square" lIns="0" tIns="0" rIns="0" bIns="0" rtlCol="0" anchor="ctr"/>
          <a:lstStyle/>
          <a:p>
            <a:pPr marL="0" indent="0" algn="ctr">
              <a:buNone/>
            </a:pPr>
            <a:r>
              <a:rPr lang="en-US" sz="1300" b="1" dirty="0">
                <a:solidFill>
                  <a:schemeClr val="bg1"/>
                </a:solidFill>
              </a:rPr>
              <a:t>Synthetic sensor stream</a:t>
            </a:r>
            <a:endParaRPr lang="en-US" sz="1300" dirty="0"/>
          </a:p>
        </p:txBody>
      </p:sp>
      <p:sp>
        <p:nvSpPr>
          <p:cNvPr id="10" name="arch-box"/>
          <p:cNvSpPr/>
          <p:nvPr/>
        </p:nvSpPr>
        <p:spPr>
          <a:xfrm>
            <a:off x="2926080" y="2121408"/>
            <a:ext cx="1874520" cy="685800"/>
          </a:xfrm>
          <a:prstGeom prst="roundRect">
            <a:avLst>
              <a:gd name="adj" fmla="val 10667"/>
            </a:avLst>
          </a:prstGeom>
          <a:solidFill>
            <a:schemeClr val="bg1"/>
          </a:solidFill>
          <a:ln w="12700">
            <a:solidFill>
              <a:srgbClr val="D3DEE4"/>
            </a:solidFill>
            <a:prstDash val="solid"/>
          </a:ln>
        </p:spPr>
        <p:txBody>
          <a:bodyPr/>
          <a:lstStyle/>
          <a:p>
            <a:endParaRPr lang="en-IN"/>
          </a:p>
        </p:txBody>
      </p:sp>
      <p:sp>
        <p:nvSpPr>
          <p:cNvPr id="11" name="Text 9"/>
          <p:cNvSpPr txBox="1"/>
          <p:nvPr/>
        </p:nvSpPr>
        <p:spPr>
          <a:xfrm>
            <a:off x="2999232" y="2121408"/>
            <a:ext cx="1728216" cy="685800"/>
          </a:xfrm>
          <a:prstGeom prst="rect">
            <a:avLst/>
          </a:prstGeom>
          <a:noFill/>
          <a:ln/>
        </p:spPr>
        <p:txBody>
          <a:bodyPr wrap="square" lIns="0" tIns="0" rIns="0" bIns="0" rtlCol="0" anchor="ctr"/>
          <a:lstStyle/>
          <a:p>
            <a:pPr marL="0" indent="0" algn="ctr">
              <a:buNone/>
            </a:pPr>
            <a:r>
              <a:rPr lang="en-US" sz="1300" b="1" dirty="0">
                <a:solidFill>
                  <a:schemeClr val="tx1"/>
                </a:solidFill>
              </a:rPr>
              <a:t>Validation &amp; preprocessing</a:t>
            </a:r>
            <a:endParaRPr lang="en-US" sz="1300" dirty="0"/>
          </a:p>
        </p:txBody>
      </p:sp>
      <p:sp>
        <p:nvSpPr>
          <p:cNvPr id="12" name="arch-box"/>
          <p:cNvSpPr/>
          <p:nvPr/>
        </p:nvSpPr>
        <p:spPr>
          <a:xfrm>
            <a:off x="5257800" y="2121408"/>
            <a:ext cx="1874520" cy="685800"/>
          </a:xfrm>
          <a:prstGeom prst="roundRect">
            <a:avLst>
              <a:gd name="adj" fmla="val 10667"/>
            </a:avLst>
          </a:prstGeom>
          <a:solidFill>
            <a:schemeClr val="bg1"/>
          </a:solidFill>
          <a:ln w="12700">
            <a:solidFill>
              <a:srgbClr val="D3DEE4"/>
            </a:solidFill>
            <a:prstDash val="solid"/>
          </a:ln>
        </p:spPr>
        <p:txBody>
          <a:bodyPr/>
          <a:lstStyle/>
          <a:p>
            <a:endParaRPr lang="en-IN"/>
          </a:p>
        </p:txBody>
      </p:sp>
      <p:sp>
        <p:nvSpPr>
          <p:cNvPr id="13" name="Text 11"/>
          <p:cNvSpPr txBox="1"/>
          <p:nvPr/>
        </p:nvSpPr>
        <p:spPr>
          <a:xfrm>
            <a:off x="5330952" y="2121408"/>
            <a:ext cx="1728216" cy="685800"/>
          </a:xfrm>
          <a:prstGeom prst="rect">
            <a:avLst/>
          </a:prstGeom>
          <a:noFill/>
          <a:ln/>
        </p:spPr>
        <p:txBody>
          <a:bodyPr wrap="square" lIns="0" tIns="0" rIns="0" bIns="0" rtlCol="0" anchor="ctr"/>
          <a:lstStyle/>
          <a:p>
            <a:pPr marL="0" indent="0" algn="ctr">
              <a:buNone/>
            </a:pPr>
            <a:r>
              <a:rPr lang="en-US" sz="1300" b="1" dirty="0">
                <a:solidFill>
                  <a:schemeClr val="tx1"/>
                </a:solidFill>
              </a:rPr>
              <a:t>Join by patient ID, order by time</a:t>
            </a:r>
            <a:endParaRPr lang="en-US" sz="1300" dirty="0"/>
          </a:p>
        </p:txBody>
      </p:sp>
      <p:sp>
        <p:nvSpPr>
          <p:cNvPr id="14" name="arch-box"/>
          <p:cNvSpPr/>
          <p:nvPr/>
        </p:nvSpPr>
        <p:spPr>
          <a:xfrm>
            <a:off x="7589520" y="2121408"/>
            <a:ext cx="1691640" cy="685800"/>
          </a:xfrm>
          <a:prstGeom prst="roundRect">
            <a:avLst>
              <a:gd name="adj" fmla="val 10667"/>
            </a:avLst>
          </a:prstGeom>
          <a:solidFill>
            <a:schemeClr val="bg1"/>
          </a:solidFill>
          <a:ln w="12700">
            <a:solidFill>
              <a:srgbClr val="D3DEE4"/>
            </a:solidFill>
            <a:prstDash val="solid"/>
          </a:ln>
        </p:spPr>
        <p:txBody>
          <a:bodyPr/>
          <a:lstStyle/>
          <a:p>
            <a:endParaRPr lang="en-IN"/>
          </a:p>
        </p:txBody>
      </p:sp>
      <p:sp>
        <p:nvSpPr>
          <p:cNvPr id="15" name="Text 13"/>
          <p:cNvSpPr txBox="1"/>
          <p:nvPr/>
        </p:nvSpPr>
        <p:spPr>
          <a:xfrm>
            <a:off x="7662672" y="2121408"/>
            <a:ext cx="1545336" cy="685800"/>
          </a:xfrm>
          <a:prstGeom prst="rect">
            <a:avLst/>
          </a:prstGeom>
          <a:noFill/>
          <a:ln/>
        </p:spPr>
        <p:txBody>
          <a:bodyPr wrap="square" lIns="0" tIns="0" rIns="0" bIns="0" rtlCol="0" anchor="ctr"/>
          <a:lstStyle/>
          <a:p>
            <a:pPr marL="0" indent="0" algn="ctr">
              <a:buNone/>
            </a:pPr>
            <a:r>
              <a:rPr lang="en-US" sz="1300" b="1" dirty="0">
                <a:solidFill>
                  <a:schemeClr val="tx1"/>
                </a:solidFill>
              </a:rPr>
              <a:t>Feature engineering</a:t>
            </a:r>
            <a:endParaRPr lang="en-US" sz="1300" dirty="0"/>
          </a:p>
        </p:txBody>
      </p:sp>
      <p:sp>
        <p:nvSpPr>
          <p:cNvPr id="16" name="arch-box"/>
          <p:cNvSpPr/>
          <p:nvPr/>
        </p:nvSpPr>
        <p:spPr>
          <a:xfrm>
            <a:off x="9738360" y="2121408"/>
            <a:ext cx="1673352" cy="685800"/>
          </a:xfrm>
          <a:prstGeom prst="roundRect">
            <a:avLst>
              <a:gd name="adj" fmla="val 10667"/>
            </a:avLst>
          </a:prstGeom>
          <a:solidFill>
            <a:schemeClr val="accent1"/>
          </a:solidFill>
          <a:ln w="12700">
            <a:solidFill>
              <a:srgbClr val="D3DEE4"/>
            </a:solidFill>
            <a:prstDash val="solid"/>
          </a:ln>
        </p:spPr>
        <p:txBody>
          <a:bodyPr/>
          <a:lstStyle/>
          <a:p>
            <a:endParaRPr lang="en-IN"/>
          </a:p>
        </p:txBody>
      </p:sp>
      <p:sp>
        <p:nvSpPr>
          <p:cNvPr id="17" name="Text 15"/>
          <p:cNvSpPr txBox="1"/>
          <p:nvPr/>
        </p:nvSpPr>
        <p:spPr>
          <a:xfrm>
            <a:off x="9811512" y="2121408"/>
            <a:ext cx="1527048" cy="685800"/>
          </a:xfrm>
          <a:prstGeom prst="rect">
            <a:avLst/>
          </a:prstGeom>
          <a:noFill/>
          <a:ln/>
        </p:spPr>
        <p:txBody>
          <a:bodyPr wrap="square" lIns="0" tIns="0" rIns="0" bIns="0" rtlCol="0" anchor="ctr"/>
          <a:lstStyle/>
          <a:p>
            <a:pPr marL="0" indent="0" algn="ctr">
              <a:buNone/>
            </a:pPr>
            <a:r>
              <a:rPr lang="en-US" sz="1300" b="1" dirty="0">
                <a:solidFill>
                  <a:schemeClr val="bg1"/>
                </a:solidFill>
              </a:rPr>
              <a:t>Random Forest model</a:t>
            </a:r>
            <a:endParaRPr lang="en-US" sz="1300" dirty="0"/>
          </a:p>
        </p:txBody>
      </p:sp>
      <p:sp>
        <p:nvSpPr>
          <p:cNvPr id="18" name="Shape 16"/>
          <p:cNvSpPr/>
          <p:nvPr/>
        </p:nvSpPr>
        <p:spPr>
          <a:xfrm>
            <a:off x="2468880" y="2194560"/>
            <a:ext cx="457200" cy="228600"/>
          </a:xfrm>
          <a:prstGeom prst="line">
            <a:avLst/>
          </a:prstGeom>
          <a:noFill/>
          <a:ln w="19050">
            <a:solidFill>
              <a:srgbClr val="5B7083"/>
            </a:solidFill>
            <a:prstDash val="solid"/>
            <a:tailEnd type="triangle"/>
          </a:ln>
        </p:spPr>
        <p:txBody>
          <a:bodyPr/>
          <a:lstStyle/>
          <a:p>
            <a:endParaRPr lang="en-IN"/>
          </a:p>
        </p:txBody>
      </p:sp>
      <p:sp>
        <p:nvSpPr>
          <p:cNvPr id="19" name="Shape 17"/>
          <p:cNvSpPr/>
          <p:nvPr/>
        </p:nvSpPr>
        <p:spPr>
          <a:xfrm flipV="1">
            <a:off x="2468880" y="2578608"/>
            <a:ext cx="457200" cy="256032"/>
          </a:xfrm>
          <a:prstGeom prst="line">
            <a:avLst/>
          </a:prstGeom>
          <a:noFill/>
          <a:ln w="19050">
            <a:solidFill>
              <a:srgbClr val="5B7083"/>
            </a:solidFill>
            <a:prstDash val="solid"/>
            <a:tailEnd type="triangle"/>
          </a:ln>
        </p:spPr>
        <p:txBody>
          <a:bodyPr/>
          <a:lstStyle/>
          <a:p>
            <a:endParaRPr lang="en-IN"/>
          </a:p>
        </p:txBody>
      </p:sp>
      <p:sp>
        <p:nvSpPr>
          <p:cNvPr id="20" name="Shape 18"/>
          <p:cNvSpPr/>
          <p:nvPr/>
        </p:nvSpPr>
        <p:spPr>
          <a:xfrm>
            <a:off x="4800600" y="2468880"/>
            <a:ext cx="457200" cy="914"/>
          </a:xfrm>
          <a:prstGeom prst="line">
            <a:avLst/>
          </a:prstGeom>
          <a:noFill/>
          <a:ln w="22225">
            <a:solidFill>
              <a:schemeClr val="accent5"/>
            </a:solidFill>
            <a:prstDash val="solid"/>
            <a:tailEnd type="triangle"/>
          </a:ln>
        </p:spPr>
        <p:txBody>
          <a:bodyPr/>
          <a:lstStyle/>
          <a:p>
            <a:endParaRPr lang="en-IN"/>
          </a:p>
        </p:txBody>
      </p:sp>
      <p:sp>
        <p:nvSpPr>
          <p:cNvPr id="21" name="Shape 19"/>
          <p:cNvSpPr/>
          <p:nvPr/>
        </p:nvSpPr>
        <p:spPr>
          <a:xfrm>
            <a:off x="7132320" y="2468880"/>
            <a:ext cx="457200" cy="914"/>
          </a:xfrm>
          <a:prstGeom prst="line">
            <a:avLst/>
          </a:prstGeom>
          <a:noFill/>
          <a:ln w="22225">
            <a:solidFill>
              <a:schemeClr val="accent5"/>
            </a:solidFill>
            <a:prstDash val="solid"/>
            <a:tailEnd type="triangle"/>
          </a:ln>
        </p:spPr>
        <p:txBody>
          <a:bodyPr/>
          <a:lstStyle/>
          <a:p>
            <a:endParaRPr lang="en-IN"/>
          </a:p>
        </p:txBody>
      </p:sp>
      <p:sp>
        <p:nvSpPr>
          <p:cNvPr id="22" name="Shape 20"/>
          <p:cNvSpPr/>
          <p:nvPr/>
        </p:nvSpPr>
        <p:spPr>
          <a:xfrm>
            <a:off x="9281160" y="2468880"/>
            <a:ext cx="457200" cy="914"/>
          </a:xfrm>
          <a:prstGeom prst="line">
            <a:avLst/>
          </a:prstGeom>
          <a:noFill/>
          <a:ln w="22225">
            <a:solidFill>
              <a:schemeClr val="accent5"/>
            </a:solidFill>
            <a:prstDash val="solid"/>
            <a:tailEnd type="triangle"/>
          </a:ln>
        </p:spPr>
        <p:txBody>
          <a:bodyPr/>
          <a:lstStyle/>
          <a:p>
            <a:endParaRPr lang="en-IN"/>
          </a:p>
        </p:txBody>
      </p:sp>
      <p:sp>
        <p:nvSpPr>
          <p:cNvPr id="23" name="arch-box"/>
          <p:cNvSpPr/>
          <p:nvPr/>
        </p:nvSpPr>
        <p:spPr>
          <a:xfrm>
            <a:off x="9738360" y="3520440"/>
            <a:ext cx="1673352" cy="685800"/>
          </a:xfrm>
          <a:prstGeom prst="roundRect">
            <a:avLst>
              <a:gd name="adj" fmla="val 10667"/>
            </a:avLst>
          </a:prstGeom>
          <a:solidFill>
            <a:schemeClr val="bg1"/>
          </a:solidFill>
          <a:ln w="12700">
            <a:solidFill>
              <a:srgbClr val="D3DEE4"/>
            </a:solidFill>
            <a:prstDash val="solid"/>
          </a:ln>
        </p:spPr>
        <p:txBody>
          <a:bodyPr/>
          <a:lstStyle/>
          <a:p>
            <a:endParaRPr lang="en-IN"/>
          </a:p>
        </p:txBody>
      </p:sp>
      <p:sp>
        <p:nvSpPr>
          <p:cNvPr id="24" name="Text 22"/>
          <p:cNvSpPr txBox="1"/>
          <p:nvPr/>
        </p:nvSpPr>
        <p:spPr>
          <a:xfrm>
            <a:off x="9811512" y="3520440"/>
            <a:ext cx="1527048" cy="685800"/>
          </a:xfrm>
          <a:prstGeom prst="rect">
            <a:avLst/>
          </a:prstGeom>
          <a:noFill/>
          <a:ln/>
        </p:spPr>
        <p:txBody>
          <a:bodyPr wrap="square" lIns="0" tIns="0" rIns="0" bIns="0" rtlCol="0" anchor="ctr"/>
          <a:lstStyle/>
          <a:p>
            <a:pPr marL="0" indent="0" algn="ctr">
              <a:buNone/>
            </a:pPr>
            <a:r>
              <a:rPr lang="en-US" sz="1300" b="1" dirty="0">
                <a:solidFill>
                  <a:schemeClr val="tx1"/>
                </a:solidFill>
              </a:rPr>
              <a:t>Two-hour glucose forecast</a:t>
            </a:r>
            <a:endParaRPr lang="en-US" sz="1300" dirty="0"/>
          </a:p>
        </p:txBody>
      </p:sp>
      <p:sp>
        <p:nvSpPr>
          <p:cNvPr id="25" name="arch-box"/>
          <p:cNvSpPr/>
          <p:nvPr/>
        </p:nvSpPr>
        <p:spPr>
          <a:xfrm>
            <a:off x="7132320" y="3520440"/>
            <a:ext cx="2148840" cy="685800"/>
          </a:xfrm>
          <a:prstGeom prst="roundRect">
            <a:avLst>
              <a:gd name="adj" fmla="val 10667"/>
            </a:avLst>
          </a:prstGeom>
          <a:solidFill>
            <a:schemeClr val="bg1"/>
          </a:solidFill>
          <a:ln w="12700">
            <a:solidFill>
              <a:srgbClr val="D3DEE4"/>
            </a:solidFill>
            <a:prstDash val="solid"/>
          </a:ln>
        </p:spPr>
        <p:txBody>
          <a:bodyPr/>
          <a:lstStyle/>
          <a:p>
            <a:endParaRPr lang="en-IN"/>
          </a:p>
        </p:txBody>
      </p:sp>
      <p:sp>
        <p:nvSpPr>
          <p:cNvPr id="26" name="Text 24"/>
          <p:cNvSpPr txBox="1"/>
          <p:nvPr/>
        </p:nvSpPr>
        <p:spPr>
          <a:xfrm>
            <a:off x="7205472" y="3520440"/>
            <a:ext cx="2002536" cy="685800"/>
          </a:xfrm>
          <a:prstGeom prst="rect">
            <a:avLst/>
          </a:prstGeom>
          <a:noFill/>
          <a:ln/>
        </p:spPr>
        <p:txBody>
          <a:bodyPr wrap="square" lIns="0" tIns="0" rIns="0" bIns="0" rtlCol="0" anchor="ctr"/>
          <a:lstStyle/>
          <a:p>
            <a:pPr marL="0" indent="0" algn="ctr">
              <a:buNone/>
            </a:pPr>
            <a:r>
              <a:rPr lang="en-US" sz="1300" b="1" dirty="0">
                <a:solidFill>
                  <a:schemeClr val="tx1"/>
                </a:solidFill>
              </a:rPr>
              <a:t>Threshold-based alert (≥180 / &lt;70)</a:t>
            </a:r>
            <a:endParaRPr lang="en-US" sz="1300" dirty="0"/>
          </a:p>
        </p:txBody>
      </p:sp>
      <p:sp>
        <p:nvSpPr>
          <p:cNvPr id="27" name="arch-box"/>
          <p:cNvSpPr/>
          <p:nvPr/>
        </p:nvSpPr>
        <p:spPr>
          <a:xfrm>
            <a:off x="4023360" y="3520440"/>
            <a:ext cx="2651760" cy="685800"/>
          </a:xfrm>
          <a:prstGeom prst="roundRect">
            <a:avLst>
              <a:gd name="adj" fmla="val 10667"/>
            </a:avLst>
          </a:prstGeom>
          <a:solidFill>
            <a:schemeClr val="accent2"/>
          </a:solidFill>
          <a:ln w="12700">
            <a:solidFill>
              <a:srgbClr val="D3DEE4"/>
            </a:solidFill>
            <a:prstDash val="solid"/>
          </a:ln>
        </p:spPr>
        <p:txBody>
          <a:bodyPr/>
          <a:lstStyle/>
          <a:p>
            <a:endParaRPr lang="en-IN"/>
          </a:p>
        </p:txBody>
      </p:sp>
      <p:sp>
        <p:nvSpPr>
          <p:cNvPr id="28" name="Text 26"/>
          <p:cNvSpPr txBox="1"/>
          <p:nvPr/>
        </p:nvSpPr>
        <p:spPr>
          <a:xfrm>
            <a:off x="4096512" y="3520440"/>
            <a:ext cx="2505456" cy="685800"/>
          </a:xfrm>
          <a:prstGeom prst="rect">
            <a:avLst/>
          </a:prstGeom>
          <a:noFill/>
          <a:ln/>
        </p:spPr>
        <p:txBody>
          <a:bodyPr wrap="square" lIns="0" tIns="0" rIns="0" bIns="0" rtlCol="0" anchor="ctr"/>
          <a:lstStyle/>
          <a:p>
            <a:pPr marL="0" indent="0" algn="ctr">
              <a:buNone/>
            </a:pPr>
            <a:r>
              <a:rPr lang="en-US" sz="1300" b="1" dirty="0">
                <a:solidFill>
                  <a:schemeClr val="bg1"/>
                </a:solidFill>
              </a:rPr>
              <a:t>Streamlit + Plotly dashboard</a:t>
            </a:r>
            <a:endParaRPr lang="en-US" sz="1300" dirty="0"/>
          </a:p>
        </p:txBody>
      </p:sp>
      <p:sp>
        <p:nvSpPr>
          <p:cNvPr id="29" name="Shape 27"/>
          <p:cNvSpPr/>
          <p:nvPr/>
        </p:nvSpPr>
        <p:spPr>
          <a:xfrm>
            <a:off x="10575036" y="2807208"/>
            <a:ext cx="914" cy="713232"/>
          </a:xfrm>
          <a:prstGeom prst="line">
            <a:avLst/>
          </a:prstGeom>
          <a:noFill/>
          <a:ln w="19050">
            <a:solidFill>
              <a:srgbClr val="5B7083"/>
            </a:solidFill>
            <a:prstDash val="solid"/>
            <a:tailEnd type="triangle"/>
          </a:ln>
        </p:spPr>
        <p:txBody>
          <a:bodyPr/>
          <a:lstStyle/>
          <a:p>
            <a:endParaRPr lang="en-IN"/>
          </a:p>
        </p:txBody>
      </p:sp>
      <p:sp>
        <p:nvSpPr>
          <p:cNvPr id="30" name="Shape 28"/>
          <p:cNvSpPr/>
          <p:nvPr/>
        </p:nvSpPr>
        <p:spPr>
          <a:xfrm flipH="1" flipV="1">
            <a:off x="9281160" y="3863340"/>
            <a:ext cx="457200" cy="914"/>
          </a:xfrm>
          <a:prstGeom prst="line">
            <a:avLst/>
          </a:prstGeom>
          <a:noFill/>
          <a:ln w="19050">
            <a:solidFill>
              <a:srgbClr val="5B7083"/>
            </a:solidFill>
            <a:prstDash val="solid"/>
            <a:tailEnd type="triangle"/>
          </a:ln>
        </p:spPr>
        <p:txBody>
          <a:bodyPr/>
          <a:lstStyle/>
          <a:p>
            <a:endParaRPr lang="en-IN"/>
          </a:p>
        </p:txBody>
      </p:sp>
      <p:sp>
        <p:nvSpPr>
          <p:cNvPr id="31" name="Shape 29"/>
          <p:cNvSpPr/>
          <p:nvPr/>
        </p:nvSpPr>
        <p:spPr>
          <a:xfrm flipH="1" flipV="1">
            <a:off x="6675120" y="3863340"/>
            <a:ext cx="457200" cy="914"/>
          </a:xfrm>
          <a:prstGeom prst="line">
            <a:avLst/>
          </a:prstGeom>
          <a:noFill/>
          <a:ln w="19050">
            <a:solidFill>
              <a:srgbClr val="5B7083"/>
            </a:solidFill>
            <a:prstDash val="solid"/>
            <a:tailEnd type="triangle"/>
          </a:ln>
        </p:spPr>
        <p:txBody>
          <a:bodyPr/>
          <a:lstStyle/>
          <a:p>
            <a:endParaRPr lang="en-IN"/>
          </a:p>
        </p:txBody>
      </p:sp>
      <p:sp>
        <p:nvSpPr>
          <p:cNvPr id="32" name="lane-offline"/>
          <p:cNvSpPr/>
          <p:nvPr/>
        </p:nvSpPr>
        <p:spPr>
          <a:xfrm>
            <a:off x="548640" y="4709160"/>
            <a:ext cx="11091672" cy="1463040"/>
          </a:xfrm>
          <a:prstGeom prst="roundRect">
            <a:avLst>
              <a:gd name="adj" fmla="val 7500"/>
            </a:avLst>
          </a:prstGeom>
          <a:solidFill>
            <a:schemeClr val="bg1"/>
          </a:solidFill>
          <a:ln w="12700">
            <a:solidFill>
              <a:srgbClr val="5B7083"/>
            </a:solidFill>
            <a:prstDash val="dash"/>
          </a:ln>
        </p:spPr>
        <p:txBody>
          <a:bodyPr/>
          <a:lstStyle/>
          <a:p>
            <a:endParaRPr lang="en-IN"/>
          </a:p>
        </p:txBody>
      </p:sp>
      <p:sp>
        <p:nvSpPr>
          <p:cNvPr id="33" name="Text 31"/>
          <p:cNvSpPr txBox="1"/>
          <p:nvPr/>
        </p:nvSpPr>
        <p:spPr>
          <a:xfrm>
            <a:off x="777240" y="4818888"/>
            <a:ext cx="4572000" cy="274320"/>
          </a:xfrm>
          <a:prstGeom prst="rect">
            <a:avLst/>
          </a:prstGeom>
          <a:noFill/>
          <a:ln/>
        </p:spPr>
        <p:txBody>
          <a:bodyPr wrap="square" lIns="0" tIns="0" rIns="0" bIns="0" rtlCol="0" anchor="t"/>
          <a:lstStyle/>
          <a:p>
            <a:pPr marL="0" indent="0">
              <a:buNone/>
            </a:pPr>
            <a:r>
              <a:rPr lang="en-US" sz="1100" b="1" kern="0" spc="200" dirty="0">
                <a:solidFill>
                  <a:schemeClr val="accent5"/>
                </a:solidFill>
              </a:rPr>
              <a:t>OFFLINE PATH  (run once, before the demo)</a:t>
            </a:r>
            <a:endParaRPr lang="en-US" sz="1100" dirty="0"/>
          </a:p>
        </p:txBody>
      </p:sp>
      <p:sp>
        <p:nvSpPr>
          <p:cNvPr id="34" name="arch-box"/>
          <p:cNvSpPr/>
          <p:nvPr/>
        </p:nvSpPr>
        <p:spPr>
          <a:xfrm>
            <a:off x="777240" y="5212080"/>
            <a:ext cx="2377440" cy="685800"/>
          </a:xfrm>
          <a:prstGeom prst="roundRect">
            <a:avLst>
              <a:gd name="adj" fmla="val 10667"/>
            </a:avLst>
          </a:prstGeom>
          <a:solidFill>
            <a:schemeClr val="bg1"/>
          </a:solidFill>
          <a:ln w="12700">
            <a:solidFill>
              <a:srgbClr val="D3DEE4"/>
            </a:solidFill>
            <a:prstDash val="solid"/>
          </a:ln>
        </p:spPr>
        <p:txBody>
          <a:bodyPr/>
          <a:lstStyle/>
          <a:p>
            <a:endParaRPr lang="en-IN"/>
          </a:p>
        </p:txBody>
      </p:sp>
      <p:sp>
        <p:nvSpPr>
          <p:cNvPr id="35" name="Text 33"/>
          <p:cNvSpPr txBox="1"/>
          <p:nvPr/>
        </p:nvSpPr>
        <p:spPr>
          <a:xfrm>
            <a:off x="850392" y="5212080"/>
            <a:ext cx="2231136" cy="685800"/>
          </a:xfrm>
          <a:prstGeom prst="rect">
            <a:avLst/>
          </a:prstGeom>
          <a:noFill/>
          <a:ln/>
        </p:spPr>
        <p:txBody>
          <a:bodyPr wrap="square" lIns="0" tIns="0" rIns="0" bIns="0" rtlCol="0" anchor="ctr"/>
          <a:lstStyle/>
          <a:p>
            <a:pPr marL="0" indent="0" algn="ctr">
              <a:buNone/>
            </a:pPr>
            <a:r>
              <a:rPr lang="en-US" sz="1300" b="1" dirty="0">
                <a:solidFill>
                  <a:schemeClr val="tx1"/>
                </a:solidFill>
              </a:rPr>
              <a:t>Same features, all 120 patients</a:t>
            </a:r>
            <a:endParaRPr lang="en-US" sz="1300" dirty="0"/>
          </a:p>
        </p:txBody>
      </p:sp>
      <p:sp>
        <p:nvSpPr>
          <p:cNvPr id="36" name="arch-box"/>
          <p:cNvSpPr/>
          <p:nvPr/>
        </p:nvSpPr>
        <p:spPr>
          <a:xfrm>
            <a:off x="3611880" y="5212080"/>
            <a:ext cx="2377440" cy="685800"/>
          </a:xfrm>
          <a:prstGeom prst="roundRect">
            <a:avLst>
              <a:gd name="adj" fmla="val 10667"/>
            </a:avLst>
          </a:prstGeom>
          <a:solidFill>
            <a:schemeClr val="bg1"/>
          </a:solidFill>
          <a:ln w="12700">
            <a:solidFill>
              <a:srgbClr val="D3DEE4"/>
            </a:solidFill>
            <a:prstDash val="solid"/>
          </a:ln>
        </p:spPr>
        <p:txBody>
          <a:bodyPr/>
          <a:lstStyle/>
          <a:p>
            <a:endParaRPr lang="en-IN"/>
          </a:p>
        </p:txBody>
      </p:sp>
      <p:sp>
        <p:nvSpPr>
          <p:cNvPr id="37" name="Text 35"/>
          <p:cNvSpPr txBox="1"/>
          <p:nvPr/>
        </p:nvSpPr>
        <p:spPr>
          <a:xfrm>
            <a:off x="3685032" y="5212080"/>
            <a:ext cx="2231136" cy="685800"/>
          </a:xfrm>
          <a:prstGeom prst="rect">
            <a:avLst/>
          </a:prstGeom>
          <a:noFill/>
          <a:ln/>
        </p:spPr>
        <p:txBody>
          <a:bodyPr wrap="square" lIns="0" tIns="0" rIns="0" bIns="0" rtlCol="0" anchor="ctr"/>
          <a:lstStyle/>
          <a:p>
            <a:pPr marL="0" indent="0" algn="ctr">
              <a:buNone/>
            </a:pPr>
            <a:r>
              <a:rPr lang="en-US" sz="1300" b="1" dirty="0">
                <a:solidFill>
                  <a:schemeClr val="tx1"/>
                </a:solidFill>
              </a:rPr>
              <a:t>Train on 96 patients (100 trees)</a:t>
            </a:r>
            <a:endParaRPr lang="en-US" sz="1300" dirty="0"/>
          </a:p>
        </p:txBody>
      </p:sp>
      <p:sp>
        <p:nvSpPr>
          <p:cNvPr id="38" name="arch-box"/>
          <p:cNvSpPr/>
          <p:nvPr/>
        </p:nvSpPr>
        <p:spPr>
          <a:xfrm>
            <a:off x="6446520" y="5212080"/>
            <a:ext cx="2377440" cy="685800"/>
          </a:xfrm>
          <a:prstGeom prst="roundRect">
            <a:avLst>
              <a:gd name="adj" fmla="val 10667"/>
            </a:avLst>
          </a:prstGeom>
          <a:solidFill>
            <a:schemeClr val="bg1"/>
          </a:solidFill>
          <a:ln w="12700">
            <a:solidFill>
              <a:srgbClr val="D3DEE4"/>
            </a:solidFill>
            <a:prstDash val="solid"/>
          </a:ln>
        </p:spPr>
        <p:txBody>
          <a:bodyPr/>
          <a:lstStyle/>
          <a:p>
            <a:endParaRPr lang="en-IN"/>
          </a:p>
        </p:txBody>
      </p:sp>
      <p:sp>
        <p:nvSpPr>
          <p:cNvPr id="39" name="Text 37"/>
          <p:cNvSpPr txBox="1"/>
          <p:nvPr/>
        </p:nvSpPr>
        <p:spPr>
          <a:xfrm>
            <a:off x="6519672" y="5212080"/>
            <a:ext cx="2231136" cy="685800"/>
          </a:xfrm>
          <a:prstGeom prst="rect">
            <a:avLst/>
          </a:prstGeom>
          <a:noFill/>
          <a:ln/>
        </p:spPr>
        <p:txBody>
          <a:bodyPr wrap="square" lIns="0" tIns="0" rIns="0" bIns="0" rtlCol="0" anchor="ctr"/>
          <a:lstStyle/>
          <a:p>
            <a:pPr marL="0" indent="0" algn="ctr">
              <a:buNone/>
            </a:pPr>
            <a:r>
              <a:rPr lang="en-US" sz="1300" b="1" dirty="0">
                <a:solidFill>
                  <a:schemeClr val="tx1"/>
                </a:solidFill>
              </a:rPr>
              <a:t>Evaluate on 24 held-out patients</a:t>
            </a:r>
            <a:endParaRPr lang="en-US" sz="1300" dirty="0"/>
          </a:p>
        </p:txBody>
      </p:sp>
      <p:sp>
        <p:nvSpPr>
          <p:cNvPr id="40" name="arch-box"/>
          <p:cNvSpPr/>
          <p:nvPr/>
        </p:nvSpPr>
        <p:spPr>
          <a:xfrm>
            <a:off x="9281160" y="5212080"/>
            <a:ext cx="2130552" cy="685800"/>
          </a:xfrm>
          <a:prstGeom prst="roundRect">
            <a:avLst>
              <a:gd name="adj" fmla="val 10667"/>
            </a:avLst>
          </a:prstGeom>
          <a:solidFill>
            <a:schemeClr val="tx1"/>
          </a:solidFill>
          <a:ln w="12700">
            <a:solidFill>
              <a:srgbClr val="D3DEE4"/>
            </a:solidFill>
            <a:prstDash val="solid"/>
          </a:ln>
        </p:spPr>
        <p:txBody>
          <a:bodyPr/>
          <a:lstStyle/>
          <a:p>
            <a:endParaRPr lang="en-IN"/>
          </a:p>
        </p:txBody>
      </p:sp>
      <p:sp>
        <p:nvSpPr>
          <p:cNvPr id="41" name="Text 39"/>
          <p:cNvSpPr txBox="1"/>
          <p:nvPr/>
        </p:nvSpPr>
        <p:spPr>
          <a:xfrm>
            <a:off x="9354312" y="5212080"/>
            <a:ext cx="1984248" cy="685800"/>
          </a:xfrm>
          <a:prstGeom prst="rect">
            <a:avLst/>
          </a:prstGeom>
          <a:noFill/>
          <a:ln/>
        </p:spPr>
        <p:txBody>
          <a:bodyPr wrap="square" lIns="0" tIns="0" rIns="0" bIns="0" rtlCol="0" anchor="ctr"/>
          <a:lstStyle/>
          <a:p>
            <a:pPr marL="0" indent="0" algn="ctr">
              <a:buNone/>
            </a:pPr>
            <a:r>
              <a:rPr lang="en-US" sz="1300" b="1" dirty="0">
                <a:solidFill>
                  <a:schemeClr val="bg1"/>
                </a:solidFill>
              </a:rPr>
              <a:t>Saved model file</a:t>
            </a:r>
            <a:endParaRPr lang="en-US" sz="1300" dirty="0"/>
          </a:p>
        </p:txBody>
      </p:sp>
      <p:sp>
        <p:nvSpPr>
          <p:cNvPr id="42" name="Shape 40"/>
          <p:cNvSpPr/>
          <p:nvPr/>
        </p:nvSpPr>
        <p:spPr>
          <a:xfrm>
            <a:off x="3154680" y="5554980"/>
            <a:ext cx="457200" cy="914"/>
          </a:xfrm>
          <a:prstGeom prst="line">
            <a:avLst/>
          </a:prstGeom>
          <a:noFill/>
          <a:ln w="22225">
            <a:solidFill>
              <a:schemeClr val="accent5"/>
            </a:solidFill>
            <a:prstDash val="solid"/>
            <a:tailEnd type="triangle"/>
          </a:ln>
        </p:spPr>
        <p:txBody>
          <a:bodyPr/>
          <a:lstStyle/>
          <a:p>
            <a:endParaRPr lang="en-IN"/>
          </a:p>
        </p:txBody>
      </p:sp>
      <p:sp>
        <p:nvSpPr>
          <p:cNvPr id="43" name="Shape 41"/>
          <p:cNvSpPr/>
          <p:nvPr/>
        </p:nvSpPr>
        <p:spPr>
          <a:xfrm>
            <a:off x="5989320" y="5554980"/>
            <a:ext cx="457200" cy="914"/>
          </a:xfrm>
          <a:prstGeom prst="line">
            <a:avLst/>
          </a:prstGeom>
          <a:noFill/>
          <a:ln w="22225">
            <a:solidFill>
              <a:schemeClr val="accent5"/>
            </a:solidFill>
            <a:prstDash val="solid"/>
            <a:tailEnd type="triangle"/>
          </a:ln>
        </p:spPr>
        <p:txBody>
          <a:bodyPr/>
          <a:lstStyle/>
          <a:p>
            <a:endParaRPr lang="en-IN"/>
          </a:p>
        </p:txBody>
      </p:sp>
      <p:sp>
        <p:nvSpPr>
          <p:cNvPr id="44" name="Shape 42"/>
          <p:cNvSpPr/>
          <p:nvPr/>
        </p:nvSpPr>
        <p:spPr>
          <a:xfrm>
            <a:off x="8823960" y="5554980"/>
            <a:ext cx="457200" cy="914"/>
          </a:xfrm>
          <a:prstGeom prst="line">
            <a:avLst/>
          </a:prstGeom>
          <a:noFill/>
          <a:ln w="22225">
            <a:solidFill>
              <a:schemeClr val="accent5"/>
            </a:solidFill>
            <a:prstDash val="solid"/>
            <a:tailEnd type="triangle"/>
          </a:ln>
        </p:spPr>
        <p:txBody>
          <a:bodyPr/>
          <a:lstStyle/>
          <a:p>
            <a:endParaRPr lang="en-IN"/>
          </a:p>
        </p:txBody>
      </p:sp>
      <p:sp>
        <p:nvSpPr>
          <p:cNvPr id="45" name="Shape 43"/>
          <p:cNvSpPr/>
          <p:nvPr/>
        </p:nvSpPr>
        <p:spPr>
          <a:xfrm>
            <a:off x="11411712" y="5554980"/>
            <a:ext cx="109728" cy="914"/>
          </a:xfrm>
          <a:prstGeom prst="line">
            <a:avLst/>
          </a:prstGeom>
          <a:noFill/>
          <a:ln w="22225">
            <a:solidFill>
              <a:srgbClr val="0E8C8C"/>
            </a:solidFill>
            <a:prstDash val="dash"/>
          </a:ln>
        </p:spPr>
        <p:txBody>
          <a:bodyPr/>
          <a:lstStyle/>
          <a:p>
            <a:endParaRPr lang="en-IN"/>
          </a:p>
        </p:txBody>
      </p:sp>
      <p:sp>
        <p:nvSpPr>
          <p:cNvPr id="46" name="Shape 44"/>
          <p:cNvSpPr/>
          <p:nvPr/>
        </p:nvSpPr>
        <p:spPr>
          <a:xfrm flipV="1">
            <a:off x="11521440" y="2468880"/>
            <a:ext cx="914" cy="3086100"/>
          </a:xfrm>
          <a:prstGeom prst="line">
            <a:avLst/>
          </a:prstGeom>
          <a:noFill/>
          <a:ln w="22225">
            <a:solidFill>
              <a:srgbClr val="0E8C8C"/>
            </a:solidFill>
            <a:prstDash val="dash"/>
          </a:ln>
        </p:spPr>
        <p:txBody>
          <a:bodyPr/>
          <a:lstStyle/>
          <a:p>
            <a:endParaRPr lang="en-IN"/>
          </a:p>
        </p:txBody>
      </p:sp>
      <p:sp>
        <p:nvSpPr>
          <p:cNvPr id="47" name="Shape 45"/>
          <p:cNvSpPr/>
          <p:nvPr/>
        </p:nvSpPr>
        <p:spPr>
          <a:xfrm flipH="1" flipV="1">
            <a:off x="11411712" y="2468880"/>
            <a:ext cx="109728" cy="914"/>
          </a:xfrm>
          <a:prstGeom prst="line">
            <a:avLst/>
          </a:prstGeom>
          <a:noFill/>
          <a:ln w="22225">
            <a:solidFill>
              <a:srgbClr val="0E8C8C"/>
            </a:solidFill>
            <a:prstDash val="solid"/>
            <a:tailEnd type="triangle"/>
          </a:ln>
        </p:spPr>
        <p:txBody>
          <a:bodyPr/>
          <a:lstStyle/>
          <a:p>
            <a:endParaRPr lang="en-IN"/>
          </a:p>
        </p:txBody>
      </p:sp>
      <p:sp>
        <p:nvSpPr>
          <p:cNvPr id="48" name="Text 46"/>
          <p:cNvSpPr txBox="1"/>
          <p:nvPr/>
        </p:nvSpPr>
        <p:spPr>
          <a:xfrm>
            <a:off x="6217920" y="4224528"/>
            <a:ext cx="5212080" cy="228600"/>
          </a:xfrm>
          <a:prstGeom prst="rect">
            <a:avLst/>
          </a:prstGeom>
          <a:noFill/>
          <a:ln/>
        </p:spPr>
        <p:txBody>
          <a:bodyPr wrap="square" lIns="0" tIns="0" rIns="0" bIns="0" rtlCol="0" anchor="t"/>
          <a:lstStyle/>
          <a:p>
            <a:pPr marL="0" indent="0" algn="r">
              <a:buNone/>
            </a:pPr>
            <a:r>
              <a:rPr lang="en-US" sz="1100" b="1" i="1" dirty="0">
                <a:solidFill>
                  <a:schemeClr val="accent1"/>
                </a:solidFill>
              </a:rPr>
              <a:t>Saved model file loaded by the dashboard at runtime</a:t>
            </a:r>
            <a:endParaRPr lang="en-US" sz="1100" dirty="0"/>
          </a:p>
        </p:txBody>
      </p:sp>
      <p:sp>
        <p:nvSpPr>
          <p:cNvPr id="4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06  ·  DATA PROCESSING AND FEATURE ENGINEERING</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Inputs look back; the target is 120 minutes ahead</a:t>
            </a:r>
            <a:endParaRPr lang="en-US" sz="3400" dirty="0"/>
          </a:p>
        </p:txBody>
      </p:sp>
      <p:sp>
        <p:nvSpPr>
          <p:cNvPr id="4" name="past-window"/>
          <p:cNvSpPr/>
          <p:nvPr/>
        </p:nvSpPr>
        <p:spPr>
          <a:xfrm>
            <a:off x="548640" y="1828800"/>
            <a:ext cx="5545836" cy="457200"/>
          </a:xfrm>
          <a:prstGeom prst="rect">
            <a:avLst/>
          </a:prstGeom>
          <a:solidFill>
            <a:schemeClr val="accent6"/>
          </a:solidFill>
          <a:ln/>
        </p:spPr>
        <p:txBody>
          <a:bodyPr/>
          <a:lstStyle/>
          <a:p>
            <a:endParaRPr lang="en-IN"/>
          </a:p>
        </p:txBody>
      </p:sp>
      <p:sp>
        <p:nvSpPr>
          <p:cNvPr id="5" name="future-window"/>
          <p:cNvSpPr/>
          <p:nvPr/>
        </p:nvSpPr>
        <p:spPr>
          <a:xfrm>
            <a:off x="6094476" y="1828800"/>
            <a:ext cx="5545836" cy="457200"/>
          </a:xfrm>
          <a:prstGeom prst="rect">
            <a:avLst/>
          </a:prstGeom>
          <a:solidFill>
            <a:schemeClr val="bg2"/>
          </a:solidFill>
          <a:ln/>
        </p:spPr>
        <p:txBody>
          <a:bodyPr/>
          <a:lstStyle/>
          <a:p>
            <a:endParaRPr lang="en-IN"/>
          </a:p>
        </p:txBody>
      </p:sp>
      <p:sp>
        <p:nvSpPr>
          <p:cNvPr id="6" name="Text 4"/>
          <p:cNvSpPr txBox="1"/>
          <p:nvPr/>
        </p:nvSpPr>
        <p:spPr>
          <a:xfrm>
            <a:off x="685800" y="1828800"/>
            <a:ext cx="4572000" cy="457200"/>
          </a:xfrm>
          <a:prstGeom prst="rect">
            <a:avLst/>
          </a:prstGeom>
          <a:noFill/>
          <a:ln/>
        </p:spPr>
        <p:txBody>
          <a:bodyPr wrap="square" lIns="0" tIns="0" rIns="0" bIns="0" rtlCol="0" anchor="ctr"/>
          <a:lstStyle/>
          <a:p>
            <a:pPr marL="0" indent="0">
              <a:buNone/>
            </a:pPr>
            <a:r>
              <a:rPr lang="en-US" sz="1300" b="1" dirty="0">
                <a:solidFill>
                  <a:schemeClr val="tx1"/>
                </a:solidFill>
              </a:rPr>
              <a:t>PAST + CURRENT → inputs (features)</a:t>
            </a:r>
            <a:endParaRPr lang="en-US" sz="1300" dirty="0"/>
          </a:p>
        </p:txBody>
      </p:sp>
      <p:sp>
        <p:nvSpPr>
          <p:cNvPr id="7" name="Text 5"/>
          <p:cNvSpPr txBox="1"/>
          <p:nvPr/>
        </p:nvSpPr>
        <p:spPr>
          <a:xfrm>
            <a:off x="6368796" y="1828800"/>
            <a:ext cx="2743200" cy="457200"/>
          </a:xfrm>
          <a:prstGeom prst="rect">
            <a:avLst/>
          </a:prstGeom>
          <a:noFill/>
          <a:ln/>
        </p:spPr>
        <p:txBody>
          <a:bodyPr wrap="square" lIns="0" tIns="0" rIns="0" bIns="0" rtlCol="0" anchor="ctr"/>
          <a:lstStyle/>
          <a:p>
            <a:pPr marL="0" indent="0">
              <a:buNone/>
            </a:pPr>
            <a:r>
              <a:rPr lang="en-US" sz="1300" i="1" dirty="0">
                <a:solidFill>
                  <a:schemeClr val="accent5"/>
                </a:solidFill>
              </a:rPr>
              <a:t>Not used as input</a:t>
            </a:r>
            <a:endParaRPr lang="en-US" sz="1300" dirty="0"/>
          </a:p>
        </p:txBody>
      </p:sp>
      <p:sp>
        <p:nvSpPr>
          <p:cNvPr id="8" name="Shape 6"/>
          <p:cNvSpPr/>
          <p:nvPr/>
        </p:nvSpPr>
        <p:spPr>
          <a:xfrm>
            <a:off x="475488" y="2377440"/>
            <a:ext cx="146304" cy="146304"/>
          </a:xfrm>
          <a:prstGeom prst="ellipse">
            <a:avLst/>
          </a:prstGeom>
          <a:solidFill>
            <a:schemeClr val="accent1"/>
          </a:solidFill>
          <a:ln/>
        </p:spPr>
        <p:txBody>
          <a:bodyPr/>
          <a:lstStyle/>
          <a:p>
            <a:endParaRPr lang="en-IN"/>
          </a:p>
        </p:txBody>
      </p:sp>
      <p:sp>
        <p:nvSpPr>
          <p:cNvPr id="9" name="Text 7"/>
          <p:cNvSpPr txBox="1"/>
          <p:nvPr/>
        </p:nvSpPr>
        <p:spPr>
          <a:xfrm>
            <a:off x="91440" y="2560320"/>
            <a:ext cx="914400" cy="228600"/>
          </a:xfrm>
          <a:prstGeom prst="rect">
            <a:avLst/>
          </a:prstGeom>
          <a:noFill/>
          <a:ln/>
        </p:spPr>
        <p:txBody>
          <a:bodyPr wrap="square" lIns="0" tIns="0" rIns="0" bIns="0" rtlCol="0" anchor="t"/>
          <a:lstStyle/>
          <a:p>
            <a:pPr marL="0" indent="0" algn="ctr">
              <a:buNone/>
            </a:pPr>
            <a:r>
              <a:rPr lang="en-US" sz="1100" dirty="0">
                <a:solidFill>
                  <a:schemeClr val="accent5"/>
                </a:solidFill>
              </a:rPr>
              <a:t>−120 min</a:t>
            </a:r>
            <a:endParaRPr lang="en-US" sz="1100" dirty="0"/>
          </a:p>
        </p:txBody>
      </p:sp>
      <p:sp>
        <p:nvSpPr>
          <p:cNvPr id="10" name="Shape 8"/>
          <p:cNvSpPr/>
          <p:nvPr/>
        </p:nvSpPr>
        <p:spPr>
          <a:xfrm>
            <a:off x="3248406" y="2377440"/>
            <a:ext cx="146304" cy="146304"/>
          </a:xfrm>
          <a:prstGeom prst="ellipse">
            <a:avLst/>
          </a:prstGeom>
          <a:solidFill>
            <a:schemeClr val="accent1"/>
          </a:solidFill>
          <a:ln/>
        </p:spPr>
        <p:txBody>
          <a:bodyPr/>
          <a:lstStyle/>
          <a:p>
            <a:endParaRPr lang="en-IN"/>
          </a:p>
        </p:txBody>
      </p:sp>
      <p:sp>
        <p:nvSpPr>
          <p:cNvPr id="11" name="Text 9"/>
          <p:cNvSpPr txBox="1"/>
          <p:nvPr/>
        </p:nvSpPr>
        <p:spPr>
          <a:xfrm>
            <a:off x="2864358" y="2560320"/>
            <a:ext cx="914400" cy="228600"/>
          </a:xfrm>
          <a:prstGeom prst="rect">
            <a:avLst/>
          </a:prstGeom>
          <a:noFill/>
          <a:ln/>
        </p:spPr>
        <p:txBody>
          <a:bodyPr wrap="square" lIns="0" tIns="0" rIns="0" bIns="0" rtlCol="0" anchor="t"/>
          <a:lstStyle/>
          <a:p>
            <a:pPr marL="0" indent="0" algn="ctr">
              <a:buNone/>
            </a:pPr>
            <a:r>
              <a:rPr lang="en-US" sz="1100" dirty="0">
                <a:solidFill>
                  <a:schemeClr val="accent5"/>
                </a:solidFill>
              </a:rPr>
              <a:t>−60 min</a:t>
            </a:r>
            <a:endParaRPr lang="en-US" sz="1100" dirty="0"/>
          </a:p>
        </p:txBody>
      </p:sp>
      <p:sp>
        <p:nvSpPr>
          <p:cNvPr id="12" name="Shape 10"/>
          <p:cNvSpPr/>
          <p:nvPr/>
        </p:nvSpPr>
        <p:spPr>
          <a:xfrm>
            <a:off x="4634865" y="2377440"/>
            <a:ext cx="146304" cy="146304"/>
          </a:xfrm>
          <a:prstGeom prst="ellipse">
            <a:avLst/>
          </a:prstGeom>
          <a:solidFill>
            <a:schemeClr val="accent1"/>
          </a:solidFill>
          <a:ln/>
        </p:spPr>
        <p:txBody>
          <a:bodyPr/>
          <a:lstStyle/>
          <a:p>
            <a:endParaRPr lang="en-IN"/>
          </a:p>
        </p:txBody>
      </p:sp>
      <p:sp>
        <p:nvSpPr>
          <p:cNvPr id="13" name="Text 11"/>
          <p:cNvSpPr txBox="1"/>
          <p:nvPr/>
        </p:nvSpPr>
        <p:spPr>
          <a:xfrm>
            <a:off x="4250817" y="2560320"/>
            <a:ext cx="914400" cy="228600"/>
          </a:xfrm>
          <a:prstGeom prst="rect">
            <a:avLst/>
          </a:prstGeom>
          <a:noFill/>
          <a:ln/>
        </p:spPr>
        <p:txBody>
          <a:bodyPr wrap="square" lIns="0" tIns="0" rIns="0" bIns="0" rtlCol="0" anchor="t"/>
          <a:lstStyle/>
          <a:p>
            <a:pPr marL="0" indent="0" algn="ctr">
              <a:buNone/>
            </a:pPr>
            <a:r>
              <a:rPr lang="en-US" sz="1100" dirty="0">
                <a:solidFill>
                  <a:schemeClr val="accent5"/>
                </a:solidFill>
              </a:rPr>
              <a:t>−30 min</a:t>
            </a:r>
            <a:endParaRPr lang="en-US" sz="1100" dirty="0"/>
          </a:p>
        </p:txBody>
      </p:sp>
      <p:sp>
        <p:nvSpPr>
          <p:cNvPr id="14" name="Shape 12"/>
          <p:cNvSpPr/>
          <p:nvPr/>
        </p:nvSpPr>
        <p:spPr>
          <a:xfrm>
            <a:off x="5328095" y="2377440"/>
            <a:ext cx="146304" cy="146304"/>
          </a:xfrm>
          <a:prstGeom prst="ellipse">
            <a:avLst/>
          </a:prstGeom>
          <a:solidFill>
            <a:schemeClr val="accent1"/>
          </a:solidFill>
          <a:ln/>
        </p:spPr>
        <p:txBody>
          <a:bodyPr/>
          <a:lstStyle/>
          <a:p>
            <a:endParaRPr lang="en-IN"/>
          </a:p>
        </p:txBody>
      </p:sp>
      <p:sp>
        <p:nvSpPr>
          <p:cNvPr id="15" name="Text 13"/>
          <p:cNvSpPr txBox="1"/>
          <p:nvPr/>
        </p:nvSpPr>
        <p:spPr>
          <a:xfrm>
            <a:off x="4944047" y="2560320"/>
            <a:ext cx="914400" cy="228600"/>
          </a:xfrm>
          <a:prstGeom prst="rect">
            <a:avLst/>
          </a:prstGeom>
          <a:noFill/>
          <a:ln/>
        </p:spPr>
        <p:txBody>
          <a:bodyPr wrap="square" lIns="0" tIns="0" rIns="0" bIns="0" rtlCol="0" anchor="t"/>
          <a:lstStyle/>
          <a:p>
            <a:pPr marL="0" indent="0" algn="ctr">
              <a:buNone/>
            </a:pPr>
            <a:r>
              <a:rPr lang="en-US" sz="1100" dirty="0">
                <a:solidFill>
                  <a:schemeClr val="accent5"/>
                </a:solidFill>
              </a:rPr>
              <a:t>−15 min</a:t>
            </a:r>
            <a:endParaRPr lang="en-US" sz="1100" dirty="0"/>
          </a:p>
        </p:txBody>
      </p:sp>
      <p:sp>
        <p:nvSpPr>
          <p:cNvPr id="16" name="Shape 14"/>
          <p:cNvSpPr/>
          <p:nvPr/>
        </p:nvSpPr>
        <p:spPr>
          <a:xfrm>
            <a:off x="6094476" y="1645920"/>
            <a:ext cx="914" cy="868680"/>
          </a:xfrm>
          <a:prstGeom prst="line">
            <a:avLst/>
          </a:prstGeom>
          <a:noFill/>
          <a:ln w="25400">
            <a:solidFill>
              <a:srgbClr val="0B2545"/>
            </a:solidFill>
            <a:prstDash val="solid"/>
          </a:ln>
        </p:spPr>
        <p:txBody>
          <a:bodyPr/>
          <a:lstStyle/>
          <a:p>
            <a:endParaRPr lang="en-IN"/>
          </a:p>
        </p:txBody>
      </p:sp>
      <p:sp>
        <p:nvSpPr>
          <p:cNvPr id="17" name="Text 15"/>
          <p:cNvSpPr txBox="1"/>
          <p:nvPr/>
        </p:nvSpPr>
        <p:spPr>
          <a:xfrm>
            <a:off x="5637276" y="2560320"/>
            <a:ext cx="914400" cy="228600"/>
          </a:xfrm>
          <a:prstGeom prst="rect">
            <a:avLst/>
          </a:prstGeom>
          <a:noFill/>
          <a:ln/>
        </p:spPr>
        <p:txBody>
          <a:bodyPr wrap="square" lIns="0" tIns="0" rIns="0" bIns="0" rtlCol="0" anchor="t"/>
          <a:lstStyle/>
          <a:p>
            <a:pPr marL="0" indent="0" algn="ctr">
              <a:buNone/>
            </a:pPr>
            <a:r>
              <a:rPr lang="en-US" sz="1100" b="1" dirty="0">
                <a:solidFill>
                  <a:schemeClr val="tx1"/>
                </a:solidFill>
              </a:rPr>
              <a:t>NOW</a:t>
            </a:r>
            <a:endParaRPr lang="en-US" sz="1100" dirty="0"/>
          </a:p>
        </p:txBody>
      </p:sp>
      <p:sp>
        <p:nvSpPr>
          <p:cNvPr id="18" name="Shape 16"/>
          <p:cNvSpPr/>
          <p:nvPr/>
        </p:nvSpPr>
        <p:spPr>
          <a:xfrm>
            <a:off x="11292840" y="1892808"/>
            <a:ext cx="329184" cy="329184"/>
          </a:xfrm>
          <a:prstGeom prst="ellipse">
            <a:avLst/>
          </a:prstGeom>
          <a:solidFill>
            <a:schemeClr val="accent2"/>
          </a:solidFill>
          <a:ln w="25400">
            <a:solidFill>
              <a:schemeClr val="bg1"/>
            </a:solidFill>
            <a:prstDash val="solid"/>
          </a:ln>
        </p:spPr>
        <p:txBody>
          <a:bodyPr/>
          <a:lstStyle/>
          <a:p>
            <a:endParaRPr lang="en-IN"/>
          </a:p>
        </p:txBody>
      </p:sp>
      <p:sp>
        <p:nvSpPr>
          <p:cNvPr id="19" name="Text 17"/>
          <p:cNvSpPr txBox="1"/>
          <p:nvPr/>
        </p:nvSpPr>
        <p:spPr>
          <a:xfrm>
            <a:off x="9262872" y="2560320"/>
            <a:ext cx="2377440" cy="228600"/>
          </a:xfrm>
          <a:prstGeom prst="rect">
            <a:avLst/>
          </a:prstGeom>
          <a:noFill/>
          <a:ln/>
        </p:spPr>
        <p:txBody>
          <a:bodyPr wrap="square" lIns="0" tIns="0" rIns="0" bIns="0" rtlCol="0" anchor="t"/>
          <a:lstStyle/>
          <a:p>
            <a:pPr marL="0" indent="0" algn="r">
              <a:buNone/>
            </a:pPr>
            <a:r>
              <a:rPr lang="en-US" sz="1100" b="1" dirty="0">
                <a:solidFill>
                  <a:schemeClr val="accent2"/>
                </a:solidFill>
              </a:rPr>
              <a:t>Target: glucose at +120 min</a:t>
            </a:r>
            <a:endParaRPr lang="en-US" sz="1100" dirty="0"/>
          </a:p>
        </p:txBody>
      </p:sp>
      <p:sp>
        <p:nvSpPr>
          <p:cNvPr id="20" name="card"/>
          <p:cNvSpPr/>
          <p:nvPr/>
        </p:nvSpPr>
        <p:spPr>
          <a:xfrm>
            <a:off x="548640" y="3063240"/>
            <a:ext cx="2057400" cy="1325880"/>
          </a:xfrm>
          <a:prstGeom prst="roundRect">
            <a:avLst>
              <a:gd name="adj" fmla="val 8276"/>
            </a:avLst>
          </a:prstGeom>
          <a:solidFill>
            <a:schemeClr val="bg2"/>
          </a:solidFill>
          <a:ln/>
        </p:spPr>
        <p:txBody>
          <a:bodyPr/>
          <a:lstStyle/>
          <a:p>
            <a:endParaRPr lang="en-IN"/>
          </a:p>
        </p:txBody>
      </p:sp>
      <p:sp>
        <p:nvSpPr>
          <p:cNvPr id="21" name="icon-circle"/>
          <p:cNvSpPr/>
          <p:nvPr/>
        </p:nvSpPr>
        <p:spPr>
          <a:xfrm>
            <a:off x="713232" y="3246120"/>
            <a:ext cx="411480" cy="411480"/>
          </a:xfrm>
          <a:prstGeom prst="ellipse">
            <a:avLst/>
          </a:prstGeom>
          <a:solidFill>
            <a:schemeClr val="accent1"/>
          </a:solidFill>
          <a:ln/>
        </p:spPr>
        <p:txBody>
          <a:bodyPr/>
          <a:lstStyle/>
          <a:p>
            <a:endParaRPr lang="en-IN"/>
          </a:p>
        </p:txBody>
      </p:sp>
      <p:pic>
        <p:nvPicPr>
          <p:cNvPr id="22" name="icon-FaClock" descr="preencoded.png"/>
          <p:cNvPicPr>
            <a:picLocks noChangeAspect="1"/>
          </p:cNvPicPr>
          <p:nvPr/>
        </p:nvPicPr>
        <p:blipFill>
          <a:blip r:embed="rId3"/>
          <a:stretch>
            <a:fillRect/>
          </a:stretch>
        </p:blipFill>
        <p:spPr>
          <a:xfrm>
            <a:off x="820217" y="3353105"/>
            <a:ext cx="197510" cy="197510"/>
          </a:xfrm>
          <a:prstGeom prst="rect">
            <a:avLst/>
          </a:prstGeom>
        </p:spPr>
      </p:pic>
      <p:sp>
        <p:nvSpPr>
          <p:cNvPr id="23" name="Text 20"/>
          <p:cNvSpPr txBox="1"/>
          <p:nvPr/>
        </p:nvSpPr>
        <p:spPr>
          <a:xfrm>
            <a:off x="1234440" y="3264408"/>
            <a:ext cx="1280160" cy="384048"/>
          </a:xfrm>
          <a:prstGeom prst="rect">
            <a:avLst/>
          </a:prstGeom>
          <a:noFill/>
          <a:ln/>
        </p:spPr>
        <p:txBody>
          <a:bodyPr wrap="square" lIns="0" tIns="0" rIns="0" bIns="0" rtlCol="0" anchor="ctr"/>
          <a:lstStyle/>
          <a:p>
            <a:pPr marL="0" indent="0">
              <a:buNone/>
            </a:pPr>
            <a:r>
              <a:rPr lang="en-US" sz="1400" b="1" dirty="0">
                <a:solidFill>
                  <a:schemeClr val="tx1"/>
                </a:solidFill>
              </a:rPr>
              <a:t>Glucose lags</a:t>
            </a:r>
            <a:endParaRPr lang="en-US" sz="1400" dirty="0"/>
          </a:p>
        </p:txBody>
      </p:sp>
      <p:sp>
        <p:nvSpPr>
          <p:cNvPr id="24" name="Text 21"/>
          <p:cNvSpPr txBox="1"/>
          <p:nvPr/>
        </p:nvSpPr>
        <p:spPr>
          <a:xfrm>
            <a:off x="713232" y="3776472"/>
            <a:ext cx="1783080" cy="548640"/>
          </a:xfrm>
          <a:prstGeom prst="rect">
            <a:avLst/>
          </a:prstGeom>
          <a:noFill/>
          <a:ln/>
        </p:spPr>
        <p:txBody>
          <a:bodyPr wrap="square" lIns="0" tIns="0" rIns="0" bIns="0" rtlCol="0" anchor="t"/>
          <a:lstStyle/>
          <a:p>
            <a:pPr marL="0" indent="0">
              <a:buNone/>
            </a:pPr>
            <a:r>
              <a:rPr lang="en-US" sz="1200" dirty="0">
                <a:solidFill>
                  <a:schemeClr val="accent5"/>
                </a:solidFill>
              </a:rPr>
              <a:t>Value 15, 30, 60, 120 min ago</a:t>
            </a:r>
            <a:endParaRPr lang="en-US" sz="1200" dirty="0"/>
          </a:p>
        </p:txBody>
      </p:sp>
      <p:sp>
        <p:nvSpPr>
          <p:cNvPr id="25" name="card"/>
          <p:cNvSpPr/>
          <p:nvPr/>
        </p:nvSpPr>
        <p:spPr>
          <a:xfrm>
            <a:off x="2788920" y="3063240"/>
            <a:ext cx="2057400" cy="1325880"/>
          </a:xfrm>
          <a:prstGeom prst="roundRect">
            <a:avLst>
              <a:gd name="adj" fmla="val 8276"/>
            </a:avLst>
          </a:prstGeom>
          <a:solidFill>
            <a:schemeClr val="bg2"/>
          </a:solidFill>
          <a:ln/>
        </p:spPr>
        <p:txBody>
          <a:bodyPr/>
          <a:lstStyle/>
          <a:p>
            <a:endParaRPr lang="en-IN"/>
          </a:p>
        </p:txBody>
      </p:sp>
      <p:sp>
        <p:nvSpPr>
          <p:cNvPr id="26" name="icon-circle"/>
          <p:cNvSpPr/>
          <p:nvPr/>
        </p:nvSpPr>
        <p:spPr>
          <a:xfrm>
            <a:off x="2953512" y="3246120"/>
            <a:ext cx="411480" cy="411480"/>
          </a:xfrm>
          <a:prstGeom prst="ellipse">
            <a:avLst/>
          </a:prstGeom>
          <a:solidFill>
            <a:schemeClr val="accent1"/>
          </a:solidFill>
          <a:ln/>
        </p:spPr>
        <p:txBody>
          <a:bodyPr/>
          <a:lstStyle/>
          <a:p>
            <a:endParaRPr lang="en-IN"/>
          </a:p>
        </p:txBody>
      </p:sp>
      <p:pic>
        <p:nvPicPr>
          <p:cNvPr id="27" name="icon-FaChartLine" descr="preencoded.png"/>
          <p:cNvPicPr>
            <a:picLocks noChangeAspect="1"/>
          </p:cNvPicPr>
          <p:nvPr/>
        </p:nvPicPr>
        <p:blipFill>
          <a:blip r:embed="rId4"/>
          <a:stretch>
            <a:fillRect/>
          </a:stretch>
        </p:blipFill>
        <p:spPr>
          <a:xfrm>
            <a:off x="3060497" y="3353105"/>
            <a:ext cx="197510" cy="197510"/>
          </a:xfrm>
          <a:prstGeom prst="rect">
            <a:avLst/>
          </a:prstGeom>
        </p:spPr>
      </p:pic>
      <p:sp>
        <p:nvSpPr>
          <p:cNvPr id="28" name="Text 24"/>
          <p:cNvSpPr txBox="1"/>
          <p:nvPr/>
        </p:nvSpPr>
        <p:spPr>
          <a:xfrm>
            <a:off x="3474720" y="3264408"/>
            <a:ext cx="1280160" cy="384048"/>
          </a:xfrm>
          <a:prstGeom prst="rect">
            <a:avLst/>
          </a:prstGeom>
          <a:noFill/>
          <a:ln/>
        </p:spPr>
        <p:txBody>
          <a:bodyPr wrap="square" lIns="0" tIns="0" rIns="0" bIns="0" rtlCol="0" anchor="ctr"/>
          <a:lstStyle/>
          <a:p>
            <a:pPr marL="0" indent="0">
              <a:buNone/>
            </a:pPr>
            <a:r>
              <a:rPr lang="en-US" sz="1400" b="1" dirty="0">
                <a:solidFill>
                  <a:schemeClr val="tx1"/>
                </a:solidFill>
              </a:rPr>
              <a:t>Rolling averages</a:t>
            </a:r>
            <a:endParaRPr lang="en-US" sz="1400" dirty="0"/>
          </a:p>
        </p:txBody>
      </p:sp>
      <p:sp>
        <p:nvSpPr>
          <p:cNvPr id="29" name="Text 25"/>
          <p:cNvSpPr txBox="1"/>
          <p:nvPr/>
        </p:nvSpPr>
        <p:spPr>
          <a:xfrm>
            <a:off x="2953512" y="3776472"/>
            <a:ext cx="1783080" cy="548640"/>
          </a:xfrm>
          <a:prstGeom prst="rect">
            <a:avLst/>
          </a:prstGeom>
          <a:noFill/>
          <a:ln/>
        </p:spPr>
        <p:txBody>
          <a:bodyPr wrap="square" lIns="0" tIns="0" rIns="0" bIns="0" rtlCol="0" anchor="t"/>
          <a:lstStyle/>
          <a:p>
            <a:pPr marL="0" indent="0">
              <a:buNone/>
            </a:pPr>
            <a:r>
              <a:rPr lang="en-US" sz="1200" dirty="0">
                <a:solidFill>
                  <a:schemeClr val="accent5"/>
                </a:solidFill>
              </a:rPr>
              <a:t>Smoothed recent glucose level</a:t>
            </a:r>
            <a:endParaRPr lang="en-US" sz="1200" dirty="0"/>
          </a:p>
        </p:txBody>
      </p:sp>
      <p:sp>
        <p:nvSpPr>
          <p:cNvPr id="30" name="card"/>
          <p:cNvSpPr/>
          <p:nvPr/>
        </p:nvSpPr>
        <p:spPr>
          <a:xfrm>
            <a:off x="5029200" y="3063240"/>
            <a:ext cx="2057400" cy="1325880"/>
          </a:xfrm>
          <a:prstGeom prst="roundRect">
            <a:avLst>
              <a:gd name="adj" fmla="val 8276"/>
            </a:avLst>
          </a:prstGeom>
          <a:solidFill>
            <a:schemeClr val="bg2"/>
          </a:solidFill>
          <a:ln/>
        </p:spPr>
        <p:txBody>
          <a:bodyPr/>
          <a:lstStyle/>
          <a:p>
            <a:endParaRPr lang="en-IN"/>
          </a:p>
        </p:txBody>
      </p:sp>
      <p:sp>
        <p:nvSpPr>
          <p:cNvPr id="31" name="icon-circle"/>
          <p:cNvSpPr/>
          <p:nvPr/>
        </p:nvSpPr>
        <p:spPr>
          <a:xfrm>
            <a:off x="5193792" y="3246120"/>
            <a:ext cx="411480" cy="411480"/>
          </a:xfrm>
          <a:prstGeom prst="ellipse">
            <a:avLst/>
          </a:prstGeom>
          <a:solidFill>
            <a:schemeClr val="accent1"/>
          </a:solidFill>
          <a:ln/>
        </p:spPr>
        <p:txBody>
          <a:bodyPr/>
          <a:lstStyle/>
          <a:p>
            <a:endParaRPr lang="en-IN"/>
          </a:p>
        </p:txBody>
      </p:sp>
      <p:pic>
        <p:nvPicPr>
          <p:cNvPr id="32" name="icon-FaSyncAlt" descr="preencoded.png"/>
          <p:cNvPicPr>
            <a:picLocks noChangeAspect="1"/>
          </p:cNvPicPr>
          <p:nvPr/>
        </p:nvPicPr>
        <p:blipFill>
          <a:blip r:embed="rId5"/>
          <a:stretch>
            <a:fillRect/>
          </a:stretch>
        </p:blipFill>
        <p:spPr>
          <a:xfrm>
            <a:off x="5300777" y="3353105"/>
            <a:ext cx="197510" cy="197510"/>
          </a:xfrm>
          <a:prstGeom prst="rect">
            <a:avLst/>
          </a:prstGeom>
        </p:spPr>
      </p:pic>
      <p:sp>
        <p:nvSpPr>
          <p:cNvPr id="33" name="Text 28"/>
          <p:cNvSpPr txBox="1"/>
          <p:nvPr/>
        </p:nvSpPr>
        <p:spPr>
          <a:xfrm>
            <a:off x="5715000" y="3264408"/>
            <a:ext cx="1280160" cy="384048"/>
          </a:xfrm>
          <a:prstGeom prst="rect">
            <a:avLst/>
          </a:prstGeom>
          <a:noFill/>
          <a:ln/>
        </p:spPr>
        <p:txBody>
          <a:bodyPr wrap="square" lIns="0" tIns="0" rIns="0" bIns="0" rtlCol="0" anchor="ctr"/>
          <a:lstStyle/>
          <a:p>
            <a:pPr marL="0" indent="0">
              <a:buNone/>
            </a:pPr>
            <a:r>
              <a:rPr lang="en-US" sz="1400" b="1" dirty="0">
                <a:solidFill>
                  <a:schemeClr val="tx1"/>
                </a:solidFill>
              </a:rPr>
              <a:t>Recent change</a:t>
            </a:r>
            <a:endParaRPr lang="en-US" sz="1400" dirty="0"/>
          </a:p>
        </p:txBody>
      </p:sp>
      <p:sp>
        <p:nvSpPr>
          <p:cNvPr id="34" name="Text 29"/>
          <p:cNvSpPr txBox="1"/>
          <p:nvPr/>
        </p:nvSpPr>
        <p:spPr>
          <a:xfrm>
            <a:off x="5193792" y="3776472"/>
            <a:ext cx="1783080" cy="548640"/>
          </a:xfrm>
          <a:prstGeom prst="rect">
            <a:avLst/>
          </a:prstGeom>
          <a:noFill/>
          <a:ln/>
        </p:spPr>
        <p:txBody>
          <a:bodyPr wrap="square" lIns="0" tIns="0" rIns="0" bIns="0" rtlCol="0" anchor="t"/>
          <a:lstStyle/>
          <a:p>
            <a:pPr marL="0" indent="0">
              <a:buNone/>
            </a:pPr>
            <a:r>
              <a:rPr lang="en-US" sz="1200" dirty="0">
                <a:solidFill>
                  <a:schemeClr val="accent5"/>
                </a:solidFill>
              </a:rPr>
              <a:t>Is glucose rising or falling?</a:t>
            </a:r>
            <a:endParaRPr lang="en-US" sz="1200" dirty="0"/>
          </a:p>
        </p:txBody>
      </p:sp>
      <p:sp>
        <p:nvSpPr>
          <p:cNvPr id="35" name="card"/>
          <p:cNvSpPr/>
          <p:nvPr/>
        </p:nvSpPr>
        <p:spPr>
          <a:xfrm>
            <a:off x="548640" y="4572000"/>
            <a:ext cx="2057400" cy="1325880"/>
          </a:xfrm>
          <a:prstGeom prst="roundRect">
            <a:avLst>
              <a:gd name="adj" fmla="val 8276"/>
            </a:avLst>
          </a:prstGeom>
          <a:solidFill>
            <a:schemeClr val="bg2"/>
          </a:solidFill>
          <a:ln/>
        </p:spPr>
        <p:txBody>
          <a:bodyPr/>
          <a:lstStyle/>
          <a:p>
            <a:endParaRPr lang="en-IN"/>
          </a:p>
        </p:txBody>
      </p:sp>
      <p:sp>
        <p:nvSpPr>
          <p:cNvPr id="36" name="icon-circle"/>
          <p:cNvSpPr/>
          <p:nvPr/>
        </p:nvSpPr>
        <p:spPr>
          <a:xfrm>
            <a:off x="713232" y="4754880"/>
            <a:ext cx="411480" cy="411480"/>
          </a:xfrm>
          <a:prstGeom prst="ellipse">
            <a:avLst/>
          </a:prstGeom>
          <a:solidFill>
            <a:schemeClr val="accent1"/>
          </a:solidFill>
          <a:ln/>
        </p:spPr>
        <p:txBody>
          <a:bodyPr/>
          <a:lstStyle/>
          <a:p>
            <a:endParaRPr lang="en-IN"/>
          </a:p>
        </p:txBody>
      </p:sp>
      <p:pic>
        <p:nvPicPr>
          <p:cNvPr id="37" name="icon-FaWalking" descr="preencoded.png"/>
          <p:cNvPicPr>
            <a:picLocks noChangeAspect="1"/>
          </p:cNvPicPr>
          <p:nvPr/>
        </p:nvPicPr>
        <p:blipFill>
          <a:blip r:embed="rId6"/>
          <a:stretch>
            <a:fillRect/>
          </a:stretch>
        </p:blipFill>
        <p:spPr>
          <a:xfrm>
            <a:off x="820217" y="4861865"/>
            <a:ext cx="197510" cy="197510"/>
          </a:xfrm>
          <a:prstGeom prst="rect">
            <a:avLst/>
          </a:prstGeom>
        </p:spPr>
      </p:pic>
      <p:sp>
        <p:nvSpPr>
          <p:cNvPr id="38" name="Text 32"/>
          <p:cNvSpPr txBox="1"/>
          <p:nvPr/>
        </p:nvSpPr>
        <p:spPr>
          <a:xfrm>
            <a:off x="1234440" y="4773168"/>
            <a:ext cx="1280160" cy="384048"/>
          </a:xfrm>
          <a:prstGeom prst="rect">
            <a:avLst/>
          </a:prstGeom>
          <a:noFill/>
          <a:ln/>
        </p:spPr>
        <p:txBody>
          <a:bodyPr wrap="square" lIns="0" tIns="0" rIns="0" bIns="0" rtlCol="0" anchor="ctr"/>
          <a:lstStyle/>
          <a:p>
            <a:pPr marL="0" indent="0">
              <a:buNone/>
            </a:pPr>
            <a:r>
              <a:rPr lang="en-US" sz="1400" b="1" dirty="0">
                <a:solidFill>
                  <a:schemeClr val="tx1"/>
                </a:solidFill>
              </a:rPr>
              <a:t>Heart rate &amp; steps</a:t>
            </a:r>
            <a:endParaRPr lang="en-US" sz="1400" dirty="0"/>
          </a:p>
        </p:txBody>
      </p:sp>
      <p:sp>
        <p:nvSpPr>
          <p:cNvPr id="39" name="Text 33"/>
          <p:cNvSpPr txBox="1"/>
          <p:nvPr/>
        </p:nvSpPr>
        <p:spPr>
          <a:xfrm>
            <a:off x="713232" y="5285232"/>
            <a:ext cx="1783080" cy="548640"/>
          </a:xfrm>
          <a:prstGeom prst="rect">
            <a:avLst/>
          </a:prstGeom>
          <a:noFill/>
          <a:ln/>
        </p:spPr>
        <p:txBody>
          <a:bodyPr wrap="square" lIns="0" tIns="0" rIns="0" bIns="0" rtlCol="0" anchor="t"/>
          <a:lstStyle/>
          <a:p>
            <a:pPr marL="0" indent="0">
              <a:buNone/>
            </a:pPr>
            <a:r>
              <a:rPr lang="en-US" sz="1200" dirty="0">
                <a:solidFill>
                  <a:schemeClr val="accent5"/>
                </a:solidFill>
              </a:rPr>
              <a:t>Recent activity signals</a:t>
            </a:r>
            <a:endParaRPr lang="en-US" sz="1200" dirty="0"/>
          </a:p>
        </p:txBody>
      </p:sp>
      <p:sp>
        <p:nvSpPr>
          <p:cNvPr id="40" name="card"/>
          <p:cNvSpPr/>
          <p:nvPr/>
        </p:nvSpPr>
        <p:spPr>
          <a:xfrm>
            <a:off x="2788920" y="4572000"/>
            <a:ext cx="2057400" cy="1325880"/>
          </a:xfrm>
          <a:prstGeom prst="roundRect">
            <a:avLst>
              <a:gd name="adj" fmla="val 8276"/>
            </a:avLst>
          </a:prstGeom>
          <a:solidFill>
            <a:schemeClr val="bg2"/>
          </a:solidFill>
          <a:ln/>
        </p:spPr>
        <p:txBody>
          <a:bodyPr/>
          <a:lstStyle/>
          <a:p>
            <a:endParaRPr lang="en-IN"/>
          </a:p>
        </p:txBody>
      </p:sp>
      <p:sp>
        <p:nvSpPr>
          <p:cNvPr id="41" name="icon-circle"/>
          <p:cNvSpPr/>
          <p:nvPr/>
        </p:nvSpPr>
        <p:spPr>
          <a:xfrm>
            <a:off x="2953512" y="4754880"/>
            <a:ext cx="411480" cy="411480"/>
          </a:xfrm>
          <a:prstGeom prst="ellipse">
            <a:avLst/>
          </a:prstGeom>
          <a:solidFill>
            <a:schemeClr val="accent1"/>
          </a:solidFill>
          <a:ln/>
        </p:spPr>
        <p:txBody>
          <a:bodyPr/>
          <a:lstStyle/>
          <a:p>
            <a:endParaRPr lang="en-IN"/>
          </a:p>
        </p:txBody>
      </p:sp>
      <p:pic>
        <p:nvPicPr>
          <p:cNvPr id="42" name="icon-FaBed" descr="preencoded.png"/>
          <p:cNvPicPr>
            <a:picLocks noChangeAspect="1"/>
          </p:cNvPicPr>
          <p:nvPr/>
        </p:nvPicPr>
        <p:blipFill>
          <a:blip r:embed="rId7"/>
          <a:stretch>
            <a:fillRect/>
          </a:stretch>
        </p:blipFill>
        <p:spPr>
          <a:xfrm>
            <a:off x="3060497" y="4861865"/>
            <a:ext cx="197510" cy="197510"/>
          </a:xfrm>
          <a:prstGeom prst="rect">
            <a:avLst/>
          </a:prstGeom>
        </p:spPr>
      </p:pic>
      <p:sp>
        <p:nvSpPr>
          <p:cNvPr id="43" name="Text 36"/>
          <p:cNvSpPr txBox="1"/>
          <p:nvPr/>
        </p:nvSpPr>
        <p:spPr>
          <a:xfrm>
            <a:off x="3474720" y="4773168"/>
            <a:ext cx="1280160" cy="384048"/>
          </a:xfrm>
          <a:prstGeom prst="rect">
            <a:avLst/>
          </a:prstGeom>
          <a:noFill/>
          <a:ln/>
        </p:spPr>
        <p:txBody>
          <a:bodyPr wrap="square" lIns="0" tIns="0" rIns="0" bIns="0" rtlCol="0" anchor="ctr"/>
          <a:lstStyle/>
          <a:p>
            <a:pPr marL="0" indent="0">
              <a:buNone/>
            </a:pPr>
            <a:r>
              <a:rPr lang="en-US" sz="1400" b="1" dirty="0">
                <a:solidFill>
                  <a:schemeClr val="tx1"/>
                </a:solidFill>
              </a:rPr>
              <a:t>Time of day</a:t>
            </a:r>
            <a:endParaRPr lang="en-US" sz="1400" dirty="0"/>
          </a:p>
        </p:txBody>
      </p:sp>
      <p:sp>
        <p:nvSpPr>
          <p:cNvPr id="44" name="Text 37"/>
          <p:cNvSpPr txBox="1"/>
          <p:nvPr/>
        </p:nvSpPr>
        <p:spPr>
          <a:xfrm>
            <a:off x="2953512" y="5285232"/>
            <a:ext cx="1783080" cy="548640"/>
          </a:xfrm>
          <a:prstGeom prst="rect">
            <a:avLst/>
          </a:prstGeom>
          <a:noFill/>
          <a:ln/>
        </p:spPr>
        <p:txBody>
          <a:bodyPr wrap="square" lIns="0" tIns="0" rIns="0" bIns="0" rtlCol="0" anchor="t"/>
          <a:lstStyle/>
          <a:p>
            <a:pPr marL="0" indent="0">
              <a:buNone/>
            </a:pPr>
            <a:r>
              <a:rPr lang="en-US" sz="1200" dirty="0">
                <a:solidFill>
                  <a:schemeClr val="accent5"/>
                </a:solidFill>
              </a:rPr>
              <a:t>Captures daily rhythms, meals, sleep</a:t>
            </a:r>
            <a:endParaRPr lang="en-US" sz="1200" dirty="0"/>
          </a:p>
        </p:txBody>
      </p:sp>
      <p:sp>
        <p:nvSpPr>
          <p:cNvPr id="45" name="card"/>
          <p:cNvSpPr/>
          <p:nvPr/>
        </p:nvSpPr>
        <p:spPr>
          <a:xfrm>
            <a:off x="5029200" y="4572000"/>
            <a:ext cx="2057400" cy="1325880"/>
          </a:xfrm>
          <a:prstGeom prst="roundRect">
            <a:avLst>
              <a:gd name="adj" fmla="val 8276"/>
            </a:avLst>
          </a:prstGeom>
          <a:solidFill>
            <a:schemeClr val="bg2"/>
          </a:solidFill>
          <a:ln/>
        </p:spPr>
        <p:txBody>
          <a:bodyPr/>
          <a:lstStyle/>
          <a:p>
            <a:endParaRPr lang="en-IN"/>
          </a:p>
        </p:txBody>
      </p:sp>
      <p:sp>
        <p:nvSpPr>
          <p:cNvPr id="46" name="icon-circle"/>
          <p:cNvSpPr/>
          <p:nvPr/>
        </p:nvSpPr>
        <p:spPr>
          <a:xfrm>
            <a:off x="5193792" y="4754880"/>
            <a:ext cx="411480" cy="411480"/>
          </a:xfrm>
          <a:prstGeom prst="ellipse">
            <a:avLst/>
          </a:prstGeom>
          <a:solidFill>
            <a:schemeClr val="tx2"/>
          </a:solidFill>
          <a:ln/>
        </p:spPr>
        <p:txBody>
          <a:bodyPr/>
          <a:lstStyle/>
          <a:p>
            <a:endParaRPr lang="en-IN"/>
          </a:p>
        </p:txBody>
      </p:sp>
      <p:pic>
        <p:nvPicPr>
          <p:cNvPr id="47" name="icon-FaUser" descr="preencoded.png"/>
          <p:cNvPicPr>
            <a:picLocks noChangeAspect="1"/>
          </p:cNvPicPr>
          <p:nvPr/>
        </p:nvPicPr>
        <p:blipFill>
          <a:blip r:embed="rId8"/>
          <a:stretch>
            <a:fillRect/>
          </a:stretch>
        </p:blipFill>
        <p:spPr>
          <a:xfrm>
            <a:off x="5300777" y="4861865"/>
            <a:ext cx="197510" cy="197510"/>
          </a:xfrm>
          <a:prstGeom prst="rect">
            <a:avLst/>
          </a:prstGeom>
        </p:spPr>
      </p:pic>
      <p:sp>
        <p:nvSpPr>
          <p:cNvPr id="48" name="Text 40"/>
          <p:cNvSpPr txBox="1"/>
          <p:nvPr/>
        </p:nvSpPr>
        <p:spPr>
          <a:xfrm>
            <a:off x="5715000" y="4773168"/>
            <a:ext cx="1280160" cy="384048"/>
          </a:xfrm>
          <a:prstGeom prst="rect">
            <a:avLst/>
          </a:prstGeom>
          <a:noFill/>
          <a:ln/>
        </p:spPr>
        <p:txBody>
          <a:bodyPr wrap="square" lIns="0" tIns="0" rIns="0" bIns="0" rtlCol="0" anchor="ctr"/>
          <a:lstStyle/>
          <a:p>
            <a:pPr marL="0" indent="0">
              <a:buNone/>
            </a:pPr>
            <a:r>
              <a:rPr lang="en-US" sz="1400" b="1" dirty="0">
                <a:solidFill>
                  <a:schemeClr val="tx1"/>
                </a:solidFill>
              </a:rPr>
              <a:t>Patient profile</a:t>
            </a:r>
            <a:endParaRPr lang="en-US" sz="1400" dirty="0"/>
          </a:p>
        </p:txBody>
      </p:sp>
      <p:sp>
        <p:nvSpPr>
          <p:cNvPr id="49" name="Text 41"/>
          <p:cNvSpPr txBox="1"/>
          <p:nvPr/>
        </p:nvSpPr>
        <p:spPr>
          <a:xfrm>
            <a:off x="5193792" y="5285232"/>
            <a:ext cx="1783080" cy="548640"/>
          </a:xfrm>
          <a:prstGeom prst="rect">
            <a:avLst/>
          </a:prstGeom>
          <a:noFill/>
          <a:ln/>
        </p:spPr>
        <p:txBody>
          <a:bodyPr wrap="square" lIns="0" tIns="0" rIns="0" bIns="0" rtlCol="0" anchor="t"/>
          <a:lstStyle/>
          <a:p>
            <a:pPr marL="0" indent="0">
              <a:buNone/>
            </a:pPr>
            <a:r>
              <a:rPr lang="en-US" sz="1200" dirty="0">
                <a:solidFill>
                  <a:schemeClr val="accent5"/>
                </a:solidFill>
              </a:rPr>
              <a:t>Age, BMI, HbA1c, conditions…</a:t>
            </a:r>
            <a:endParaRPr lang="en-US" sz="1200" dirty="0"/>
          </a:p>
        </p:txBody>
      </p:sp>
      <p:sp>
        <p:nvSpPr>
          <p:cNvPr id="50" name="Text 42"/>
          <p:cNvSpPr txBox="1"/>
          <p:nvPr/>
        </p:nvSpPr>
        <p:spPr>
          <a:xfrm>
            <a:off x="7178040" y="3063240"/>
            <a:ext cx="4462272"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ILLUSTRATIVE EXAMPLE: ONE TRAINING ROW</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7178040" y="3383280"/>
          <a:ext cx="4462272" cy="2368296"/>
        </p:xfrm>
        <a:graphic>
          <a:graphicData uri="http://schemas.openxmlformats.org/drawingml/2006/table">
            <a:tbl>
              <a:tblPr/>
              <a:tblGrid>
                <a:gridCol w="2697480">
                  <a:extLst>
                    <a:ext uri="{9D8B030D-6E8A-4147-A177-3AD203B41FA5}">
                      <a16:colId xmlns:a16="http://schemas.microsoft.com/office/drawing/2014/main" val="20000"/>
                    </a:ext>
                  </a:extLst>
                </a:gridCol>
                <a:gridCol w="1764792">
                  <a:extLst>
                    <a:ext uri="{9D8B030D-6E8A-4147-A177-3AD203B41FA5}">
                      <a16:colId xmlns:a16="http://schemas.microsoft.com/office/drawing/2014/main" val="20001"/>
                    </a:ext>
                  </a:extLst>
                </a:gridCol>
              </a:tblGrid>
              <a:tr h="338328">
                <a:tc>
                  <a:txBody>
                    <a:bodyPr/>
                    <a:lstStyle/>
                    <a:p>
                      <a:pPr marL="0" indent="0">
                        <a:buNone/>
                      </a:pPr>
                      <a:r>
                        <a:rPr lang="en-US" sz="1200" b="1" dirty="0">
                          <a:solidFill>
                            <a:schemeClr val="bg1"/>
                          </a:solidFill>
                        </a:rPr>
                        <a:t>Input (at 10:00)</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tx2"/>
                    </a:solidFill>
                  </a:tcPr>
                </a:tc>
                <a:tc>
                  <a:txBody>
                    <a:bodyPr/>
                    <a:lstStyle/>
                    <a:p>
                      <a:pPr marL="0" indent="0" algn="r">
                        <a:buNone/>
                      </a:pPr>
                      <a:r>
                        <a:rPr lang="en-US" sz="1200" b="1" dirty="0">
                          <a:solidFill>
                            <a:schemeClr val="bg1"/>
                          </a:solidFill>
                        </a:rPr>
                        <a:t>Value</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38328">
                <a:tc>
                  <a:txBody>
                    <a:bodyPr/>
                    <a:lstStyle/>
                    <a:p>
                      <a:pPr marL="0" indent="0">
                        <a:buNone/>
                      </a:pPr>
                      <a:r>
                        <a:rPr lang="en-US" sz="1200" dirty="0">
                          <a:solidFill>
                            <a:schemeClr val="tx1"/>
                          </a:solidFill>
                        </a:rPr>
                        <a:t>Glucose now</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1"/>
                          </a:solidFill>
                        </a:rPr>
                        <a:t>142</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38328">
                <a:tc>
                  <a:txBody>
                    <a:bodyPr/>
                    <a:lstStyle/>
                    <a:p>
                      <a:pPr marL="0" indent="0">
                        <a:buNone/>
                      </a:pPr>
                      <a:r>
                        <a:rPr lang="en-US" sz="1200" dirty="0">
                          <a:solidFill>
                            <a:schemeClr val="tx1"/>
                          </a:solidFill>
                        </a:rPr>
                        <a:t>Glucose 15 / 30 / 60 / 120 min ago</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1"/>
                          </a:solidFill>
                        </a:rPr>
                        <a:t>138 / 133 / 125 / 118</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8328">
                <a:tc>
                  <a:txBody>
                    <a:bodyPr/>
                    <a:lstStyle/>
                    <a:p>
                      <a:pPr marL="0" indent="0">
                        <a:buNone/>
                      </a:pPr>
                      <a:r>
                        <a:rPr lang="en-US" sz="1200" dirty="0">
                          <a:solidFill>
                            <a:schemeClr val="tx1"/>
                          </a:solidFill>
                        </a:rPr>
                        <a:t>Recent change</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1"/>
                          </a:solidFill>
                        </a:rPr>
                        <a:t>rising</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38328">
                <a:tc>
                  <a:txBody>
                    <a:bodyPr/>
                    <a:lstStyle/>
                    <a:p>
                      <a:pPr marL="0" indent="0">
                        <a:buNone/>
                      </a:pPr>
                      <a:r>
                        <a:rPr lang="en-US" sz="1200" dirty="0">
                          <a:solidFill>
                            <a:schemeClr val="tx1"/>
                          </a:solidFill>
                        </a:rPr>
                        <a:t>Steps (recent) · time of day</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1"/>
                          </a:solidFill>
                        </a:rPr>
                        <a:t>low · morning</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38328">
                <a:tc>
                  <a:txBody>
                    <a:bodyPr/>
                    <a:lstStyle/>
                    <a:p>
                      <a:pPr marL="0" indent="0">
                        <a:buNone/>
                      </a:pPr>
                      <a:r>
                        <a:rPr lang="en-US" sz="1200" dirty="0">
                          <a:solidFill>
                            <a:schemeClr val="tx1"/>
                          </a:solidFill>
                        </a:rPr>
                        <a:t>Profile: age · HbA1c</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1"/>
                          </a:solidFill>
                        </a:rPr>
                        <a:t>58 · 7.9%</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38328">
                <a:tc>
                  <a:txBody>
                    <a:bodyPr/>
                    <a:lstStyle/>
                    <a:p>
                      <a:pPr marL="0" indent="0">
                        <a:buNone/>
                      </a:pPr>
                      <a:r>
                        <a:rPr lang="en-US" sz="1200" b="1" dirty="0">
                          <a:solidFill>
                            <a:schemeClr val="bg1"/>
                          </a:solidFill>
                        </a:rPr>
                        <a:t>Target: glucose at 12:00</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accent2"/>
                    </a:solidFill>
                  </a:tcPr>
                </a:tc>
                <a:tc>
                  <a:txBody>
                    <a:bodyPr/>
                    <a:lstStyle/>
                    <a:p>
                      <a:pPr marL="0" indent="0" algn="r">
                        <a:buNone/>
                      </a:pPr>
                      <a:r>
                        <a:rPr lang="en-US" sz="1200" b="1" dirty="0">
                          <a:solidFill>
                            <a:schemeClr val="bg1"/>
                          </a:solidFill>
                        </a:rPr>
                        <a:t>learned in training</a:t>
                      </a:r>
                      <a:endParaRPr lang="en-US" sz="1200" dirty="0"/>
                    </a:p>
                  </a:txBody>
                  <a:tcPr marL="54864" marR="54864" marT="54864" marB="54864">
                    <a:lnL w="6350" cap="flat" cmpd="sng" algn="ctr">
                      <a:solidFill>
                        <a:srgbClr val="D3DEE4"/>
                      </a:solidFill>
                      <a:prstDash val="solid"/>
                      <a:round/>
                      <a:headEnd type="none" w="med" len="med"/>
                      <a:tailEnd type="none" w="med" len="med"/>
                    </a:lnL>
                    <a:lnR w="6350" cap="flat" cmpd="sng" algn="ctr">
                      <a:solidFill>
                        <a:srgbClr val="D3DEE4"/>
                      </a:solidFill>
                      <a:prstDash val="solid"/>
                      <a:round/>
                      <a:headEnd type="none" w="med" len="med"/>
                      <a:tailEnd type="none" w="med" len="med"/>
                    </a:lnR>
                    <a:lnT w="6350" cap="flat" cmpd="sng" algn="ctr">
                      <a:solidFill>
                        <a:srgbClr val="D3DEE4"/>
                      </a:solidFill>
                      <a:prstDash val="solid"/>
                      <a:round/>
                      <a:headEnd type="none" w="med" len="med"/>
                      <a:tailEnd type="none" w="med" len="med"/>
                    </a:lnT>
                    <a:lnB w="6350" cap="flat" cmpd="sng" algn="ctr">
                      <a:solidFill>
                        <a:srgbClr val="D3DEE4"/>
                      </a:solidFill>
                      <a:prstDash val="solid"/>
                      <a:round/>
                      <a:headEnd type="none" w="med" len="med"/>
                      <a:tailEnd type="none" w="med" len="med"/>
                    </a:lnB>
                    <a:solidFill>
                      <a:schemeClr val="accent2"/>
                    </a:solidFill>
                  </a:tcPr>
                </a:tc>
                <a:extLst>
                  <a:ext uri="{0D108BD9-81ED-4DB2-BD59-A6C34878D82A}">
                    <a16:rowId xmlns:a16="http://schemas.microsoft.com/office/drawing/2014/main" val="10006"/>
                  </a:ext>
                </a:extLst>
              </a:tr>
            </a:tbl>
          </a:graphicData>
        </a:graphic>
      </p:graphicFrame>
      <p:sp>
        <p:nvSpPr>
          <p:cNvPr id="52" name="Text 43"/>
          <p:cNvSpPr txBox="1"/>
          <p:nvPr/>
        </p:nvSpPr>
        <p:spPr>
          <a:xfrm>
            <a:off x="7178040" y="5852160"/>
            <a:ext cx="4462272" cy="274320"/>
          </a:xfrm>
          <a:prstGeom prst="rect">
            <a:avLst/>
          </a:prstGeom>
          <a:noFill/>
          <a:ln/>
        </p:spPr>
        <p:txBody>
          <a:bodyPr wrap="square" lIns="0" tIns="0" rIns="0" bIns="0" rtlCol="0" anchor="t"/>
          <a:lstStyle/>
          <a:p>
            <a:pPr marL="0" indent="0">
              <a:buNone/>
            </a:pPr>
            <a:r>
              <a:rPr lang="en-US" sz="1100" i="1" dirty="0">
                <a:solidFill>
                  <a:schemeClr val="accent5"/>
                </a:solidFill>
              </a:rPr>
              <a:t>All values invented for explanation.</a:t>
            </a:r>
            <a:endParaRPr lang="en-US" sz="1100" dirty="0"/>
          </a:p>
        </p:txBody>
      </p:sp>
      <p:sp>
        <p:nvSpPr>
          <p:cNvPr id="53"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07  ·  MACHINE LEARNING METHODOLOGY</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A Random Forest, tested on patients it has never seen</a:t>
            </a:r>
            <a:endParaRPr lang="en-US" sz="3400" dirty="0"/>
          </a:p>
        </p:txBody>
      </p:sp>
      <p:sp>
        <p:nvSpPr>
          <p:cNvPr id="4" name="card"/>
          <p:cNvSpPr/>
          <p:nvPr/>
        </p:nvSpPr>
        <p:spPr>
          <a:xfrm>
            <a:off x="548640" y="1600200"/>
            <a:ext cx="5394960" cy="2514600"/>
          </a:xfrm>
          <a:prstGeom prst="roundRect">
            <a:avLst>
              <a:gd name="adj" fmla="val 4364"/>
            </a:avLst>
          </a:prstGeom>
          <a:solidFill>
            <a:schemeClr val="bg2"/>
          </a:solidFill>
          <a:ln/>
        </p:spPr>
        <p:txBody>
          <a:bodyPr/>
          <a:lstStyle/>
          <a:p>
            <a:endParaRPr lang="en-IN"/>
          </a:p>
        </p:txBody>
      </p:sp>
      <p:sp>
        <p:nvSpPr>
          <p:cNvPr id="5" name="Text 3"/>
          <p:cNvSpPr txBox="1"/>
          <p:nvPr/>
        </p:nvSpPr>
        <p:spPr>
          <a:xfrm>
            <a:off x="822960" y="1737360"/>
            <a:ext cx="4572000" cy="320040"/>
          </a:xfrm>
          <a:prstGeom prst="rect">
            <a:avLst/>
          </a:prstGeom>
          <a:noFill/>
          <a:ln/>
        </p:spPr>
        <p:txBody>
          <a:bodyPr wrap="square" lIns="0" tIns="0" rIns="0" bIns="0" rtlCol="0" anchor="t"/>
          <a:lstStyle/>
          <a:p>
            <a:pPr marL="0" indent="0">
              <a:buNone/>
            </a:pPr>
            <a:r>
              <a:rPr lang="en-US" sz="1600" b="1" dirty="0">
                <a:solidFill>
                  <a:schemeClr val="tx1"/>
                </a:solidFill>
              </a:rPr>
              <a:t>How a Random Forest predicts</a:t>
            </a:r>
            <a:endParaRPr lang="en-US" sz="1600" dirty="0"/>
          </a:p>
        </p:txBody>
      </p:sp>
      <p:pic>
        <p:nvPicPr>
          <p:cNvPr id="6" name="Image 0" descr="preencoded.png"/>
          <p:cNvPicPr>
            <a:picLocks noChangeAspect="1"/>
          </p:cNvPicPr>
          <p:nvPr/>
        </p:nvPicPr>
        <p:blipFill>
          <a:blip r:embed="rId3"/>
          <a:stretch>
            <a:fillRect/>
          </a:stretch>
        </p:blipFill>
        <p:spPr>
          <a:xfrm>
            <a:off x="868680" y="2286000"/>
            <a:ext cx="685800" cy="685800"/>
          </a:xfrm>
          <a:prstGeom prst="rect">
            <a:avLst/>
          </a:prstGeom>
        </p:spPr>
      </p:pic>
      <p:sp>
        <p:nvSpPr>
          <p:cNvPr id="7" name="Text 4"/>
          <p:cNvSpPr txBox="1"/>
          <p:nvPr/>
        </p:nvSpPr>
        <p:spPr>
          <a:xfrm>
            <a:off x="777240" y="3017520"/>
            <a:ext cx="868680" cy="274320"/>
          </a:xfrm>
          <a:prstGeom prst="rect">
            <a:avLst/>
          </a:prstGeom>
          <a:noFill/>
          <a:ln/>
        </p:spPr>
        <p:txBody>
          <a:bodyPr wrap="square" lIns="0" tIns="0" rIns="0" bIns="0" rtlCol="0" anchor="t"/>
          <a:lstStyle/>
          <a:p>
            <a:pPr marL="0" indent="0" algn="ctr">
              <a:buNone/>
            </a:pPr>
            <a:r>
              <a:rPr lang="en-US" sz="1300" b="1" dirty="0">
                <a:solidFill>
                  <a:schemeClr val="accent1"/>
                </a:solidFill>
              </a:rPr>
              <a:t>188</a:t>
            </a:r>
            <a:endParaRPr lang="en-US" sz="1300" dirty="0"/>
          </a:p>
        </p:txBody>
      </p:sp>
      <p:pic>
        <p:nvPicPr>
          <p:cNvPr id="8" name="Image 1" descr="preencoded.png"/>
          <p:cNvPicPr>
            <a:picLocks noChangeAspect="1"/>
          </p:cNvPicPr>
          <p:nvPr/>
        </p:nvPicPr>
        <p:blipFill>
          <a:blip r:embed="rId3"/>
          <a:stretch>
            <a:fillRect/>
          </a:stretch>
        </p:blipFill>
        <p:spPr>
          <a:xfrm>
            <a:off x="1920240" y="2286000"/>
            <a:ext cx="685800" cy="685800"/>
          </a:xfrm>
          <a:prstGeom prst="rect">
            <a:avLst/>
          </a:prstGeom>
        </p:spPr>
      </p:pic>
      <p:sp>
        <p:nvSpPr>
          <p:cNvPr id="9" name="Text 5"/>
          <p:cNvSpPr txBox="1"/>
          <p:nvPr/>
        </p:nvSpPr>
        <p:spPr>
          <a:xfrm>
            <a:off x="1828800" y="3017520"/>
            <a:ext cx="868680" cy="274320"/>
          </a:xfrm>
          <a:prstGeom prst="rect">
            <a:avLst/>
          </a:prstGeom>
          <a:noFill/>
          <a:ln/>
        </p:spPr>
        <p:txBody>
          <a:bodyPr wrap="square" lIns="0" tIns="0" rIns="0" bIns="0" rtlCol="0" anchor="t"/>
          <a:lstStyle/>
          <a:p>
            <a:pPr marL="0" indent="0" algn="ctr">
              <a:buNone/>
            </a:pPr>
            <a:r>
              <a:rPr lang="en-US" sz="1300" b="1" dirty="0">
                <a:solidFill>
                  <a:schemeClr val="accent1"/>
                </a:solidFill>
              </a:rPr>
              <a:t>201</a:t>
            </a:r>
            <a:endParaRPr lang="en-US" sz="1300" dirty="0"/>
          </a:p>
        </p:txBody>
      </p:sp>
      <p:pic>
        <p:nvPicPr>
          <p:cNvPr id="10" name="Image 2" descr="preencoded.png"/>
          <p:cNvPicPr>
            <a:picLocks noChangeAspect="1"/>
          </p:cNvPicPr>
          <p:nvPr/>
        </p:nvPicPr>
        <p:blipFill>
          <a:blip r:embed="rId3"/>
          <a:stretch>
            <a:fillRect/>
          </a:stretch>
        </p:blipFill>
        <p:spPr>
          <a:xfrm>
            <a:off x="2971800" y="2286000"/>
            <a:ext cx="685800" cy="685800"/>
          </a:xfrm>
          <a:prstGeom prst="rect">
            <a:avLst/>
          </a:prstGeom>
        </p:spPr>
      </p:pic>
      <p:sp>
        <p:nvSpPr>
          <p:cNvPr id="11" name="Text 6"/>
          <p:cNvSpPr txBox="1"/>
          <p:nvPr/>
        </p:nvSpPr>
        <p:spPr>
          <a:xfrm>
            <a:off x="2880360" y="3017520"/>
            <a:ext cx="868680" cy="274320"/>
          </a:xfrm>
          <a:prstGeom prst="rect">
            <a:avLst/>
          </a:prstGeom>
          <a:noFill/>
          <a:ln/>
        </p:spPr>
        <p:txBody>
          <a:bodyPr wrap="square" lIns="0" tIns="0" rIns="0" bIns="0" rtlCol="0" anchor="t"/>
          <a:lstStyle/>
          <a:p>
            <a:pPr marL="0" indent="0" algn="ctr">
              <a:buNone/>
            </a:pPr>
            <a:r>
              <a:rPr lang="en-US" sz="1300" b="1" dirty="0">
                <a:solidFill>
                  <a:schemeClr val="accent1"/>
                </a:solidFill>
              </a:rPr>
              <a:t>195</a:t>
            </a:r>
            <a:endParaRPr lang="en-US" sz="1300" dirty="0"/>
          </a:p>
        </p:txBody>
      </p:sp>
      <p:sp>
        <p:nvSpPr>
          <p:cNvPr id="12" name="Text 7"/>
          <p:cNvSpPr txBox="1"/>
          <p:nvPr/>
        </p:nvSpPr>
        <p:spPr>
          <a:xfrm>
            <a:off x="3840480" y="2377440"/>
            <a:ext cx="457200" cy="457200"/>
          </a:xfrm>
          <a:prstGeom prst="rect">
            <a:avLst/>
          </a:prstGeom>
          <a:noFill/>
          <a:ln/>
        </p:spPr>
        <p:txBody>
          <a:bodyPr wrap="square" lIns="0" tIns="0" rIns="0" bIns="0" rtlCol="0" anchor="t"/>
          <a:lstStyle/>
          <a:p>
            <a:pPr marL="0" indent="0">
              <a:buNone/>
            </a:pPr>
            <a:r>
              <a:rPr lang="en-US" sz="2400" b="1" dirty="0">
                <a:solidFill>
                  <a:schemeClr val="accent5"/>
                </a:solidFill>
              </a:rPr>
              <a:t>…</a:t>
            </a:r>
            <a:endParaRPr lang="en-US" sz="2400" dirty="0"/>
          </a:p>
        </p:txBody>
      </p:sp>
      <p:sp>
        <p:nvSpPr>
          <p:cNvPr id="13" name="Text 8"/>
          <p:cNvSpPr txBox="1"/>
          <p:nvPr/>
        </p:nvSpPr>
        <p:spPr>
          <a:xfrm>
            <a:off x="868680" y="3364992"/>
            <a:ext cx="2926080" cy="274320"/>
          </a:xfrm>
          <a:prstGeom prst="rect">
            <a:avLst/>
          </a:prstGeom>
          <a:noFill/>
          <a:ln/>
        </p:spPr>
        <p:txBody>
          <a:bodyPr wrap="square" lIns="0" tIns="0" rIns="0" bIns="0" rtlCol="0" anchor="t"/>
          <a:lstStyle/>
          <a:p>
            <a:pPr marL="0" indent="0" algn="ctr">
              <a:buNone/>
            </a:pPr>
            <a:r>
              <a:rPr lang="en-US" sz="1200" dirty="0">
                <a:solidFill>
                  <a:schemeClr val="accent5"/>
                </a:solidFill>
              </a:rPr>
              <a:t>100 trees</a:t>
            </a:r>
            <a:endParaRPr lang="en-US" sz="1200" dirty="0"/>
          </a:p>
        </p:txBody>
      </p:sp>
      <p:sp>
        <p:nvSpPr>
          <p:cNvPr id="14" name="Shape 9"/>
          <p:cNvSpPr/>
          <p:nvPr/>
        </p:nvSpPr>
        <p:spPr>
          <a:xfrm>
            <a:off x="4251960" y="2633472"/>
            <a:ext cx="457200" cy="914"/>
          </a:xfrm>
          <a:prstGeom prst="line">
            <a:avLst/>
          </a:prstGeom>
          <a:noFill/>
          <a:ln w="22225">
            <a:solidFill>
              <a:schemeClr val="accent1"/>
            </a:solidFill>
            <a:prstDash val="solid"/>
            <a:tailEnd type="triangle"/>
          </a:ln>
        </p:spPr>
        <p:txBody>
          <a:bodyPr/>
          <a:lstStyle/>
          <a:p>
            <a:endParaRPr lang="en-IN"/>
          </a:p>
        </p:txBody>
      </p:sp>
      <p:sp>
        <p:nvSpPr>
          <p:cNvPr id="15" name="Shape 10"/>
          <p:cNvSpPr/>
          <p:nvPr/>
        </p:nvSpPr>
        <p:spPr>
          <a:xfrm>
            <a:off x="4754880" y="2130552"/>
            <a:ext cx="1005840" cy="1005840"/>
          </a:xfrm>
          <a:prstGeom prst="ellipse">
            <a:avLst/>
          </a:prstGeom>
          <a:solidFill>
            <a:schemeClr val="accent2"/>
          </a:solidFill>
          <a:ln/>
        </p:spPr>
        <p:txBody>
          <a:bodyPr/>
          <a:lstStyle/>
          <a:p>
            <a:endParaRPr lang="en-IN"/>
          </a:p>
        </p:txBody>
      </p:sp>
      <p:sp>
        <p:nvSpPr>
          <p:cNvPr id="16" name="Text 11"/>
          <p:cNvSpPr txBox="1"/>
          <p:nvPr/>
        </p:nvSpPr>
        <p:spPr>
          <a:xfrm>
            <a:off x="4754880" y="2130552"/>
            <a:ext cx="1005840" cy="1005840"/>
          </a:xfrm>
          <a:prstGeom prst="rect">
            <a:avLst/>
          </a:prstGeom>
          <a:noFill/>
          <a:ln/>
        </p:spPr>
        <p:txBody>
          <a:bodyPr wrap="square" lIns="0" tIns="0" rIns="0" bIns="0" rtlCol="0" anchor="ctr"/>
          <a:lstStyle/>
          <a:p>
            <a:pPr marL="0" indent="0" algn="ctr">
              <a:buNone/>
            </a:pPr>
            <a:r>
              <a:rPr lang="en-US" sz="1100" dirty="0">
                <a:solidFill>
                  <a:schemeClr val="bg1"/>
                </a:solidFill>
              </a:rPr>
              <a:t>Average</a:t>
            </a:r>
            <a:endParaRPr lang="en-US" sz="1500" dirty="0"/>
          </a:p>
          <a:p>
            <a:pPr marL="0" indent="0" algn="ctr">
              <a:buNone/>
            </a:pPr>
            <a:r>
              <a:rPr lang="en-US" sz="1600" b="1" dirty="0">
                <a:solidFill>
                  <a:schemeClr val="bg1"/>
                </a:solidFill>
              </a:rPr>
              <a:t>≈195</a:t>
            </a:r>
            <a:endParaRPr lang="en-US" sz="1500" dirty="0"/>
          </a:p>
        </p:txBody>
      </p:sp>
      <p:sp>
        <p:nvSpPr>
          <p:cNvPr id="17" name="Text 12"/>
          <p:cNvSpPr txBox="1"/>
          <p:nvPr/>
        </p:nvSpPr>
        <p:spPr>
          <a:xfrm>
            <a:off x="822960" y="3703320"/>
            <a:ext cx="4572000" cy="274320"/>
          </a:xfrm>
          <a:prstGeom prst="rect">
            <a:avLst/>
          </a:prstGeom>
          <a:noFill/>
          <a:ln/>
        </p:spPr>
        <p:txBody>
          <a:bodyPr wrap="square" lIns="0" tIns="0" rIns="0" bIns="0" rtlCol="0" anchor="t"/>
          <a:lstStyle/>
          <a:p>
            <a:pPr marL="0" indent="0">
              <a:buNone/>
            </a:pPr>
            <a:r>
              <a:rPr lang="en-US" sz="1100" i="1" dirty="0">
                <a:solidFill>
                  <a:schemeClr val="accent5"/>
                </a:solidFill>
              </a:rPr>
              <a:t>Tree outputs are illustrative.</a:t>
            </a:r>
            <a:endParaRPr lang="en-US" sz="1100" dirty="0"/>
          </a:p>
        </p:txBody>
      </p:sp>
      <p:sp>
        <p:nvSpPr>
          <p:cNvPr id="18" name="Text 13"/>
          <p:cNvSpPr txBox="1"/>
          <p:nvPr/>
        </p:nvSpPr>
        <p:spPr>
          <a:xfrm>
            <a:off x="548640" y="4343400"/>
            <a:ext cx="5394960" cy="320040"/>
          </a:xfrm>
          <a:prstGeom prst="rect">
            <a:avLst/>
          </a:prstGeom>
          <a:noFill/>
          <a:ln/>
        </p:spPr>
        <p:txBody>
          <a:bodyPr wrap="square" lIns="0" tIns="0" rIns="0" bIns="0" rtlCol="0" anchor="t"/>
          <a:lstStyle/>
          <a:p>
            <a:pPr marL="0" indent="0">
              <a:buNone/>
            </a:pPr>
            <a:r>
              <a:rPr lang="en-US" sz="1600" b="1" dirty="0">
                <a:solidFill>
                  <a:schemeClr val="tx1"/>
                </a:solidFill>
              </a:rPr>
              <a:t>Why we chose it</a:t>
            </a:r>
            <a:endParaRPr lang="en-US" sz="1600" dirty="0"/>
          </a:p>
        </p:txBody>
      </p:sp>
      <p:sp>
        <p:nvSpPr>
          <p:cNvPr id="19" name="Text 14"/>
          <p:cNvSpPr txBox="1"/>
          <p:nvPr/>
        </p:nvSpPr>
        <p:spPr>
          <a:xfrm>
            <a:off x="548640" y="4709160"/>
            <a:ext cx="539496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Handles mixed static and time-series features well</a:t>
            </a:r>
            <a:endParaRPr lang="en-US" sz="1400" dirty="0"/>
          </a:p>
          <a:p>
            <a:pPr marL="342900" indent="-342900">
              <a:spcAft>
                <a:spcPts val="600"/>
              </a:spcAft>
              <a:buSzPct val="100000"/>
              <a:buChar char="•"/>
            </a:pPr>
            <a:r>
              <a:rPr lang="en-US" sz="1400" dirty="0">
                <a:solidFill>
                  <a:schemeClr val="tx1"/>
                </a:solidFill>
              </a:rPr>
              <a:t>Captures non-linear patterns without heavy tuning</a:t>
            </a:r>
            <a:endParaRPr lang="en-US" sz="1400" dirty="0"/>
          </a:p>
          <a:p>
            <a:pPr marL="342900" indent="-342900">
              <a:spcAft>
                <a:spcPts val="600"/>
              </a:spcAft>
              <a:buSzPct val="100000"/>
              <a:buChar char="•"/>
            </a:pPr>
            <a:r>
              <a:rPr lang="en-US" sz="1400" dirty="0">
                <a:solidFill>
                  <a:schemeClr val="tx1"/>
                </a:solidFill>
              </a:rPr>
              <a:t>A strong, well-understood first model for tabular data</a:t>
            </a:r>
            <a:endParaRPr lang="en-US" sz="1400" dirty="0"/>
          </a:p>
        </p:txBody>
      </p:sp>
      <p:sp>
        <p:nvSpPr>
          <p:cNvPr id="20" name="card"/>
          <p:cNvSpPr/>
          <p:nvPr/>
        </p:nvSpPr>
        <p:spPr>
          <a:xfrm>
            <a:off x="6309360" y="1600200"/>
            <a:ext cx="5330952" cy="2514600"/>
          </a:xfrm>
          <a:prstGeom prst="roundRect">
            <a:avLst>
              <a:gd name="adj" fmla="val 4364"/>
            </a:avLst>
          </a:prstGeom>
          <a:solidFill>
            <a:schemeClr val="bg1"/>
          </a:solidFill>
          <a:ln/>
          <a:effectLst>
            <a:outerShdw blurRad="101600" dist="25400" dir="5400000" algn="bl" rotWithShape="0">
              <a:srgbClr val="0B2545">
                <a:alpha val="12000"/>
              </a:srgbClr>
            </a:outerShdw>
          </a:effectLst>
        </p:spPr>
        <p:txBody>
          <a:bodyPr/>
          <a:lstStyle/>
          <a:p>
            <a:endParaRPr lang="en-IN"/>
          </a:p>
        </p:txBody>
      </p:sp>
      <p:sp>
        <p:nvSpPr>
          <p:cNvPr id="21" name="Text 16"/>
          <p:cNvSpPr txBox="1"/>
          <p:nvPr/>
        </p:nvSpPr>
        <p:spPr>
          <a:xfrm>
            <a:off x="6583680" y="1737360"/>
            <a:ext cx="4572000" cy="320040"/>
          </a:xfrm>
          <a:prstGeom prst="rect">
            <a:avLst/>
          </a:prstGeom>
          <a:noFill/>
          <a:ln/>
        </p:spPr>
        <p:txBody>
          <a:bodyPr wrap="square" lIns="0" tIns="0" rIns="0" bIns="0" rtlCol="0" anchor="t"/>
          <a:lstStyle/>
          <a:p>
            <a:pPr marL="0" indent="0">
              <a:buNone/>
            </a:pPr>
            <a:r>
              <a:rPr lang="en-US" sz="1600" b="1" dirty="0">
                <a:solidFill>
                  <a:schemeClr val="tx1"/>
                </a:solidFill>
              </a:rPr>
              <a:t>Patient-level split</a:t>
            </a:r>
            <a:endParaRPr lang="en-US" sz="1600" dirty="0"/>
          </a:p>
        </p:txBody>
      </p:sp>
      <p:sp>
        <p:nvSpPr>
          <p:cNvPr id="22" name="Shape 17"/>
          <p:cNvSpPr/>
          <p:nvPr/>
        </p:nvSpPr>
        <p:spPr>
          <a:xfrm>
            <a:off x="6583680" y="2240280"/>
            <a:ext cx="3825850" cy="548640"/>
          </a:xfrm>
          <a:prstGeom prst="rect">
            <a:avLst/>
          </a:prstGeom>
          <a:solidFill>
            <a:schemeClr val="accent1"/>
          </a:solidFill>
          <a:ln w="25400">
            <a:solidFill>
              <a:schemeClr val="bg1"/>
            </a:solidFill>
            <a:prstDash val="solid"/>
          </a:ln>
        </p:spPr>
        <p:txBody>
          <a:bodyPr/>
          <a:lstStyle/>
          <a:p>
            <a:endParaRPr lang="en-IN"/>
          </a:p>
        </p:txBody>
      </p:sp>
      <p:sp>
        <p:nvSpPr>
          <p:cNvPr id="23" name="Shape 18"/>
          <p:cNvSpPr/>
          <p:nvPr/>
        </p:nvSpPr>
        <p:spPr>
          <a:xfrm>
            <a:off x="10409530" y="2240280"/>
            <a:ext cx="956462" cy="548640"/>
          </a:xfrm>
          <a:prstGeom prst="rect">
            <a:avLst/>
          </a:prstGeom>
          <a:solidFill>
            <a:schemeClr val="accent2"/>
          </a:solidFill>
          <a:ln w="25400">
            <a:solidFill>
              <a:schemeClr val="bg1"/>
            </a:solidFill>
            <a:prstDash val="solid"/>
          </a:ln>
        </p:spPr>
        <p:txBody>
          <a:bodyPr/>
          <a:lstStyle/>
          <a:p>
            <a:endParaRPr lang="en-IN"/>
          </a:p>
        </p:txBody>
      </p:sp>
      <p:sp>
        <p:nvSpPr>
          <p:cNvPr id="24" name="Text 19"/>
          <p:cNvSpPr txBox="1"/>
          <p:nvPr/>
        </p:nvSpPr>
        <p:spPr>
          <a:xfrm>
            <a:off x="6720840" y="2240280"/>
            <a:ext cx="3200400" cy="548640"/>
          </a:xfrm>
          <a:prstGeom prst="rect">
            <a:avLst/>
          </a:prstGeom>
          <a:noFill/>
          <a:ln/>
        </p:spPr>
        <p:txBody>
          <a:bodyPr wrap="square" lIns="0" tIns="0" rIns="0" bIns="0" rtlCol="0" anchor="ctr"/>
          <a:lstStyle/>
          <a:p>
            <a:pPr marL="0" indent="0">
              <a:buNone/>
            </a:pPr>
            <a:r>
              <a:rPr lang="en-US" sz="1400" b="1" dirty="0">
                <a:solidFill>
                  <a:schemeClr val="bg1"/>
                </a:solidFill>
              </a:rPr>
              <a:t>96 training patients</a:t>
            </a:r>
            <a:endParaRPr lang="en-US" sz="1400" dirty="0"/>
          </a:p>
        </p:txBody>
      </p:sp>
      <p:sp>
        <p:nvSpPr>
          <p:cNvPr id="25" name="Text 20"/>
          <p:cNvSpPr txBox="1"/>
          <p:nvPr/>
        </p:nvSpPr>
        <p:spPr>
          <a:xfrm>
            <a:off x="10409530" y="2240280"/>
            <a:ext cx="956462" cy="548640"/>
          </a:xfrm>
          <a:prstGeom prst="rect">
            <a:avLst/>
          </a:prstGeom>
          <a:noFill/>
          <a:ln/>
        </p:spPr>
        <p:txBody>
          <a:bodyPr wrap="square" lIns="0" tIns="0" rIns="0" bIns="0" rtlCol="0" anchor="ctr"/>
          <a:lstStyle/>
          <a:p>
            <a:pPr marL="0" indent="0" algn="ctr">
              <a:buNone/>
            </a:pPr>
            <a:r>
              <a:rPr lang="en-US" sz="1300" b="1" dirty="0">
                <a:solidFill>
                  <a:schemeClr val="bg1"/>
                </a:solidFill>
              </a:rPr>
              <a:t>24 test</a:t>
            </a:r>
            <a:endParaRPr lang="en-US" sz="1300" dirty="0"/>
          </a:p>
        </p:txBody>
      </p:sp>
      <p:sp>
        <p:nvSpPr>
          <p:cNvPr id="26" name="Text 21"/>
          <p:cNvSpPr txBox="1"/>
          <p:nvPr/>
        </p:nvSpPr>
        <p:spPr>
          <a:xfrm>
            <a:off x="6583680" y="2926080"/>
            <a:ext cx="4800600" cy="1005840"/>
          </a:xfrm>
          <a:prstGeom prst="rect">
            <a:avLst/>
          </a:prstGeom>
          <a:noFill/>
          <a:ln/>
        </p:spPr>
        <p:txBody>
          <a:bodyPr wrap="square" lIns="0" tIns="0" rIns="0" bIns="0" rtlCol="0" anchor="t"/>
          <a:lstStyle/>
          <a:p>
            <a:pPr marL="0" indent="0">
              <a:buNone/>
            </a:pPr>
            <a:r>
              <a:rPr lang="en-US" sz="1300" dirty="0">
                <a:solidFill>
                  <a:schemeClr val="accent5"/>
                </a:solidFill>
              </a:rPr>
              <a:t>Every reading from one patient stays on one side, so the test measures how well the model handles new people, not just new hours of a familiar person.</a:t>
            </a:r>
            <a:endParaRPr lang="en-US" sz="1300" dirty="0"/>
          </a:p>
        </p:txBody>
      </p:sp>
      <p:sp>
        <p:nvSpPr>
          <p:cNvPr id="27" name="card"/>
          <p:cNvSpPr/>
          <p:nvPr/>
        </p:nvSpPr>
        <p:spPr>
          <a:xfrm>
            <a:off x="6309360" y="4343400"/>
            <a:ext cx="5330952" cy="1417320"/>
          </a:xfrm>
          <a:prstGeom prst="roundRect">
            <a:avLst>
              <a:gd name="adj" fmla="val 7742"/>
            </a:avLst>
          </a:prstGeom>
          <a:solidFill>
            <a:schemeClr val="bg2"/>
          </a:solidFill>
          <a:ln/>
        </p:spPr>
        <p:txBody>
          <a:bodyPr/>
          <a:lstStyle/>
          <a:p>
            <a:endParaRPr lang="en-IN"/>
          </a:p>
        </p:txBody>
      </p:sp>
      <p:sp>
        <p:nvSpPr>
          <p:cNvPr id="28" name="icon-circle"/>
          <p:cNvSpPr/>
          <p:nvPr/>
        </p:nvSpPr>
        <p:spPr>
          <a:xfrm>
            <a:off x="6537960" y="4553712"/>
            <a:ext cx="502920" cy="502920"/>
          </a:xfrm>
          <a:prstGeom prst="ellipse">
            <a:avLst/>
          </a:prstGeom>
          <a:solidFill>
            <a:schemeClr val="accent5"/>
          </a:solidFill>
          <a:ln/>
        </p:spPr>
        <p:txBody>
          <a:bodyPr/>
          <a:lstStyle/>
          <a:p>
            <a:endParaRPr lang="en-IN"/>
          </a:p>
        </p:txBody>
      </p:sp>
      <p:pic>
        <p:nvPicPr>
          <p:cNvPr id="29" name="icon-FaBalanceScale" descr="preencoded.png"/>
          <p:cNvPicPr>
            <a:picLocks noChangeAspect="1"/>
          </p:cNvPicPr>
          <p:nvPr/>
        </p:nvPicPr>
        <p:blipFill>
          <a:blip r:embed="rId4"/>
          <a:stretch>
            <a:fillRect/>
          </a:stretch>
        </p:blipFill>
        <p:spPr>
          <a:xfrm>
            <a:off x="6668719" y="4684471"/>
            <a:ext cx="241402" cy="241402"/>
          </a:xfrm>
          <a:prstGeom prst="rect">
            <a:avLst/>
          </a:prstGeom>
        </p:spPr>
      </p:pic>
      <p:sp>
        <p:nvSpPr>
          <p:cNvPr id="30" name="Text 24"/>
          <p:cNvSpPr txBox="1"/>
          <p:nvPr/>
        </p:nvSpPr>
        <p:spPr>
          <a:xfrm>
            <a:off x="7178040" y="4572000"/>
            <a:ext cx="4114800" cy="320040"/>
          </a:xfrm>
          <a:prstGeom prst="rect">
            <a:avLst/>
          </a:prstGeom>
          <a:noFill/>
          <a:ln/>
        </p:spPr>
        <p:txBody>
          <a:bodyPr wrap="square" lIns="0" tIns="0" rIns="0" bIns="0" rtlCol="0" anchor="t"/>
          <a:lstStyle/>
          <a:p>
            <a:pPr marL="0" indent="0">
              <a:buNone/>
            </a:pPr>
            <a:r>
              <a:rPr lang="en-US" sz="1600" b="1" dirty="0">
                <a:solidFill>
                  <a:schemeClr val="tx1"/>
                </a:solidFill>
              </a:rPr>
              <a:t>Persistence baseline</a:t>
            </a:r>
            <a:endParaRPr lang="en-US" sz="1600" dirty="0"/>
          </a:p>
        </p:txBody>
      </p:sp>
      <p:sp>
        <p:nvSpPr>
          <p:cNvPr id="31" name="Text 25"/>
          <p:cNvSpPr txBox="1"/>
          <p:nvPr/>
        </p:nvSpPr>
        <p:spPr>
          <a:xfrm>
            <a:off x="7178040" y="4919472"/>
            <a:ext cx="4251960" cy="914400"/>
          </a:xfrm>
          <a:prstGeom prst="rect">
            <a:avLst/>
          </a:prstGeom>
          <a:noFill/>
          <a:ln/>
        </p:spPr>
        <p:txBody>
          <a:bodyPr wrap="square" lIns="0" tIns="0" rIns="0" bIns="0" rtlCol="0" anchor="t"/>
          <a:lstStyle/>
          <a:p>
            <a:pPr marL="0" indent="0">
              <a:buNone/>
            </a:pPr>
            <a:r>
              <a:rPr lang="en-US" sz="1300" dirty="0">
                <a:solidFill>
                  <a:schemeClr val="accent5"/>
                </a:solidFill>
              </a:rPr>
              <a:t>The simplest guess: glucose in two hours = glucose now. If the model can’t beat this, it adds nothing.</a:t>
            </a:r>
            <a:endParaRPr lang="en-US" sz="1300" dirty="0"/>
          </a:p>
        </p:txBody>
      </p:sp>
      <p:sp>
        <p:nvSpPr>
          <p:cNvPr id="3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08  ·  DASHBOARD DEMONSTRATION</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One screen to follow a patient’s glucose and forecast</a:t>
            </a:r>
            <a:endParaRPr lang="en-US" sz="3400" dirty="0"/>
          </a:p>
        </p:txBody>
      </p:sp>
      <p:sp>
        <p:nvSpPr>
          <p:cNvPr id="4" name="SCREENSHOT_PLACEHOLDER"/>
          <p:cNvSpPr/>
          <p:nvPr/>
        </p:nvSpPr>
        <p:spPr>
          <a:xfrm>
            <a:off x="548640" y="1776679"/>
            <a:ext cx="7007192" cy="3737154"/>
          </a:xfrm>
          <a:prstGeom prst="roundRect">
            <a:avLst>
              <a:gd name="adj" fmla="val 88"/>
            </a:avLst>
          </a:prstGeom>
          <a:solidFill>
            <a:schemeClr val="bg2"/>
          </a:solidFill>
          <a:ln w="25400">
            <a:solidFill>
              <a:srgbClr val="E8A33D"/>
            </a:solidFill>
            <a:prstDash val="dash"/>
          </a:ln>
        </p:spPr>
        <p:txBody>
          <a:bodyPr/>
          <a:lstStyle/>
          <a:p>
            <a:endParaRPr lang="en-IN"/>
          </a:p>
        </p:txBody>
      </p:sp>
      <p:pic>
        <p:nvPicPr>
          <p:cNvPr id="5" name="Image 0" descr="preencoded.png"/>
          <p:cNvPicPr>
            <a:picLocks noChangeAspect="1"/>
          </p:cNvPicPr>
          <p:nvPr/>
        </p:nvPicPr>
        <p:blipFill>
          <a:blip r:embed="rId3"/>
          <a:stretch>
            <a:fillRect/>
          </a:stretch>
        </p:blipFill>
        <p:spPr>
          <a:xfrm>
            <a:off x="3611880" y="2743200"/>
            <a:ext cx="822960" cy="822960"/>
          </a:xfrm>
          <a:prstGeom prst="rect">
            <a:avLst/>
          </a:prstGeom>
        </p:spPr>
      </p:pic>
      <p:sp>
        <p:nvSpPr>
          <p:cNvPr id="6" name="Text 3"/>
          <p:cNvSpPr txBox="1"/>
          <p:nvPr/>
        </p:nvSpPr>
        <p:spPr>
          <a:xfrm>
            <a:off x="1005840" y="3703320"/>
            <a:ext cx="6035040" cy="365760"/>
          </a:xfrm>
          <a:prstGeom prst="rect">
            <a:avLst/>
          </a:prstGeom>
          <a:noFill/>
          <a:ln/>
        </p:spPr>
        <p:txBody>
          <a:bodyPr wrap="square" lIns="0" tIns="0" rIns="0" bIns="0" rtlCol="0" anchor="t"/>
          <a:lstStyle/>
          <a:p>
            <a:pPr marL="0" indent="0" algn="ctr">
              <a:buNone/>
            </a:pPr>
            <a:r>
              <a:rPr lang="en-US" sz="1800" b="1" dirty="0">
                <a:solidFill>
                  <a:schemeClr val="accent3"/>
                </a:solidFill>
              </a:rPr>
              <a:t>[SCREENSHOT PLACEHOLDER]</a:t>
            </a:r>
            <a:endParaRPr lang="en-US" sz="1800" dirty="0"/>
          </a:p>
        </p:txBody>
      </p:sp>
      <p:sp>
        <p:nvSpPr>
          <p:cNvPr id="7" name="Text 4"/>
          <p:cNvSpPr txBox="1"/>
          <p:nvPr/>
        </p:nvSpPr>
        <p:spPr>
          <a:xfrm>
            <a:off x="1371600" y="4114800"/>
            <a:ext cx="5303520" cy="822960"/>
          </a:xfrm>
          <a:prstGeom prst="rect">
            <a:avLst/>
          </a:prstGeom>
          <a:noFill/>
          <a:ln/>
        </p:spPr>
        <p:txBody>
          <a:bodyPr wrap="square" lIns="0" tIns="0" rIns="0" bIns="0" rtlCol="0" anchor="t"/>
          <a:lstStyle/>
          <a:p>
            <a:pPr marL="0" indent="0" algn="ctr">
              <a:buNone/>
            </a:pPr>
            <a:r>
              <a:rPr lang="en-US" sz="1300" dirty="0">
                <a:solidFill>
                  <a:schemeClr val="accent5"/>
                </a:solidFill>
              </a:rPr>
              <a:t>Replace with a real capture of the GlucoTwin dashboard: patient selector, profile, glucose history with forecast, alert banner and model metrics.</a:t>
            </a:r>
            <a:endParaRPr lang="en-US" sz="1300" dirty="0"/>
          </a:p>
        </p:txBody>
      </p:sp>
      <p:sp>
        <p:nvSpPr>
          <p:cNvPr id="8" name="icon-circle"/>
          <p:cNvSpPr/>
          <p:nvPr/>
        </p:nvSpPr>
        <p:spPr>
          <a:xfrm>
            <a:off x="7863840" y="1645920"/>
            <a:ext cx="502920" cy="502920"/>
          </a:xfrm>
          <a:prstGeom prst="ellipse">
            <a:avLst/>
          </a:prstGeom>
          <a:solidFill>
            <a:schemeClr val="accent1"/>
          </a:solidFill>
          <a:ln/>
        </p:spPr>
        <p:txBody>
          <a:bodyPr/>
          <a:lstStyle/>
          <a:p>
            <a:endParaRPr lang="en-IN"/>
          </a:p>
        </p:txBody>
      </p:sp>
      <p:pic>
        <p:nvPicPr>
          <p:cNvPr id="9" name="icon-FaUser" descr="preencoded.png"/>
          <p:cNvPicPr>
            <a:picLocks noChangeAspect="1"/>
          </p:cNvPicPr>
          <p:nvPr/>
        </p:nvPicPr>
        <p:blipFill>
          <a:blip r:embed="rId4"/>
          <a:stretch>
            <a:fillRect/>
          </a:stretch>
        </p:blipFill>
        <p:spPr>
          <a:xfrm>
            <a:off x="7994599" y="1776679"/>
            <a:ext cx="241402" cy="241402"/>
          </a:xfrm>
          <a:prstGeom prst="rect">
            <a:avLst/>
          </a:prstGeom>
        </p:spPr>
      </p:pic>
      <p:sp>
        <p:nvSpPr>
          <p:cNvPr id="10" name="Text 6"/>
          <p:cNvSpPr txBox="1"/>
          <p:nvPr/>
        </p:nvSpPr>
        <p:spPr>
          <a:xfrm>
            <a:off x="8549640" y="1600200"/>
            <a:ext cx="3108960" cy="320040"/>
          </a:xfrm>
          <a:prstGeom prst="rect">
            <a:avLst/>
          </a:prstGeom>
          <a:noFill/>
          <a:ln/>
        </p:spPr>
        <p:txBody>
          <a:bodyPr wrap="square" lIns="0" tIns="0" rIns="0" bIns="0" rtlCol="0" anchor="t"/>
          <a:lstStyle/>
          <a:p>
            <a:pPr marL="0" indent="0">
              <a:buNone/>
            </a:pPr>
            <a:r>
              <a:rPr lang="en-US" sz="1500" b="1" dirty="0">
                <a:solidFill>
                  <a:schemeClr val="tx1"/>
                </a:solidFill>
              </a:rPr>
              <a:t>Patient selector &amp; profile</a:t>
            </a:r>
            <a:endParaRPr lang="en-US" sz="1500" dirty="0"/>
          </a:p>
        </p:txBody>
      </p:sp>
      <p:sp>
        <p:nvSpPr>
          <p:cNvPr id="11" name="Text 7"/>
          <p:cNvSpPr txBox="1"/>
          <p:nvPr/>
        </p:nvSpPr>
        <p:spPr>
          <a:xfrm>
            <a:off x="8549640" y="1929384"/>
            <a:ext cx="3108960" cy="457200"/>
          </a:xfrm>
          <a:prstGeom prst="rect">
            <a:avLst/>
          </a:prstGeom>
          <a:noFill/>
          <a:ln/>
        </p:spPr>
        <p:txBody>
          <a:bodyPr wrap="square" lIns="0" tIns="0" rIns="0" bIns="0" rtlCol="0" anchor="t"/>
          <a:lstStyle/>
          <a:p>
            <a:pPr marL="0" indent="0">
              <a:buNone/>
            </a:pPr>
            <a:r>
              <a:rPr lang="en-US" sz="1200" dirty="0">
                <a:solidFill>
                  <a:schemeClr val="accent5"/>
                </a:solidFill>
              </a:rPr>
              <a:t>Pick a synthetic patient; see EHR fields</a:t>
            </a:r>
            <a:endParaRPr lang="en-US" sz="1200" dirty="0"/>
          </a:p>
        </p:txBody>
      </p:sp>
      <p:sp>
        <p:nvSpPr>
          <p:cNvPr id="12" name="icon-circle"/>
          <p:cNvSpPr/>
          <p:nvPr/>
        </p:nvSpPr>
        <p:spPr>
          <a:xfrm>
            <a:off x="7863840" y="2542032"/>
            <a:ext cx="502920" cy="502920"/>
          </a:xfrm>
          <a:prstGeom prst="ellipse">
            <a:avLst/>
          </a:prstGeom>
          <a:solidFill>
            <a:schemeClr val="accent1"/>
          </a:solidFill>
          <a:ln/>
        </p:spPr>
        <p:txBody>
          <a:bodyPr/>
          <a:lstStyle/>
          <a:p>
            <a:endParaRPr lang="en-IN"/>
          </a:p>
        </p:txBody>
      </p:sp>
      <p:pic>
        <p:nvPicPr>
          <p:cNvPr id="13" name="icon-FaChartLine" descr="preencoded.png"/>
          <p:cNvPicPr>
            <a:picLocks noChangeAspect="1"/>
          </p:cNvPicPr>
          <p:nvPr/>
        </p:nvPicPr>
        <p:blipFill>
          <a:blip r:embed="rId5"/>
          <a:stretch>
            <a:fillRect/>
          </a:stretch>
        </p:blipFill>
        <p:spPr>
          <a:xfrm>
            <a:off x="7994599" y="2672791"/>
            <a:ext cx="241402" cy="241402"/>
          </a:xfrm>
          <a:prstGeom prst="rect">
            <a:avLst/>
          </a:prstGeom>
        </p:spPr>
      </p:pic>
      <p:sp>
        <p:nvSpPr>
          <p:cNvPr id="14" name="Text 9"/>
          <p:cNvSpPr txBox="1"/>
          <p:nvPr/>
        </p:nvSpPr>
        <p:spPr>
          <a:xfrm>
            <a:off x="8549640" y="2496312"/>
            <a:ext cx="3108960" cy="320040"/>
          </a:xfrm>
          <a:prstGeom prst="rect">
            <a:avLst/>
          </a:prstGeom>
          <a:noFill/>
          <a:ln/>
        </p:spPr>
        <p:txBody>
          <a:bodyPr wrap="square" lIns="0" tIns="0" rIns="0" bIns="0" rtlCol="0" anchor="t"/>
          <a:lstStyle/>
          <a:p>
            <a:pPr marL="0" indent="0">
              <a:buNone/>
            </a:pPr>
            <a:r>
              <a:rPr lang="en-US" sz="1500" b="1" dirty="0">
                <a:solidFill>
                  <a:schemeClr val="tx1"/>
                </a:solidFill>
              </a:rPr>
              <a:t>Glucose history + 2-h forecast</a:t>
            </a:r>
            <a:endParaRPr lang="en-US" sz="1500" dirty="0"/>
          </a:p>
        </p:txBody>
      </p:sp>
      <p:sp>
        <p:nvSpPr>
          <p:cNvPr id="15" name="Text 10"/>
          <p:cNvSpPr txBox="1"/>
          <p:nvPr/>
        </p:nvSpPr>
        <p:spPr>
          <a:xfrm>
            <a:off x="8549640" y="2825496"/>
            <a:ext cx="3108960" cy="457200"/>
          </a:xfrm>
          <a:prstGeom prst="rect">
            <a:avLst/>
          </a:prstGeom>
          <a:noFill/>
          <a:ln/>
        </p:spPr>
        <p:txBody>
          <a:bodyPr wrap="square" lIns="0" tIns="0" rIns="0" bIns="0" rtlCol="0" anchor="t"/>
          <a:lstStyle/>
          <a:p>
            <a:pPr marL="0" indent="0">
              <a:buNone/>
            </a:pPr>
            <a:r>
              <a:rPr lang="en-US" sz="1200" dirty="0">
                <a:solidFill>
                  <a:schemeClr val="accent5"/>
                </a:solidFill>
              </a:rPr>
              <a:t>Interactive Plotly trend chart</a:t>
            </a:r>
            <a:endParaRPr lang="en-US" sz="1200" dirty="0"/>
          </a:p>
        </p:txBody>
      </p:sp>
      <p:sp>
        <p:nvSpPr>
          <p:cNvPr id="16" name="icon-circle"/>
          <p:cNvSpPr/>
          <p:nvPr/>
        </p:nvSpPr>
        <p:spPr>
          <a:xfrm>
            <a:off x="7863840" y="3438144"/>
            <a:ext cx="502920" cy="502920"/>
          </a:xfrm>
          <a:prstGeom prst="ellipse">
            <a:avLst/>
          </a:prstGeom>
          <a:solidFill>
            <a:schemeClr val="accent1"/>
          </a:solidFill>
          <a:ln/>
        </p:spPr>
        <p:txBody>
          <a:bodyPr/>
          <a:lstStyle/>
          <a:p>
            <a:endParaRPr lang="en-IN"/>
          </a:p>
        </p:txBody>
      </p:sp>
      <p:pic>
        <p:nvPicPr>
          <p:cNvPr id="17" name="icon-FaBell" descr="preencoded.png"/>
          <p:cNvPicPr>
            <a:picLocks noChangeAspect="1"/>
          </p:cNvPicPr>
          <p:nvPr/>
        </p:nvPicPr>
        <p:blipFill>
          <a:blip r:embed="rId6"/>
          <a:stretch>
            <a:fillRect/>
          </a:stretch>
        </p:blipFill>
        <p:spPr>
          <a:xfrm>
            <a:off x="7994599" y="3568903"/>
            <a:ext cx="241402" cy="241402"/>
          </a:xfrm>
          <a:prstGeom prst="rect">
            <a:avLst/>
          </a:prstGeom>
        </p:spPr>
      </p:pic>
      <p:sp>
        <p:nvSpPr>
          <p:cNvPr id="18" name="Text 12"/>
          <p:cNvSpPr txBox="1"/>
          <p:nvPr/>
        </p:nvSpPr>
        <p:spPr>
          <a:xfrm>
            <a:off x="8549640" y="3392424"/>
            <a:ext cx="3108960" cy="320040"/>
          </a:xfrm>
          <a:prstGeom prst="rect">
            <a:avLst/>
          </a:prstGeom>
          <a:noFill/>
          <a:ln/>
        </p:spPr>
        <p:txBody>
          <a:bodyPr wrap="square" lIns="0" tIns="0" rIns="0" bIns="0" rtlCol="0" anchor="t"/>
          <a:lstStyle/>
          <a:p>
            <a:pPr marL="0" indent="0">
              <a:buNone/>
            </a:pPr>
            <a:r>
              <a:rPr lang="en-US" sz="1500" b="1" dirty="0">
                <a:solidFill>
                  <a:schemeClr val="tx1"/>
                </a:solidFill>
              </a:rPr>
              <a:t>Threshold-based alerts</a:t>
            </a:r>
            <a:endParaRPr lang="en-US" sz="1500" dirty="0"/>
          </a:p>
        </p:txBody>
      </p:sp>
      <p:sp>
        <p:nvSpPr>
          <p:cNvPr id="19" name="Text 13"/>
          <p:cNvSpPr txBox="1"/>
          <p:nvPr/>
        </p:nvSpPr>
        <p:spPr>
          <a:xfrm>
            <a:off x="8549640" y="3721608"/>
            <a:ext cx="3108960" cy="457200"/>
          </a:xfrm>
          <a:prstGeom prst="rect">
            <a:avLst/>
          </a:prstGeom>
          <a:noFill/>
          <a:ln/>
        </p:spPr>
        <p:txBody>
          <a:bodyPr wrap="square" lIns="0" tIns="0" rIns="0" bIns="0" rtlCol="0" anchor="t"/>
          <a:lstStyle/>
          <a:p>
            <a:pPr marL="0" indent="0">
              <a:buNone/>
            </a:pPr>
            <a:r>
              <a:rPr lang="en-US" sz="1200" dirty="0">
                <a:solidFill>
                  <a:schemeClr val="accent5"/>
                </a:solidFill>
              </a:rPr>
              <a:t>Flags forecasts ≥180 or &lt;70 mg/dL</a:t>
            </a:r>
            <a:endParaRPr lang="en-US" sz="1200" dirty="0"/>
          </a:p>
        </p:txBody>
      </p:sp>
      <p:sp>
        <p:nvSpPr>
          <p:cNvPr id="20" name="icon-circle"/>
          <p:cNvSpPr/>
          <p:nvPr/>
        </p:nvSpPr>
        <p:spPr>
          <a:xfrm>
            <a:off x="7863840" y="4334256"/>
            <a:ext cx="502920" cy="502920"/>
          </a:xfrm>
          <a:prstGeom prst="ellipse">
            <a:avLst/>
          </a:prstGeom>
          <a:solidFill>
            <a:schemeClr val="accent2"/>
          </a:solidFill>
          <a:ln/>
        </p:spPr>
        <p:txBody>
          <a:bodyPr/>
          <a:lstStyle/>
          <a:p>
            <a:endParaRPr lang="en-IN"/>
          </a:p>
        </p:txBody>
      </p:sp>
      <p:pic>
        <p:nvPicPr>
          <p:cNvPr id="21" name="icon-FaSyncAlt" descr="preencoded.png"/>
          <p:cNvPicPr>
            <a:picLocks noChangeAspect="1"/>
          </p:cNvPicPr>
          <p:nvPr/>
        </p:nvPicPr>
        <p:blipFill>
          <a:blip r:embed="rId7"/>
          <a:stretch>
            <a:fillRect/>
          </a:stretch>
        </p:blipFill>
        <p:spPr>
          <a:xfrm>
            <a:off x="7994599" y="4465015"/>
            <a:ext cx="241402" cy="241402"/>
          </a:xfrm>
          <a:prstGeom prst="rect">
            <a:avLst/>
          </a:prstGeom>
        </p:spPr>
      </p:pic>
      <p:sp>
        <p:nvSpPr>
          <p:cNvPr id="22" name="Text 15"/>
          <p:cNvSpPr txBox="1"/>
          <p:nvPr/>
        </p:nvSpPr>
        <p:spPr>
          <a:xfrm>
            <a:off x="8549640" y="4288536"/>
            <a:ext cx="3108960" cy="320040"/>
          </a:xfrm>
          <a:prstGeom prst="rect">
            <a:avLst/>
          </a:prstGeom>
          <a:noFill/>
          <a:ln/>
        </p:spPr>
        <p:txBody>
          <a:bodyPr wrap="square" lIns="0" tIns="0" rIns="0" bIns="0" rtlCol="0" anchor="t"/>
          <a:lstStyle/>
          <a:p>
            <a:pPr marL="0" indent="0">
              <a:buNone/>
            </a:pPr>
            <a:r>
              <a:rPr lang="en-US" sz="1500" b="1" dirty="0">
                <a:solidFill>
                  <a:schemeClr val="tx1"/>
                </a:solidFill>
              </a:rPr>
              <a:t>Sensor-stream replay</a:t>
            </a:r>
            <a:endParaRPr lang="en-US" sz="1500" dirty="0"/>
          </a:p>
        </p:txBody>
      </p:sp>
      <p:sp>
        <p:nvSpPr>
          <p:cNvPr id="23" name="Text 16"/>
          <p:cNvSpPr txBox="1"/>
          <p:nvPr/>
        </p:nvSpPr>
        <p:spPr>
          <a:xfrm>
            <a:off x="8549640" y="4617720"/>
            <a:ext cx="3108960" cy="457200"/>
          </a:xfrm>
          <a:prstGeom prst="rect">
            <a:avLst/>
          </a:prstGeom>
          <a:noFill/>
          <a:ln/>
        </p:spPr>
        <p:txBody>
          <a:bodyPr wrap="square" lIns="0" tIns="0" rIns="0" bIns="0" rtlCol="0" anchor="t"/>
          <a:lstStyle/>
          <a:p>
            <a:pPr marL="0" indent="0">
              <a:buNone/>
            </a:pPr>
            <a:r>
              <a:rPr lang="en-US" sz="1200" dirty="0">
                <a:solidFill>
                  <a:schemeClr val="accent5"/>
                </a:solidFill>
              </a:rPr>
              <a:t>Steps through stored synthetic readings</a:t>
            </a:r>
            <a:endParaRPr lang="en-US" sz="1200" dirty="0"/>
          </a:p>
        </p:txBody>
      </p:sp>
      <p:sp>
        <p:nvSpPr>
          <p:cNvPr id="24" name="icon-circle"/>
          <p:cNvSpPr/>
          <p:nvPr/>
        </p:nvSpPr>
        <p:spPr>
          <a:xfrm>
            <a:off x="7863840" y="5230368"/>
            <a:ext cx="502920" cy="502920"/>
          </a:xfrm>
          <a:prstGeom prst="ellipse">
            <a:avLst/>
          </a:prstGeom>
          <a:solidFill>
            <a:schemeClr val="accent1"/>
          </a:solidFill>
          <a:ln/>
        </p:spPr>
        <p:txBody>
          <a:bodyPr/>
          <a:lstStyle/>
          <a:p>
            <a:endParaRPr lang="en-IN"/>
          </a:p>
        </p:txBody>
      </p:sp>
      <p:pic>
        <p:nvPicPr>
          <p:cNvPr id="25" name="icon-FaFlask" descr="preencoded.png"/>
          <p:cNvPicPr>
            <a:picLocks noChangeAspect="1"/>
          </p:cNvPicPr>
          <p:nvPr/>
        </p:nvPicPr>
        <p:blipFill>
          <a:blip r:embed="rId8"/>
          <a:stretch>
            <a:fillRect/>
          </a:stretch>
        </p:blipFill>
        <p:spPr>
          <a:xfrm>
            <a:off x="7994599" y="5361127"/>
            <a:ext cx="241402" cy="241402"/>
          </a:xfrm>
          <a:prstGeom prst="rect">
            <a:avLst/>
          </a:prstGeom>
        </p:spPr>
      </p:pic>
      <p:sp>
        <p:nvSpPr>
          <p:cNvPr id="26" name="Text 18"/>
          <p:cNvSpPr txBox="1"/>
          <p:nvPr/>
        </p:nvSpPr>
        <p:spPr>
          <a:xfrm>
            <a:off x="8549640" y="5184648"/>
            <a:ext cx="3108960" cy="320040"/>
          </a:xfrm>
          <a:prstGeom prst="rect">
            <a:avLst/>
          </a:prstGeom>
          <a:noFill/>
          <a:ln/>
        </p:spPr>
        <p:txBody>
          <a:bodyPr wrap="square" lIns="0" tIns="0" rIns="0" bIns="0" rtlCol="0" anchor="t"/>
          <a:lstStyle/>
          <a:p>
            <a:pPr marL="0" indent="0">
              <a:buNone/>
            </a:pPr>
            <a:r>
              <a:rPr lang="en-US" sz="1500" b="1" dirty="0">
                <a:solidFill>
                  <a:schemeClr val="tx1"/>
                </a:solidFill>
              </a:rPr>
              <a:t>Model metrics</a:t>
            </a:r>
            <a:endParaRPr lang="en-US" sz="1500" dirty="0"/>
          </a:p>
        </p:txBody>
      </p:sp>
      <p:sp>
        <p:nvSpPr>
          <p:cNvPr id="27" name="Text 19"/>
          <p:cNvSpPr txBox="1"/>
          <p:nvPr/>
        </p:nvSpPr>
        <p:spPr>
          <a:xfrm>
            <a:off x="8549640" y="5513832"/>
            <a:ext cx="3108960" cy="457200"/>
          </a:xfrm>
          <a:prstGeom prst="rect">
            <a:avLst/>
          </a:prstGeom>
          <a:noFill/>
          <a:ln/>
        </p:spPr>
        <p:txBody>
          <a:bodyPr wrap="square" lIns="0" tIns="0" rIns="0" bIns="0" rtlCol="0" anchor="t"/>
          <a:lstStyle/>
          <a:p>
            <a:pPr marL="0" indent="0">
              <a:buNone/>
            </a:pPr>
            <a:r>
              <a:rPr lang="en-US" sz="1200" dirty="0">
                <a:solidFill>
                  <a:schemeClr val="accent5"/>
                </a:solidFill>
              </a:rPr>
              <a:t>Shows held-out test performance</a:t>
            </a:r>
            <a:endParaRPr lang="en-US" sz="1200" dirty="0"/>
          </a:p>
        </p:txBody>
      </p:sp>
      <p:sp>
        <p:nvSpPr>
          <p:cNvPr id="2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30" name="Picture 29">
            <a:extLst>
              <a:ext uri="{FF2B5EF4-FFF2-40B4-BE49-F238E27FC236}">
                <a16:creationId xmlns:a16="http://schemas.microsoft.com/office/drawing/2014/main" id="{2157B931-7AF4-EF73-2E80-8C70A979617A}"/>
              </a:ext>
            </a:extLst>
          </p:cNvPr>
          <p:cNvPicPr>
            <a:picLocks noChangeAspect="1"/>
          </p:cNvPicPr>
          <p:nvPr/>
        </p:nvPicPr>
        <p:blipFill>
          <a:blip r:embed="rId9"/>
          <a:stretch>
            <a:fillRect/>
          </a:stretch>
        </p:blipFill>
        <p:spPr>
          <a:xfrm>
            <a:off x="561858" y="1874128"/>
            <a:ext cx="6936222" cy="3607700"/>
          </a:xfrm>
          <a:prstGeom prst="roundRect">
            <a:avLst>
              <a:gd name="adj" fmla="val 1025"/>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09  ·  RESULTS AND EVALUATION</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~40% lower error than a simple baseline</a:t>
            </a:r>
            <a:endParaRPr lang="en-US" sz="3400" dirty="0"/>
          </a:p>
        </p:txBody>
      </p:sp>
      <p:graphicFrame>
        <p:nvGraphicFramePr>
          <p:cNvPr id="4" name="Chart 0"/>
          <p:cNvGraphicFramePr/>
          <p:nvPr/>
        </p:nvGraphicFramePr>
        <p:xfrm>
          <a:off x="548640" y="1554480"/>
          <a:ext cx="51206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5532120"/>
            <a:ext cx="5120640" cy="274320"/>
          </a:xfrm>
          <a:prstGeom prst="rect">
            <a:avLst/>
          </a:prstGeom>
          <a:noFill/>
          <a:ln/>
        </p:spPr>
        <p:txBody>
          <a:bodyPr wrap="square" lIns="0" tIns="0" rIns="0" bIns="0" rtlCol="0" anchor="t"/>
          <a:lstStyle/>
          <a:p>
            <a:pPr marL="0" indent="0" algn="ctr">
              <a:buNone/>
            </a:pPr>
            <a:r>
              <a:rPr lang="en-US" sz="1100" i="1" dirty="0">
                <a:solidFill>
                  <a:schemeClr val="accent5"/>
                </a:solidFill>
              </a:rPr>
              <a:t>24 held-out synthetic test patients</a:t>
            </a:r>
            <a:endParaRPr lang="en-US" sz="1100" dirty="0"/>
          </a:p>
        </p:txBody>
      </p:sp>
      <p:sp>
        <p:nvSpPr>
          <p:cNvPr id="6" name="card"/>
          <p:cNvSpPr/>
          <p:nvPr/>
        </p:nvSpPr>
        <p:spPr>
          <a:xfrm>
            <a:off x="5989320" y="1554480"/>
            <a:ext cx="2743200" cy="1481328"/>
          </a:xfrm>
          <a:prstGeom prst="roundRect">
            <a:avLst>
              <a:gd name="adj" fmla="val 7407"/>
            </a:avLst>
          </a:prstGeom>
          <a:solidFill>
            <a:schemeClr val="bg1"/>
          </a:solidFill>
          <a:ln w="12700">
            <a:solidFill>
              <a:srgbClr val="D3DEE4"/>
            </a:solidFill>
            <a:prstDash val="solid"/>
          </a:ln>
          <a:effectLst>
            <a:outerShdw blurRad="101600" dist="25400" dir="5400000" algn="bl" rotWithShape="0">
              <a:srgbClr val="0B2545">
                <a:alpha val="12000"/>
              </a:srgbClr>
            </a:outerShdw>
          </a:effectLst>
        </p:spPr>
        <p:txBody>
          <a:bodyPr/>
          <a:lstStyle/>
          <a:p>
            <a:endParaRPr lang="en-IN"/>
          </a:p>
        </p:txBody>
      </p:sp>
      <p:sp>
        <p:nvSpPr>
          <p:cNvPr id="7" name="Text 4"/>
          <p:cNvSpPr txBox="1"/>
          <p:nvPr/>
        </p:nvSpPr>
        <p:spPr>
          <a:xfrm>
            <a:off x="6190488" y="1691640"/>
            <a:ext cx="2377440" cy="274320"/>
          </a:xfrm>
          <a:prstGeom prst="rect">
            <a:avLst/>
          </a:prstGeom>
          <a:noFill/>
          <a:ln/>
        </p:spPr>
        <p:txBody>
          <a:bodyPr wrap="square" lIns="0" tIns="0" rIns="0" bIns="0" rtlCol="0" anchor="t"/>
          <a:lstStyle/>
          <a:p>
            <a:pPr marL="0" indent="0">
              <a:buNone/>
            </a:pPr>
            <a:r>
              <a:rPr lang="en-US" sz="1200" b="1" dirty="0">
                <a:solidFill>
                  <a:schemeClr val="accent1"/>
                </a:solidFill>
              </a:rPr>
              <a:t>MAE</a:t>
            </a:r>
            <a:endParaRPr lang="en-US" sz="1200" dirty="0"/>
          </a:p>
        </p:txBody>
      </p:sp>
      <p:sp>
        <p:nvSpPr>
          <p:cNvPr id="8" name="Text 5"/>
          <p:cNvSpPr txBox="1"/>
          <p:nvPr/>
        </p:nvSpPr>
        <p:spPr>
          <a:xfrm>
            <a:off x="6190488" y="1965960"/>
            <a:ext cx="2377440" cy="502920"/>
          </a:xfrm>
          <a:prstGeom prst="rect">
            <a:avLst/>
          </a:prstGeom>
          <a:noFill/>
          <a:ln/>
        </p:spPr>
        <p:txBody>
          <a:bodyPr wrap="square" lIns="0" tIns="0" rIns="0" bIns="0" rtlCol="0" anchor="ctr"/>
          <a:lstStyle/>
          <a:p>
            <a:pPr marL="0" indent="0">
              <a:buNone/>
            </a:pPr>
            <a:r>
              <a:rPr lang="en-US" sz="3000" b="1" dirty="0">
                <a:solidFill>
                  <a:schemeClr val="tx1"/>
                </a:solidFill>
              </a:rPr>
              <a:t>11.439</a:t>
            </a:r>
            <a:r>
              <a:rPr lang="en-US" sz="1300" dirty="0">
                <a:solidFill>
                  <a:schemeClr val="accent5"/>
                </a:solidFill>
              </a:rPr>
              <a:t>  mg/dL</a:t>
            </a:r>
            <a:endParaRPr lang="en-US" sz="1500" dirty="0"/>
          </a:p>
        </p:txBody>
      </p:sp>
      <p:sp>
        <p:nvSpPr>
          <p:cNvPr id="9" name="Text 6"/>
          <p:cNvSpPr txBox="1"/>
          <p:nvPr/>
        </p:nvSpPr>
        <p:spPr>
          <a:xfrm>
            <a:off x="6190488" y="2487168"/>
            <a:ext cx="2423160" cy="475488"/>
          </a:xfrm>
          <a:prstGeom prst="rect">
            <a:avLst/>
          </a:prstGeom>
          <a:noFill/>
          <a:ln/>
        </p:spPr>
        <p:txBody>
          <a:bodyPr wrap="square" lIns="0" tIns="0" rIns="0" bIns="0" rtlCol="0" anchor="t"/>
          <a:lstStyle/>
          <a:p>
            <a:pPr marL="0" indent="0">
              <a:buNone/>
            </a:pPr>
            <a:r>
              <a:rPr lang="en-US" sz="1100" dirty="0">
                <a:solidFill>
                  <a:schemeClr val="accent5"/>
                </a:solidFill>
              </a:rPr>
              <a:t>Average size of the error</a:t>
            </a:r>
            <a:endParaRPr lang="en-US" sz="1100" dirty="0"/>
          </a:p>
        </p:txBody>
      </p:sp>
      <p:sp>
        <p:nvSpPr>
          <p:cNvPr id="10" name="card"/>
          <p:cNvSpPr/>
          <p:nvPr/>
        </p:nvSpPr>
        <p:spPr>
          <a:xfrm>
            <a:off x="8897112" y="1554480"/>
            <a:ext cx="2743200" cy="1481328"/>
          </a:xfrm>
          <a:prstGeom prst="roundRect">
            <a:avLst>
              <a:gd name="adj" fmla="val 7407"/>
            </a:avLst>
          </a:prstGeom>
          <a:solidFill>
            <a:schemeClr val="bg1"/>
          </a:solidFill>
          <a:ln w="12700">
            <a:solidFill>
              <a:srgbClr val="D3DEE4"/>
            </a:solidFill>
            <a:prstDash val="solid"/>
          </a:ln>
          <a:effectLst>
            <a:outerShdw blurRad="101600" dist="25400" dir="5400000" algn="bl" rotWithShape="0">
              <a:srgbClr val="0B2545">
                <a:alpha val="12000"/>
              </a:srgbClr>
            </a:outerShdw>
          </a:effectLst>
        </p:spPr>
        <p:txBody>
          <a:bodyPr/>
          <a:lstStyle/>
          <a:p>
            <a:endParaRPr lang="en-IN"/>
          </a:p>
        </p:txBody>
      </p:sp>
      <p:sp>
        <p:nvSpPr>
          <p:cNvPr id="11" name="Text 8"/>
          <p:cNvSpPr txBox="1"/>
          <p:nvPr/>
        </p:nvSpPr>
        <p:spPr>
          <a:xfrm>
            <a:off x="9098280" y="1691640"/>
            <a:ext cx="2377440" cy="274320"/>
          </a:xfrm>
          <a:prstGeom prst="rect">
            <a:avLst/>
          </a:prstGeom>
          <a:noFill/>
          <a:ln/>
        </p:spPr>
        <p:txBody>
          <a:bodyPr wrap="square" lIns="0" tIns="0" rIns="0" bIns="0" rtlCol="0" anchor="t"/>
          <a:lstStyle/>
          <a:p>
            <a:pPr marL="0" indent="0">
              <a:buNone/>
            </a:pPr>
            <a:r>
              <a:rPr lang="en-US" sz="1200" b="1" dirty="0">
                <a:solidFill>
                  <a:schemeClr val="accent1"/>
                </a:solidFill>
              </a:rPr>
              <a:t>RMSE</a:t>
            </a:r>
            <a:endParaRPr lang="en-US" sz="1200" dirty="0"/>
          </a:p>
        </p:txBody>
      </p:sp>
      <p:sp>
        <p:nvSpPr>
          <p:cNvPr id="12" name="Text 9"/>
          <p:cNvSpPr txBox="1"/>
          <p:nvPr/>
        </p:nvSpPr>
        <p:spPr>
          <a:xfrm>
            <a:off x="9098280" y="1965960"/>
            <a:ext cx="2377440" cy="502920"/>
          </a:xfrm>
          <a:prstGeom prst="rect">
            <a:avLst/>
          </a:prstGeom>
          <a:noFill/>
          <a:ln/>
        </p:spPr>
        <p:txBody>
          <a:bodyPr wrap="square" lIns="0" tIns="0" rIns="0" bIns="0" rtlCol="0" anchor="ctr"/>
          <a:lstStyle/>
          <a:p>
            <a:pPr marL="0" indent="0">
              <a:buNone/>
            </a:pPr>
            <a:r>
              <a:rPr lang="en-US" sz="3000" b="1" dirty="0">
                <a:solidFill>
                  <a:schemeClr val="tx1"/>
                </a:solidFill>
              </a:rPr>
              <a:t>15.162</a:t>
            </a:r>
            <a:r>
              <a:rPr lang="en-US" sz="1300" dirty="0">
                <a:solidFill>
                  <a:schemeClr val="accent5"/>
                </a:solidFill>
              </a:rPr>
              <a:t>  mg/dL</a:t>
            </a:r>
            <a:endParaRPr lang="en-US" sz="1500" dirty="0"/>
          </a:p>
        </p:txBody>
      </p:sp>
      <p:sp>
        <p:nvSpPr>
          <p:cNvPr id="13" name="Text 10"/>
          <p:cNvSpPr txBox="1"/>
          <p:nvPr/>
        </p:nvSpPr>
        <p:spPr>
          <a:xfrm>
            <a:off x="9098280" y="2487168"/>
            <a:ext cx="2423160" cy="475488"/>
          </a:xfrm>
          <a:prstGeom prst="rect">
            <a:avLst/>
          </a:prstGeom>
          <a:noFill/>
          <a:ln/>
        </p:spPr>
        <p:txBody>
          <a:bodyPr wrap="square" lIns="0" tIns="0" rIns="0" bIns="0" rtlCol="0" anchor="t"/>
          <a:lstStyle/>
          <a:p>
            <a:pPr marL="0" indent="0">
              <a:buNone/>
            </a:pPr>
            <a:r>
              <a:rPr lang="en-US" sz="1100" dirty="0">
                <a:solidFill>
                  <a:schemeClr val="accent5"/>
                </a:solidFill>
              </a:rPr>
              <a:t>Like MAE, but punishes big misses more</a:t>
            </a:r>
            <a:endParaRPr lang="en-US" sz="1100" dirty="0"/>
          </a:p>
        </p:txBody>
      </p:sp>
      <p:sp>
        <p:nvSpPr>
          <p:cNvPr id="14" name="card"/>
          <p:cNvSpPr/>
          <p:nvPr/>
        </p:nvSpPr>
        <p:spPr>
          <a:xfrm>
            <a:off x="5989320" y="3218688"/>
            <a:ext cx="2743200" cy="1481328"/>
          </a:xfrm>
          <a:prstGeom prst="roundRect">
            <a:avLst>
              <a:gd name="adj" fmla="val 7407"/>
            </a:avLst>
          </a:prstGeom>
          <a:solidFill>
            <a:schemeClr val="bg1"/>
          </a:solidFill>
          <a:ln w="12700">
            <a:solidFill>
              <a:srgbClr val="D3DEE4"/>
            </a:solidFill>
            <a:prstDash val="solid"/>
          </a:ln>
          <a:effectLst>
            <a:outerShdw blurRad="101600" dist="25400" dir="5400000" algn="bl" rotWithShape="0">
              <a:srgbClr val="0B2545">
                <a:alpha val="12000"/>
              </a:srgbClr>
            </a:outerShdw>
          </a:effectLst>
        </p:spPr>
        <p:txBody>
          <a:bodyPr/>
          <a:lstStyle/>
          <a:p>
            <a:endParaRPr lang="en-IN"/>
          </a:p>
        </p:txBody>
      </p:sp>
      <p:sp>
        <p:nvSpPr>
          <p:cNvPr id="15" name="Text 12"/>
          <p:cNvSpPr txBox="1"/>
          <p:nvPr/>
        </p:nvSpPr>
        <p:spPr>
          <a:xfrm>
            <a:off x="6190488" y="3355848"/>
            <a:ext cx="2377440" cy="274320"/>
          </a:xfrm>
          <a:prstGeom prst="rect">
            <a:avLst/>
          </a:prstGeom>
          <a:noFill/>
          <a:ln/>
        </p:spPr>
        <p:txBody>
          <a:bodyPr wrap="square" lIns="0" tIns="0" rIns="0" bIns="0" rtlCol="0" anchor="t"/>
          <a:lstStyle/>
          <a:p>
            <a:pPr marL="0" indent="0">
              <a:buNone/>
            </a:pPr>
            <a:r>
              <a:rPr lang="en-US" sz="1200" b="1" dirty="0">
                <a:solidFill>
                  <a:schemeClr val="accent1"/>
                </a:solidFill>
              </a:rPr>
              <a:t>R²</a:t>
            </a:r>
            <a:endParaRPr lang="en-US" sz="1200" dirty="0"/>
          </a:p>
        </p:txBody>
      </p:sp>
      <p:sp>
        <p:nvSpPr>
          <p:cNvPr id="16" name="Text 13"/>
          <p:cNvSpPr txBox="1"/>
          <p:nvPr/>
        </p:nvSpPr>
        <p:spPr>
          <a:xfrm>
            <a:off x="6190488" y="3630168"/>
            <a:ext cx="2377440" cy="502920"/>
          </a:xfrm>
          <a:prstGeom prst="rect">
            <a:avLst/>
          </a:prstGeom>
          <a:noFill/>
          <a:ln/>
        </p:spPr>
        <p:txBody>
          <a:bodyPr wrap="square" lIns="0" tIns="0" rIns="0" bIns="0" rtlCol="0" anchor="ctr"/>
          <a:lstStyle/>
          <a:p>
            <a:pPr marL="0" indent="0">
              <a:buNone/>
            </a:pPr>
            <a:r>
              <a:rPr lang="en-US" sz="3000" b="1" dirty="0">
                <a:solidFill>
                  <a:schemeClr val="tx1"/>
                </a:solidFill>
              </a:rPr>
              <a:t>0.8298</a:t>
            </a:r>
            <a:endParaRPr lang="en-US" sz="1500" dirty="0"/>
          </a:p>
        </p:txBody>
      </p:sp>
      <p:sp>
        <p:nvSpPr>
          <p:cNvPr id="17" name="Text 14"/>
          <p:cNvSpPr txBox="1"/>
          <p:nvPr/>
        </p:nvSpPr>
        <p:spPr>
          <a:xfrm>
            <a:off x="6190488" y="4151376"/>
            <a:ext cx="2423160" cy="475488"/>
          </a:xfrm>
          <a:prstGeom prst="rect">
            <a:avLst/>
          </a:prstGeom>
          <a:noFill/>
          <a:ln/>
        </p:spPr>
        <p:txBody>
          <a:bodyPr wrap="square" lIns="0" tIns="0" rIns="0" bIns="0" rtlCol="0" anchor="t"/>
          <a:lstStyle/>
          <a:p>
            <a:pPr marL="0" indent="0">
              <a:buNone/>
            </a:pPr>
            <a:r>
              <a:rPr lang="en-US" sz="1100" dirty="0">
                <a:solidFill>
                  <a:schemeClr val="accent5"/>
                </a:solidFill>
              </a:rPr>
              <a:t>Share of glucose variation explained (1.0 = perfect)</a:t>
            </a:r>
            <a:endParaRPr lang="en-US" sz="1100" dirty="0"/>
          </a:p>
        </p:txBody>
      </p:sp>
      <p:sp>
        <p:nvSpPr>
          <p:cNvPr id="18" name="card"/>
          <p:cNvSpPr/>
          <p:nvPr/>
        </p:nvSpPr>
        <p:spPr>
          <a:xfrm>
            <a:off x="8897112" y="3218688"/>
            <a:ext cx="2743200" cy="1481328"/>
          </a:xfrm>
          <a:prstGeom prst="roundRect">
            <a:avLst>
              <a:gd name="adj" fmla="val 7407"/>
            </a:avLst>
          </a:prstGeom>
          <a:solidFill>
            <a:schemeClr val="bg2"/>
          </a:solidFill>
          <a:ln/>
        </p:spPr>
        <p:txBody>
          <a:bodyPr/>
          <a:lstStyle/>
          <a:p>
            <a:endParaRPr lang="en-IN"/>
          </a:p>
        </p:txBody>
      </p:sp>
      <p:sp>
        <p:nvSpPr>
          <p:cNvPr id="19" name="Text 16"/>
          <p:cNvSpPr txBox="1"/>
          <p:nvPr/>
        </p:nvSpPr>
        <p:spPr>
          <a:xfrm>
            <a:off x="9098280" y="3355848"/>
            <a:ext cx="2377440" cy="274320"/>
          </a:xfrm>
          <a:prstGeom prst="rect">
            <a:avLst/>
          </a:prstGeom>
          <a:noFill/>
          <a:ln/>
        </p:spPr>
        <p:txBody>
          <a:bodyPr wrap="square" lIns="0" tIns="0" rIns="0" bIns="0" rtlCol="0" anchor="t"/>
          <a:lstStyle/>
          <a:p>
            <a:pPr marL="0" indent="0">
              <a:buNone/>
            </a:pPr>
            <a:r>
              <a:rPr lang="en-US" sz="1200" b="1" dirty="0">
                <a:solidFill>
                  <a:schemeClr val="accent5"/>
                </a:solidFill>
              </a:rPr>
              <a:t>Baseline MAE</a:t>
            </a:r>
            <a:endParaRPr lang="en-US" sz="1200" dirty="0"/>
          </a:p>
        </p:txBody>
      </p:sp>
      <p:sp>
        <p:nvSpPr>
          <p:cNvPr id="20" name="Text 17"/>
          <p:cNvSpPr txBox="1"/>
          <p:nvPr/>
        </p:nvSpPr>
        <p:spPr>
          <a:xfrm>
            <a:off x="9098280" y="3630168"/>
            <a:ext cx="2377440" cy="502920"/>
          </a:xfrm>
          <a:prstGeom prst="rect">
            <a:avLst/>
          </a:prstGeom>
          <a:noFill/>
          <a:ln/>
        </p:spPr>
        <p:txBody>
          <a:bodyPr wrap="square" lIns="0" tIns="0" rIns="0" bIns="0" rtlCol="0" anchor="ctr"/>
          <a:lstStyle/>
          <a:p>
            <a:pPr marL="0" indent="0">
              <a:buNone/>
            </a:pPr>
            <a:r>
              <a:rPr lang="en-US" sz="3000" b="1" dirty="0">
                <a:solidFill>
                  <a:schemeClr val="tx1"/>
                </a:solidFill>
              </a:rPr>
              <a:t>19.049</a:t>
            </a:r>
            <a:r>
              <a:rPr lang="en-US" sz="1300" dirty="0">
                <a:solidFill>
                  <a:schemeClr val="accent5"/>
                </a:solidFill>
              </a:rPr>
              <a:t>  mg/dL</a:t>
            </a:r>
            <a:endParaRPr lang="en-US" sz="1500" dirty="0"/>
          </a:p>
        </p:txBody>
      </p:sp>
      <p:sp>
        <p:nvSpPr>
          <p:cNvPr id="21" name="Text 18"/>
          <p:cNvSpPr txBox="1"/>
          <p:nvPr/>
        </p:nvSpPr>
        <p:spPr>
          <a:xfrm>
            <a:off x="9098280" y="4151376"/>
            <a:ext cx="2423160" cy="475488"/>
          </a:xfrm>
          <a:prstGeom prst="rect">
            <a:avLst/>
          </a:prstGeom>
          <a:noFill/>
          <a:ln/>
        </p:spPr>
        <p:txBody>
          <a:bodyPr wrap="square" lIns="0" tIns="0" rIns="0" bIns="0" rtlCol="0" anchor="t"/>
          <a:lstStyle/>
          <a:p>
            <a:pPr marL="0" indent="0">
              <a:buNone/>
            </a:pPr>
            <a:r>
              <a:rPr lang="en-US" sz="1100" dirty="0">
                <a:solidFill>
                  <a:schemeClr val="accent5"/>
                </a:solidFill>
              </a:rPr>
              <a:t>“Glucose stays the same” guess</a:t>
            </a:r>
            <a:endParaRPr lang="en-US" sz="1100" dirty="0"/>
          </a:p>
        </p:txBody>
      </p:sp>
      <p:sp>
        <p:nvSpPr>
          <p:cNvPr id="22" name="caveat"/>
          <p:cNvSpPr/>
          <p:nvPr/>
        </p:nvSpPr>
        <p:spPr>
          <a:xfrm>
            <a:off x="5989320" y="4937760"/>
            <a:ext cx="5650992" cy="1143000"/>
          </a:xfrm>
          <a:prstGeom prst="roundRect">
            <a:avLst>
              <a:gd name="adj" fmla="val 8000"/>
            </a:avLst>
          </a:prstGeom>
          <a:solidFill>
            <a:schemeClr val="tx1"/>
          </a:solidFill>
          <a:ln/>
        </p:spPr>
        <p:txBody>
          <a:bodyPr/>
          <a:lstStyle/>
          <a:p>
            <a:endParaRPr lang="en-IN"/>
          </a:p>
        </p:txBody>
      </p:sp>
      <p:sp>
        <p:nvSpPr>
          <p:cNvPr id="23" name="Text 20"/>
          <p:cNvSpPr txBox="1"/>
          <p:nvPr/>
        </p:nvSpPr>
        <p:spPr>
          <a:xfrm>
            <a:off x="6217920" y="5029200"/>
            <a:ext cx="5257800" cy="960120"/>
          </a:xfrm>
          <a:prstGeom prst="rect">
            <a:avLst/>
          </a:prstGeom>
          <a:noFill/>
          <a:ln/>
        </p:spPr>
        <p:txBody>
          <a:bodyPr wrap="square" lIns="0" tIns="0" rIns="0" bIns="0" rtlCol="0" anchor="ctr"/>
          <a:lstStyle/>
          <a:p>
            <a:pPr marL="0" indent="0">
              <a:buNone/>
            </a:pPr>
            <a:r>
              <a:rPr lang="en-US" sz="1600" b="1" dirty="0">
                <a:solidFill>
                  <a:schemeClr val="accent2"/>
                </a:solidFill>
              </a:rPr>
              <a:t>≈39.9% lower MAE than baseline</a:t>
            </a:r>
            <a:endParaRPr lang="en-US" sz="1500" dirty="0"/>
          </a:p>
          <a:p>
            <a:pPr marL="0" indent="0">
              <a:buNone/>
            </a:pPr>
            <a:r>
              <a:rPr lang="en-US" sz="1300" dirty="0">
                <a:solidFill>
                  <a:schemeClr val="bg1"/>
                </a:solidFill>
              </a:rPr>
              <a:t>Measured on synthetic data only. It does not show real-world or clinical accuracy.</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10  ·  EARLY-WARNING LOGIC</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Simple, transparent rules turn a forecast into an alert</a:t>
            </a:r>
            <a:endParaRPr lang="en-US" sz="3400" dirty="0"/>
          </a:p>
        </p:txBody>
      </p:sp>
      <p:sp>
        <p:nvSpPr>
          <p:cNvPr id="4" name="card"/>
          <p:cNvSpPr/>
          <p:nvPr/>
        </p:nvSpPr>
        <p:spPr>
          <a:xfrm>
            <a:off x="548640" y="1691640"/>
            <a:ext cx="2926080" cy="1234440"/>
          </a:xfrm>
          <a:prstGeom prst="roundRect">
            <a:avLst>
              <a:gd name="adj" fmla="val 8889"/>
            </a:avLst>
          </a:prstGeom>
          <a:solidFill>
            <a:schemeClr val="bg2"/>
          </a:solidFill>
          <a:ln/>
        </p:spPr>
        <p:txBody>
          <a:bodyPr/>
          <a:lstStyle/>
          <a:p>
            <a:endParaRPr lang="en-IN"/>
          </a:p>
        </p:txBody>
      </p:sp>
      <p:sp>
        <p:nvSpPr>
          <p:cNvPr id="5" name="Text 3"/>
          <p:cNvSpPr txBox="1"/>
          <p:nvPr/>
        </p:nvSpPr>
        <p:spPr>
          <a:xfrm>
            <a:off x="777240" y="1856232"/>
            <a:ext cx="2514600" cy="914400"/>
          </a:xfrm>
          <a:prstGeom prst="rect">
            <a:avLst/>
          </a:prstGeom>
          <a:noFill/>
          <a:ln/>
        </p:spPr>
        <p:txBody>
          <a:bodyPr wrap="square" lIns="0" tIns="0" rIns="0" bIns="0" rtlCol="0" anchor="t"/>
          <a:lstStyle/>
          <a:p>
            <a:pPr marL="0" indent="0">
              <a:buNone/>
            </a:pPr>
            <a:r>
              <a:rPr lang="en-US" sz="1100" b="1" dirty="0">
                <a:solidFill>
                  <a:schemeClr val="accent1"/>
                </a:solidFill>
              </a:rPr>
              <a:t>Step 1</a:t>
            </a:r>
            <a:endParaRPr lang="en-US" sz="1500" dirty="0"/>
          </a:p>
          <a:p>
            <a:pPr marL="0" indent="0">
              <a:buNone/>
            </a:pPr>
            <a:r>
              <a:rPr lang="en-US" sz="1500" b="1" dirty="0">
                <a:solidFill>
                  <a:schemeClr val="tx1"/>
                </a:solidFill>
              </a:rPr>
              <a:t>Model forecasts glucose at +120 min</a:t>
            </a:r>
            <a:endParaRPr lang="en-US" sz="1500" dirty="0"/>
          </a:p>
        </p:txBody>
      </p:sp>
      <p:sp>
        <p:nvSpPr>
          <p:cNvPr id="6" name="Shape 4"/>
          <p:cNvSpPr/>
          <p:nvPr/>
        </p:nvSpPr>
        <p:spPr>
          <a:xfrm>
            <a:off x="3566160" y="2308860"/>
            <a:ext cx="548640" cy="914"/>
          </a:xfrm>
          <a:prstGeom prst="line">
            <a:avLst/>
          </a:prstGeom>
          <a:noFill/>
          <a:ln w="22225">
            <a:solidFill>
              <a:schemeClr val="accent1"/>
            </a:solidFill>
            <a:prstDash val="solid"/>
            <a:tailEnd type="triangle"/>
          </a:ln>
        </p:spPr>
        <p:txBody>
          <a:bodyPr/>
          <a:lstStyle/>
          <a:p>
            <a:endParaRPr lang="en-IN"/>
          </a:p>
        </p:txBody>
      </p:sp>
      <p:sp>
        <p:nvSpPr>
          <p:cNvPr id="7" name="card"/>
          <p:cNvSpPr/>
          <p:nvPr/>
        </p:nvSpPr>
        <p:spPr>
          <a:xfrm>
            <a:off x="4206240" y="1691640"/>
            <a:ext cx="2926080" cy="1234440"/>
          </a:xfrm>
          <a:prstGeom prst="roundRect">
            <a:avLst>
              <a:gd name="adj" fmla="val 8889"/>
            </a:avLst>
          </a:prstGeom>
          <a:solidFill>
            <a:schemeClr val="bg2"/>
          </a:solidFill>
          <a:ln/>
        </p:spPr>
        <p:txBody>
          <a:bodyPr/>
          <a:lstStyle/>
          <a:p>
            <a:endParaRPr lang="en-IN"/>
          </a:p>
        </p:txBody>
      </p:sp>
      <p:sp>
        <p:nvSpPr>
          <p:cNvPr id="8" name="Text 6"/>
          <p:cNvSpPr txBox="1"/>
          <p:nvPr/>
        </p:nvSpPr>
        <p:spPr>
          <a:xfrm>
            <a:off x="4434840" y="1856232"/>
            <a:ext cx="2514600" cy="914400"/>
          </a:xfrm>
          <a:prstGeom prst="rect">
            <a:avLst/>
          </a:prstGeom>
          <a:noFill/>
          <a:ln/>
        </p:spPr>
        <p:txBody>
          <a:bodyPr wrap="square" lIns="0" tIns="0" rIns="0" bIns="0" rtlCol="0" anchor="t"/>
          <a:lstStyle/>
          <a:p>
            <a:pPr marL="0" indent="0">
              <a:buNone/>
            </a:pPr>
            <a:r>
              <a:rPr lang="en-US" sz="1100" b="1" dirty="0">
                <a:solidFill>
                  <a:schemeClr val="accent1"/>
                </a:solidFill>
              </a:rPr>
              <a:t>Step 2</a:t>
            </a:r>
            <a:endParaRPr lang="en-US" sz="1500" dirty="0"/>
          </a:p>
          <a:p>
            <a:pPr marL="0" indent="0">
              <a:buNone/>
            </a:pPr>
            <a:r>
              <a:rPr lang="en-US" sz="1500" b="1" dirty="0">
                <a:solidFill>
                  <a:schemeClr val="tx1"/>
                </a:solidFill>
              </a:rPr>
              <a:t>Compare with demo thresholds (configurable)</a:t>
            </a:r>
            <a:endParaRPr lang="en-US" sz="1500" dirty="0"/>
          </a:p>
        </p:txBody>
      </p:sp>
      <p:sp>
        <p:nvSpPr>
          <p:cNvPr id="9" name="Shape 7"/>
          <p:cNvSpPr/>
          <p:nvPr/>
        </p:nvSpPr>
        <p:spPr>
          <a:xfrm>
            <a:off x="7223760" y="2308860"/>
            <a:ext cx="548640" cy="914"/>
          </a:xfrm>
          <a:prstGeom prst="line">
            <a:avLst/>
          </a:prstGeom>
          <a:noFill/>
          <a:ln w="22225">
            <a:solidFill>
              <a:schemeClr val="accent1"/>
            </a:solidFill>
            <a:prstDash val="solid"/>
            <a:tailEnd type="triangle"/>
          </a:ln>
        </p:spPr>
        <p:txBody>
          <a:bodyPr/>
          <a:lstStyle/>
          <a:p>
            <a:endParaRPr lang="en-IN"/>
          </a:p>
        </p:txBody>
      </p:sp>
      <p:sp>
        <p:nvSpPr>
          <p:cNvPr id="10" name="outcome"/>
          <p:cNvSpPr/>
          <p:nvPr/>
        </p:nvSpPr>
        <p:spPr>
          <a:xfrm>
            <a:off x="7863840" y="1645920"/>
            <a:ext cx="3776472" cy="384048"/>
          </a:xfrm>
          <a:prstGeom prst="roundRect">
            <a:avLst>
              <a:gd name="adj" fmla="val 19048"/>
            </a:avLst>
          </a:prstGeom>
          <a:solidFill>
            <a:schemeClr val="accent3"/>
          </a:solidFill>
          <a:ln/>
        </p:spPr>
        <p:txBody>
          <a:bodyPr/>
          <a:lstStyle/>
          <a:p>
            <a:endParaRPr lang="en-IN"/>
          </a:p>
        </p:txBody>
      </p:sp>
      <p:sp>
        <p:nvSpPr>
          <p:cNvPr id="11" name="Text 9"/>
          <p:cNvSpPr txBox="1"/>
          <p:nvPr/>
        </p:nvSpPr>
        <p:spPr>
          <a:xfrm>
            <a:off x="8046720" y="1645920"/>
            <a:ext cx="1737360" cy="384048"/>
          </a:xfrm>
          <a:prstGeom prst="rect">
            <a:avLst/>
          </a:prstGeom>
          <a:noFill/>
          <a:ln/>
        </p:spPr>
        <p:txBody>
          <a:bodyPr wrap="square" lIns="0" tIns="0" rIns="0" bIns="0" rtlCol="0" anchor="ctr"/>
          <a:lstStyle/>
          <a:p>
            <a:pPr marL="0" indent="0">
              <a:buNone/>
            </a:pPr>
            <a:r>
              <a:rPr lang="en-US" sz="1400" b="1" dirty="0">
                <a:solidFill>
                  <a:schemeClr val="bg1"/>
                </a:solidFill>
              </a:rPr>
              <a:t>≥ 180 mg/dL</a:t>
            </a:r>
            <a:endParaRPr lang="en-US" sz="1400" dirty="0"/>
          </a:p>
        </p:txBody>
      </p:sp>
      <p:sp>
        <p:nvSpPr>
          <p:cNvPr id="12" name="Text 10"/>
          <p:cNvSpPr txBox="1"/>
          <p:nvPr/>
        </p:nvSpPr>
        <p:spPr>
          <a:xfrm>
            <a:off x="9784080" y="1645920"/>
            <a:ext cx="1737360" cy="384048"/>
          </a:xfrm>
          <a:prstGeom prst="rect">
            <a:avLst/>
          </a:prstGeom>
          <a:noFill/>
          <a:ln/>
        </p:spPr>
        <p:txBody>
          <a:bodyPr wrap="square" lIns="0" tIns="0" rIns="0" bIns="0" rtlCol="0" anchor="ctr"/>
          <a:lstStyle/>
          <a:p>
            <a:pPr marL="0" indent="0" algn="r">
              <a:buNone/>
            </a:pPr>
            <a:r>
              <a:rPr lang="en-US" sz="1400" b="1" dirty="0">
                <a:solidFill>
                  <a:schemeClr val="bg1"/>
                </a:solidFill>
              </a:rPr>
              <a:t>High alert</a:t>
            </a:r>
            <a:endParaRPr lang="en-US" sz="1400" dirty="0"/>
          </a:p>
        </p:txBody>
      </p:sp>
      <p:sp>
        <p:nvSpPr>
          <p:cNvPr id="13" name="outcome"/>
          <p:cNvSpPr/>
          <p:nvPr/>
        </p:nvSpPr>
        <p:spPr>
          <a:xfrm>
            <a:off x="7863840" y="2103120"/>
            <a:ext cx="3776472" cy="384048"/>
          </a:xfrm>
          <a:prstGeom prst="roundRect">
            <a:avLst>
              <a:gd name="adj" fmla="val 19048"/>
            </a:avLst>
          </a:prstGeom>
          <a:solidFill>
            <a:schemeClr val="accent2"/>
          </a:solidFill>
          <a:ln/>
        </p:spPr>
        <p:txBody>
          <a:bodyPr/>
          <a:lstStyle/>
          <a:p>
            <a:endParaRPr lang="en-IN"/>
          </a:p>
        </p:txBody>
      </p:sp>
      <p:sp>
        <p:nvSpPr>
          <p:cNvPr id="14" name="Text 12"/>
          <p:cNvSpPr txBox="1"/>
          <p:nvPr/>
        </p:nvSpPr>
        <p:spPr>
          <a:xfrm>
            <a:off x="8046720" y="2103120"/>
            <a:ext cx="1737360" cy="384048"/>
          </a:xfrm>
          <a:prstGeom prst="rect">
            <a:avLst/>
          </a:prstGeom>
          <a:noFill/>
          <a:ln/>
        </p:spPr>
        <p:txBody>
          <a:bodyPr wrap="square" lIns="0" tIns="0" rIns="0" bIns="0" rtlCol="0" anchor="ctr"/>
          <a:lstStyle/>
          <a:p>
            <a:pPr marL="0" indent="0">
              <a:buNone/>
            </a:pPr>
            <a:r>
              <a:rPr lang="en-US" sz="1400" b="1" dirty="0">
                <a:solidFill>
                  <a:schemeClr val="bg1"/>
                </a:solidFill>
              </a:rPr>
              <a:t>70 – 179</a:t>
            </a:r>
            <a:endParaRPr lang="en-US" sz="1400" dirty="0"/>
          </a:p>
        </p:txBody>
      </p:sp>
      <p:sp>
        <p:nvSpPr>
          <p:cNvPr id="15" name="Text 13"/>
          <p:cNvSpPr txBox="1"/>
          <p:nvPr/>
        </p:nvSpPr>
        <p:spPr>
          <a:xfrm>
            <a:off x="9784080" y="2103120"/>
            <a:ext cx="1737360" cy="384048"/>
          </a:xfrm>
          <a:prstGeom prst="rect">
            <a:avLst/>
          </a:prstGeom>
          <a:noFill/>
          <a:ln/>
        </p:spPr>
        <p:txBody>
          <a:bodyPr wrap="square" lIns="0" tIns="0" rIns="0" bIns="0" rtlCol="0" anchor="ctr"/>
          <a:lstStyle/>
          <a:p>
            <a:pPr marL="0" indent="0" algn="r">
              <a:buNone/>
            </a:pPr>
            <a:r>
              <a:rPr lang="en-US" sz="1400" b="1" dirty="0">
                <a:solidFill>
                  <a:schemeClr val="bg1"/>
                </a:solidFill>
              </a:rPr>
              <a:t>No alert</a:t>
            </a:r>
            <a:endParaRPr lang="en-US" sz="1400" dirty="0"/>
          </a:p>
        </p:txBody>
      </p:sp>
      <p:sp>
        <p:nvSpPr>
          <p:cNvPr id="16" name="outcome"/>
          <p:cNvSpPr/>
          <p:nvPr/>
        </p:nvSpPr>
        <p:spPr>
          <a:xfrm>
            <a:off x="7863840" y="2560320"/>
            <a:ext cx="3776472" cy="384048"/>
          </a:xfrm>
          <a:prstGeom prst="roundRect">
            <a:avLst>
              <a:gd name="adj" fmla="val 19048"/>
            </a:avLst>
          </a:prstGeom>
          <a:solidFill>
            <a:schemeClr val="accent4"/>
          </a:solidFill>
          <a:ln/>
        </p:spPr>
        <p:txBody>
          <a:bodyPr/>
          <a:lstStyle/>
          <a:p>
            <a:endParaRPr lang="en-IN"/>
          </a:p>
        </p:txBody>
      </p:sp>
      <p:sp>
        <p:nvSpPr>
          <p:cNvPr id="17" name="Text 15"/>
          <p:cNvSpPr txBox="1"/>
          <p:nvPr/>
        </p:nvSpPr>
        <p:spPr>
          <a:xfrm>
            <a:off x="8046720" y="2560320"/>
            <a:ext cx="1737360" cy="384048"/>
          </a:xfrm>
          <a:prstGeom prst="rect">
            <a:avLst/>
          </a:prstGeom>
          <a:noFill/>
          <a:ln/>
        </p:spPr>
        <p:txBody>
          <a:bodyPr wrap="square" lIns="0" tIns="0" rIns="0" bIns="0" rtlCol="0" anchor="ctr"/>
          <a:lstStyle/>
          <a:p>
            <a:pPr marL="0" indent="0">
              <a:buNone/>
            </a:pPr>
            <a:r>
              <a:rPr lang="en-US" sz="1400" b="1" dirty="0">
                <a:solidFill>
                  <a:schemeClr val="bg1"/>
                </a:solidFill>
              </a:rPr>
              <a:t>&lt; 70 mg/dL</a:t>
            </a:r>
            <a:endParaRPr lang="en-US" sz="1400" dirty="0"/>
          </a:p>
        </p:txBody>
      </p:sp>
      <p:sp>
        <p:nvSpPr>
          <p:cNvPr id="18" name="Text 16"/>
          <p:cNvSpPr txBox="1"/>
          <p:nvPr/>
        </p:nvSpPr>
        <p:spPr>
          <a:xfrm>
            <a:off x="9784080" y="2560320"/>
            <a:ext cx="1737360" cy="384048"/>
          </a:xfrm>
          <a:prstGeom prst="rect">
            <a:avLst/>
          </a:prstGeom>
          <a:noFill/>
          <a:ln/>
        </p:spPr>
        <p:txBody>
          <a:bodyPr wrap="square" lIns="0" tIns="0" rIns="0" bIns="0" rtlCol="0" anchor="ctr"/>
          <a:lstStyle/>
          <a:p>
            <a:pPr marL="0" indent="0" algn="r">
              <a:buNone/>
            </a:pPr>
            <a:r>
              <a:rPr lang="en-US" sz="1400" b="1" dirty="0">
                <a:solidFill>
                  <a:schemeClr val="bg1"/>
                </a:solidFill>
              </a:rPr>
              <a:t>Low alert</a:t>
            </a:r>
            <a:endParaRPr lang="en-US" sz="1400" dirty="0"/>
          </a:p>
        </p:txBody>
      </p:sp>
      <p:sp>
        <p:nvSpPr>
          <p:cNvPr id="19" name="Text 17"/>
          <p:cNvSpPr txBox="1"/>
          <p:nvPr/>
        </p:nvSpPr>
        <p:spPr>
          <a:xfrm>
            <a:off x="548640" y="3337560"/>
            <a:ext cx="5486400" cy="320040"/>
          </a:xfrm>
          <a:prstGeom prst="rect">
            <a:avLst/>
          </a:prstGeom>
          <a:noFill/>
          <a:ln/>
        </p:spPr>
        <p:txBody>
          <a:bodyPr wrap="square" lIns="0" tIns="0" rIns="0" bIns="0" rtlCol="0" anchor="t"/>
          <a:lstStyle/>
          <a:p>
            <a:pPr marL="0" indent="0">
              <a:buNone/>
            </a:pPr>
            <a:r>
              <a:rPr lang="en-US" sz="1500" b="1" dirty="0">
                <a:solidFill>
                  <a:schemeClr val="tx1"/>
                </a:solidFill>
              </a:rPr>
              <a:t>Where a forecast lands</a:t>
            </a:r>
            <a:endParaRPr lang="en-US" sz="1500" dirty="0"/>
          </a:p>
        </p:txBody>
      </p:sp>
      <p:sp>
        <p:nvSpPr>
          <p:cNvPr id="20" name="Shape 18"/>
          <p:cNvSpPr/>
          <p:nvPr/>
        </p:nvSpPr>
        <p:spPr>
          <a:xfrm>
            <a:off x="548640" y="3794760"/>
            <a:ext cx="2588057" cy="411480"/>
          </a:xfrm>
          <a:prstGeom prst="rect">
            <a:avLst/>
          </a:prstGeom>
          <a:solidFill>
            <a:schemeClr val="accent4"/>
          </a:solidFill>
          <a:ln/>
        </p:spPr>
        <p:txBody>
          <a:bodyPr/>
          <a:lstStyle/>
          <a:p>
            <a:endParaRPr lang="en-IN"/>
          </a:p>
        </p:txBody>
      </p:sp>
      <p:sp>
        <p:nvSpPr>
          <p:cNvPr id="21" name="Shape 19"/>
          <p:cNvSpPr/>
          <p:nvPr/>
        </p:nvSpPr>
        <p:spPr>
          <a:xfrm>
            <a:off x="3136697" y="3794760"/>
            <a:ext cx="4066946" cy="411480"/>
          </a:xfrm>
          <a:prstGeom prst="rect">
            <a:avLst/>
          </a:prstGeom>
          <a:solidFill>
            <a:schemeClr val="accent2"/>
          </a:solidFill>
          <a:ln/>
        </p:spPr>
        <p:txBody>
          <a:bodyPr/>
          <a:lstStyle/>
          <a:p>
            <a:endParaRPr lang="en-IN"/>
          </a:p>
        </p:txBody>
      </p:sp>
      <p:sp>
        <p:nvSpPr>
          <p:cNvPr id="22" name="Shape 20"/>
          <p:cNvSpPr/>
          <p:nvPr/>
        </p:nvSpPr>
        <p:spPr>
          <a:xfrm>
            <a:off x="7203643" y="3794760"/>
            <a:ext cx="4436669" cy="411480"/>
          </a:xfrm>
          <a:prstGeom prst="rect">
            <a:avLst/>
          </a:prstGeom>
          <a:solidFill>
            <a:schemeClr val="accent3"/>
          </a:solidFill>
          <a:ln/>
        </p:spPr>
        <p:txBody>
          <a:bodyPr/>
          <a:lstStyle/>
          <a:p>
            <a:endParaRPr lang="en-IN"/>
          </a:p>
        </p:txBody>
      </p:sp>
      <p:sp>
        <p:nvSpPr>
          <p:cNvPr id="23" name="Text 21"/>
          <p:cNvSpPr txBox="1"/>
          <p:nvPr/>
        </p:nvSpPr>
        <p:spPr>
          <a:xfrm>
            <a:off x="182880" y="4251960"/>
            <a:ext cx="731520" cy="228600"/>
          </a:xfrm>
          <a:prstGeom prst="rect">
            <a:avLst/>
          </a:prstGeom>
          <a:noFill/>
          <a:ln/>
        </p:spPr>
        <p:txBody>
          <a:bodyPr wrap="square" lIns="0" tIns="0" rIns="0" bIns="0" rtlCol="0" anchor="t"/>
          <a:lstStyle/>
          <a:p>
            <a:pPr marL="0" indent="0" algn="ctr">
              <a:buNone/>
            </a:pPr>
            <a:r>
              <a:rPr lang="en-US" sz="1100" dirty="0">
                <a:solidFill>
                  <a:schemeClr val="accent5"/>
                </a:solidFill>
              </a:rPr>
              <a:t>0</a:t>
            </a:r>
            <a:endParaRPr lang="en-US" sz="1100" dirty="0"/>
          </a:p>
        </p:txBody>
      </p:sp>
      <p:sp>
        <p:nvSpPr>
          <p:cNvPr id="24" name="Text 22"/>
          <p:cNvSpPr txBox="1"/>
          <p:nvPr/>
        </p:nvSpPr>
        <p:spPr>
          <a:xfrm>
            <a:off x="2770937" y="4251960"/>
            <a:ext cx="731520" cy="228600"/>
          </a:xfrm>
          <a:prstGeom prst="rect">
            <a:avLst/>
          </a:prstGeom>
          <a:noFill/>
          <a:ln/>
        </p:spPr>
        <p:txBody>
          <a:bodyPr wrap="square" lIns="0" tIns="0" rIns="0" bIns="0" rtlCol="0" anchor="t"/>
          <a:lstStyle/>
          <a:p>
            <a:pPr marL="0" indent="0" algn="ctr">
              <a:buNone/>
            </a:pPr>
            <a:r>
              <a:rPr lang="en-US" sz="1100" dirty="0">
                <a:solidFill>
                  <a:schemeClr val="accent5"/>
                </a:solidFill>
              </a:rPr>
              <a:t>70</a:t>
            </a:r>
            <a:endParaRPr lang="en-US" sz="1100" dirty="0"/>
          </a:p>
        </p:txBody>
      </p:sp>
      <p:sp>
        <p:nvSpPr>
          <p:cNvPr id="25" name="Text 23"/>
          <p:cNvSpPr txBox="1"/>
          <p:nvPr/>
        </p:nvSpPr>
        <p:spPr>
          <a:xfrm>
            <a:off x="6837883" y="4251960"/>
            <a:ext cx="731520" cy="228600"/>
          </a:xfrm>
          <a:prstGeom prst="rect">
            <a:avLst/>
          </a:prstGeom>
          <a:noFill/>
          <a:ln/>
        </p:spPr>
        <p:txBody>
          <a:bodyPr wrap="square" lIns="0" tIns="0" rIns="0" bIns="0" rtlCol="0" anchor="t"/>
          <a:lstStyle/>
          <a:p>
            <a:pPr marL="0" indent="0" algn="ctr">
              <a:buNone/>
            </a:pPr>
            <a:r>
              <a:rPr lang="en-US" sz="1100" dirty="0">
                <a:solidFill>
                  <a:schemeClr val="accent5"/>
                </a:solidFill>
              </a:rPr>
              <a:t>180</a:t>
            </a:r>
            <a:endParaRPr lang="en-US" sz="1100" dirty="0"/>
          </a:p>
        </p:txBody>
      </p:sp>
      <p:sp>
        <p:nvSpPr>
          <p:cNvPr id="26" name="Text 24"/>
          <p:cNvSpPr txBox="1"/>
          <p:nvPr/>
        </p:nvSpPr>
        <p:spPr>
          <a:xfrm>
            <a:off x="11274552" y="4251960"/>
            <a:ext cx="731520" cy="228600"/>
          </a:xfrm>
          <a:prstGeom prst="rect">
            <a:avLst/>
          </a:prstGeom>
          <a:noFill/>
          <a:ln/>
        </p:spPr>
        <p:txBody>
          <a:bodyPr wrap="square" lIns="0" tIns="0" rIns="0" bIns="0" rtlCol="0" anchor="t"/>
          <a:lstStyle/>
          <a:p>
            <a:pPr marL="0" indent="0" algn="ctr">
              <a:buNone/>
            </a:pPr>
            <a:r>
              <a:rPr lang="en-US" sz="1100" dirty="0">
                <a:solidFill>
                  <a:schemeClr val="accent5"/>
                </a:solidFill>
              </a:rPr>
              <a:t>300</a:t>
            </a:r>
            <a:endParaRPr lang="en-US" sz="1100" dirty="0"/>
          </a:p>
        </p:txBody>
      </p:sp>
      <p:sp>
        <p:nvSpPr>
          <p:cNvPr id="27" name="Shape 25"/>
          <p:cNvSpPr/>
          <p:nvPr/>
        </p:nvSpPr>
        <p:spPr>
          <a:xfrm>
            <a:off x="7584095" y="3410712"/>
            <a:ext cx="274320" cy="329184"/>
          </a:xfrm>
          <a:prstGeom prst="downArrow">
            <a:avLst/>
          </a:prstGeom>
          <a:solidFill>
            <a:schemeClr val="tx1"/>
          </a:solidFill>
          <a:ln/>
        </p:spPr>
        <p:txBody>
          <a:bodyPr/>
          <a:lstStyle/>
          <a:p>
            <a:endParaRPr lang="en-IN"/>
          </a:p>
        </p:txBody>
      </p:sp>
      <p:sp>
        <p:nvSpPr>
          <p:cNvPr id="28" name="Text 26"/>
          <p:cNvSpPr txBox="1"/>
          <p:nvPr/>
        </p:nvSpPr>
        <p:spPr>
          <a:xfrm>
            <a:off x="7949855" y="3383280"/>
            <a:ext cx="3200400" cy="320040"/>
          </a:xfrm>
          <a:prstGeom prst="rect">
            <a:avLst/>
          </a:prstGeom>
          <a:noFill/>
          <a:ln/>
        </p:spPr>
        <p:txBody>
          <a:bodyPr wrap="square" lIns="0" tIns="0" rIns="0" bIns="0" rtlCol="0" anchor="t"/>
          <a:lstStyle/>
          <a:p>
            <a:pPr marL="0" indent="0">
              <a:buNone/>
            </a:pPr>
            <a:r>
              <a:rPr lang="en-US" sz="1200" b="1" dirty="0">
                <a:solidFill>
                  <a:schemeClr val="tx1"/>
                </a:solidFill>
              </a:rPr>
              <a:t>Illustrative forecast: 194 → high alert</a:t>
            </a:r>
            <a:endParaRPr lang="en-US" sz="1200" dirty="0"/>
          </a:p>
        </p:txBody>
      </p:sp>
      <p:sp>
        <p:nvSpPr>
          <p:cNvPr id="29" name="card"/>
          <p:cNvSpPr/>
          <p:nvPr/>
        </p:nvSpPr>
        <p:spPr>
          <a:xfrm>
            <a:off x="548640" y="4800600"/>
            <a:ext cx="5394960" cy="1051560"/>
          </a:xfrm>
          <a:prstGeom prst="roundRect">
            <a:avLst>
              <a:gd name="adj" fmla="val 10435"/>
            </a:avLst>
          </a:prstGeom>
          <a:solidFill>
            <a:schemeClr val="bg1"/>
          </a:solidFill>
          <a:ln w="12700">
            <a:solidFill>
              <a:srgbClr val="D3DEE4"/>
            </a:solidFill>
            <a:prstDash val="solid"/>
          </a:ln>
          <a:effectLst>
            <a:outerShdw blurRad="101600" dist="25400" dir="5400000" algn="bl" rotWithShape="0">
              <a:srgbClr val="0B2545">
                <a:alpha val="12000"/>
              </a:srgbClr>
            </a:outerShdw>
          </a:effectLst>
        </p:spPr>
        <p:txBody>
          <a:bodyPr/>
          <a:lstStyle/>
          <a:p>
            <a:endParaRPr lang="en-IN"/>
          </a:p>
        </p:txBody>
      </p:sp>
      <p:sp>
        <p:nvSpPr>
          <p:cNvPr id="30" name="icon-circle"/>
          <p:cNvSpPr/>
          <p:nvPr/>
        </p:nvSpPr>
        <p:spPr>
          <a:xfrm>
            <a:off x="777240" y="5001768"/>
            <a:ext cx="502920" cy="502920"/>
          </a:xfrm>
          <a:prstGeom prst="ellipse">
            <a:avLst/>
          </a:prstGeom>
          <a:solidFill>
            <a:schemeClr val="accent1"/>
          </a:solidFill>
          <a:ln/>
        </p:spPr>
        <p:txBody>
          <a:bodyPr/>
          <a:lstStyle/>
          <a:p>
            <a:endParaRPr lang="en-IN"/>
          </a:p>
        </p:txBody>
      </p:sp>
      <p:pic>
        <p:nvPicPr>
          <p:cNvPr id="31" name="icon-FaSlidersH" descr="preencoded.png"/>
          <p:cNvPicPr>
            <a:picLocks noChangeAspect="1"/>
          </p:cNvPicPr>
          <p:nvPr/>
        </p:nvPicPr>
        <p:blipFill>
          <a:blip r:embed="rId3"/>
          <a:stretch>
            <a:fillRect/>
          </a:stretch>
        </p:blipFill>
        <p:spPr>
          <a:xfrm>
            <a:off x="907999" y="5132527"/>
            <a:ext cx="241402" cy="241402"/>
          </a:xfrm>
          <a:prstGeom prst="rect">
            <a:avLst/>
          </a:prstGeom>
        </p:spPr>
      </p:pic>
      <p:sp>
        <p:nvSpPr>
          <p:cNvPr id="32" name="Text 29"/>
          <p:cNvSpPr txBox="1"/>
          <p:nvPr/>
        </p:nvSpPr>
        <p:spPr>
          <a:xfrm>
            <a:off x="1463040" y="4956048"/>
            <a:ext cx="4297680" cy="1005840"/>
          </a:xfrm>
          <a:prstGeom prst="rect">
            <a:avLst/>
          </a:prstGeom>
          <a:noFill/>
          <a:ln/>
        </p:spPr>
        <p:txBody>
          <a:bodyPr wrap="square" lIns="0" tIns="0" rIns="0" bIns="0" rtlCol="0" anchor="t"/>
          <a:lstStyle/>
          <a:p>
            <a:pPr marL="0" indent="0">
              <a:buNone/>
            </a:pPr>
            <a:r>
              <a:rPr lang="en-US" sz="1500" b="1" dirty="0">
                <a:solidFill>
                  <a:schemeClr val="tx1"/>
                </a:solidFill>
              </a:rPr>
              <a:t>What the alert means</a:t>
            </a:r>
            <a:endParaRPr lang="en-US" sz="1500" dirty="0"/>
          </a:p>
          <a:p>
            <a:pPr marL="0" indent="0">
              <a:buNone/>
            </a:pPr>
            <a:r>
              <a:rPr lang="en-US" sz="1300" dirty="0">
                <a:solidFill>
                  <a:schemeClr val="accent5"/>
                </a:solidFill>
              </a:rPr>
              <a:t>“Worth a closer look in the next two hours.” A prompt for attention, not a certainty.</a:t>
            </a:r>
            <a:endParaRPr lang="en-US" sz="1500" dirty="0"/>
          </a:p>
        </p:txBody>
      </p:sp>
      <p:sp>
        <p:nvSpPr>
          <p:cNvPr id="33" name="card"/>
          <p:cNvSpPr/>
          <p:nvPr/>
        </p:nvSpPr>
        <p:spPr>
          <a:xfrm>
            <a:off x="6245352" y="4800600"/>
            <a:ext cx="5394960" cy="1051560"/>
          </a:xfrm>
          <a:prstGeom prst="roundRect">
            <a:avLst>
              <a:gd name="adj" fmla="val 10435"/>
            </a:avLst>
          </a:prstGeom>
          <a:solidFill>
            <a:schemeClr val="bg1"/>
          </a:solidFill>
          <a:ln w="12700">
            <a:solidFill>
              <a:srgbClr val="D3DEE4"/>
            </a:solidFill>
            <a:prstDash val="solid"/>
          </a:ln>
          <a:effectLst>
            <a:outerShdw blurRad="101600" dist="25400" dir="5400000" algn="bl" rotWithShape="0">
              <a:srgbClr val="0B2545">
                <a:alpha val="12000"/>
              </a:srgbClr>
            </a:outerShdw>
          </a:effectLst>
        </p:spPr>
        <p:txBody>
          <a:bodyPr/>
          <a:lstStyle/>
          <a:p>
            <a:endParaRPr lang="en-IN"/>
          </a:p>
        </p:txBody>
      </p:sp>
      <p:sp>
        <p:nvSpPr>
          <p:cNvPr id="34" name="icon-circle"/>
          <p:cNvSpPr/>
          <p:nvPr/>
        </p:nvSpPr>
        <p:spPr>
          <a:xfrm>
            <a:off x="6473952" y="5001768"/>
            <a:ext cx="502920" cy="502920"/>
          </a:xfrm>
          <a:prstGeom prst="ellipse">
            <a:avLst/>
          </a:prstGeom>
          <a:solidFill>
            <a:schemeClr val="accent5"/>
          </a:solidFill>
          <a:ln/>
        </p:spPr>
        <p:txBody>
          <a:bodyPr/>
          <a:lstStyle/>
          <a:p>
            <a:endParaRPr lang="en-IN"/>
          </a:p>
        </p:txBody>
      </p:sp>
      <p:pic>
        <p:nvPicPr>
          <p:cNvPr id="35" name="icon-FaShieldAlt" descr="preencoded.png"/>
          <p:cNvPicPr>
            <a:picLocks noChangeAspect="1"/>
          </p:cNvPicPr>
          <p:nvPr/>
        </p:nvPicPr>
        <p:blipFill>
          <a:blip r:embed="rId4"/>
          <a:stretch>
            <a:fillRect/>
          </a:stretch>
        </p:blipFill>
        <p:spPr>
          <a:xfrm>
            <a:off x="6604711" y="5132527"/>
            <a:ext cx="241402" cy="241402"/>
          </a:xfrm>
          <a:prstGeom prst="rect">
            <a:avLst/>
          </a:prstGeom>
        </p:spPr>
      </p:pic>
      <p:sp>
        <p:nvSpPr>
          <p:cNvPr id="36" name="Text 32"/>
          <p:cNvSpPr txBox="1"/>
          <p:nvPr/>
        </p:nvSpPr>
        <p:spPr>
          <a:xfrm>
            <a:off x="7159752" y="4956048"/>
            <a:ext cx="4297680" cy="1005840"/>
          </a:xfrm>
          <a:prstGeom prst="rect">
            <a:avLst/>
          </a:prstGeom>
          <a:noFill/>
          <a:ln/>
        </p:spPr>
        <p:txBody>
          <a:bodyPr wrap="square" lIns="0" tIns="0" rIns="0" bIns="0" rtlCol="0" anchor="t"/>
          <a:lstStyle/>
          <a:p>
            <a:pPr marL="0" indent="0">
              <a:buNone/>
            </a:pPr>
            <a:r>
              <a:rPr lang="en-US" sz="1500" b="1" dirty="0">
                <a:solidFill>
                  <a:schemeClr val="tx1"/>
                </a:solidFill>
              </a:rPr>
              <a:t>What it is not</a:t>
            </a:r>
            <a:endParaRPr lang="en-US" sz="1500" dirty="0"/>
          </a:p>
          <a:p>
            <a:pPr marL="0" indent="0">
              <a:buNone/>
            </a:pPr>
            <a:r>
              <a:rPr lang="en-US" sz="1300" dirty="0">
                <a:solidFill>
                  <a:schemeClr val="accent5"/>
                </a:solidFill>
              </a:rPr>
              <a:t>Not a diagnosis, not personal medical advice, and no dosing or treatment suggestions.</a:t>
            </a:r>
            <a:endParaRPr lang="en-US" sz="1500" dirty="0"/>
          </a:p>
        </p:txBody>
      </p:sp>
      <p:sp>
        <p:nvSpPr>
          <p:cNvPr id="3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11  ·  INNOVATION, STRENGTHS AND LIMITATIONS</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What we built well, and what it cannot claim yet</a:t>
            </a:r>
            <a:endParaRPr lang="en-US" sz="3400" dirty="0"/>
          </a:p>
        </p:txBody>
      </p:sp>
      <p:sp>
        <p:nvSpPr>
          <p:cNvPr id="4" name="card"/>
          <p:cNvSpPr/>
          <p:nvPr/>
        </p:nvSpPr>
        <p:spPr>
          <a:xfrm>
            <a:off x="548640" y="1600200"/>
            <a:ext cx="5394960" cy="4434840"/>
          </a:xfrm>
          <a:prstGeom prst="roundRect">
            <a:avLst>
              <a:gd name="adj" fmla="val 2474"/>
            </a:avLst>
          </a:prstGeom>
          <a:solidFill>
            <a:schemeClr val="bg2"/>
          </a:solidFill>
          <a:ln/>
        </p:spPr>
        <p:txBody>
          <a:bodyPr/>
          <a:lstStyle/>
          <a:p>
            <a:endParaRPr lang="en-IN"/>
          </a:p>
        </p:txBody>
      </p:sp>
      <p:sp>
        <p:nvSpPr>
          <p:cNvPr id="5" name="icon-circle"/>
          <p:cNvSpPr/>
          <p:nvPr/>
        </p:nvSpPr>
        <p:spPr>
          <a:xfrm>
            <a:off x="822960" y="1801368"/>
            <a:ext cx="548640" cy="548640"/>
          </a:xfrm>
          <a:prstGeom prst="ellipse">
            <a:avLst/>
          </a:prstGeom>
          <a:solidFill>
            <a:schemeClr val="accent2"/>
          </a:solidFill>
          <a:ln/>
        </p:spPr>
        <p:txBody>
          <a:bodyPr/>
          <a:lstStyle/>
          <a:p>
            <a:endParaRPr lang="en-IN"/>
          </a:p>
        </p:txBody>
      </p:sp>
      <p:pic>
        <p:nvPicPr>
          <p:cNvPr id="6" name="icon-FaCheckCircle" descr="preencoded.png"/>
          <p:cNvPicPr>
            <a:picLocks noChangeAspect="1"/>
          </p:cNvPicPr>
          <p:nvPr/>
        </p:nvPicPr>
        <p:blipFill>
          <a:blip r:embed="rId3"/>
          <a:stretch>
            <a:fillRect/>
          </a:stretch>
        </p:blipFill>
        <p:spPr>
          <a:xfrm>
            <a:off x="965606" y="1944014"/>
            <a:ext cx="263347" cy="263347"/>
          </a:xfrm>
          <a:prstGeom prst="rect">
            <a:avLst/>
          </a:prstGeom>
        </p:spPr>
      </p:pic>
      <p:sp>
        <p:nvSpPr>
          <p:cNvPr id="7" name="Text 4"/>
          <p:cNvSpPr txBox="1"/>
          <p:nvPr/>
        </p:nvSpPr>
        <p:spPr>
          <a:xfrm>
            <a:off x="1554480" y="1874520"/>
            <a:ext cx="4114800" cy="411480"/>
          </a:xfrm>
          <a:prstGeom prst="rect">
            <a:avLst/>
          </a:prstGeom>
          <a:noFill/>
          <a:ln/>
        </p:spPr>
        <p:txBody>
          <a:bodyPr wrap="square" lIns="0" tIns="0" rIns="0" bIns="0" rtlCol="0" anchor="t"/>
          <a:lstStyle/>
          <a:p>
            <a:pPr marL="0" indent="0">
              <a:buNone/>
            </a:pPr>
            <a:r>
              <a:rPr lang="en-US" sz="2000" b="1" dirty="0">
                <a:solidFill>
                  <a:schemeClr val="tx1"/>
                </a:solidFill>
              </a:rPr>
              <a:t>Strengths</a:t>
            </a:r>
            <a:endParaRPr lang="en-US" sz="2000" dirty="0"/>
          </a:p>
        </p:txBody>
      </p:sp>
      <p:sp>
        <p:nvSpPr>
          <p:cNvPr id="8" name="Shape 5"/>
          <p:cNvSpPr/>
          <p:nvPr/>
        </p:nvSpPr>
        <p:spPr>
          <a:xfrm>
            <a:off x="932688" y="2679192"/>
            <a:ext cx="146304" cy="146304"/>
          </a:xfrm>
          <a:prstGeom prst="ellipse">
            <a:avLst/>
          </a:prstGeom>
          <a:solidFill>
            <a:schemeClr val="accent2"/>
          </a:solidFill>
          <a:ln/>
        </p:spPr>
        <p:txBody>
          <a:bodyPr/>
          <a:lstStyle/>
          <a:p>
            <a:endParaRPr lang="en-IN"/>
          </a:p>
        </p:txBody>
      </p:sp>
      <p:sp>
        <p:nvSpPr>
          <p:cNvPr id="9" name="Text 6"/>
          <p:cNvSpPr txBox="1"/>
          <p:nvPr/>
        </p:nvSpPr>
        <p:spPr>
          <a:xfrm>
            <a:off x="1280160" y="2606040"/>
            <a:ext cx="4434840" cy="594360"/>
          </a:xfrm>
          <a:prstGeom prst="rect">
            <a:avLst/>
          </a:prstGeom>
          <a:noFill/>
          <a:ln/>
        </p:spPr>
        <p:txBody>
          <a:bodyPr wrap="square" lIns="0" tIns="0" rIns="0" bIns="0" rtlCol="0" anchor="t"/>
          <a:lstStyle/>
          <a:p>
            <a:pPr marL="0" indent="0">
              <a:buNone/>
            </a:pPr>
            <a:r>
              <a:rPr lang="en-US" sz="1400" dirty="0">
                <a:solidFill>
                  <a:schemeClr val="tx1"/>
                </a:solidFill>
              </a:rPr>
              <a:t>Joins static health records with time-series sensor data</a:t>
            </a:r>
            <a:endParaRPr lang="en-US" sz="1400" dirty="0"/>
          </a:p>
        </p:txBody>
      </p:sp>
      <p:sp>
        <p:nvSpPr>
          <p:cNvPr id="10" name="Shape 7"/>
          <p:cNvSpPr/>
          <p:nvPr/>
        </p:nvSpPr>
        <p:spPr>
          <a:xfrm>
            <a:off x="932688" y="3346704"/>
            <a:ext cx="146304" cy="146304"/>
          </a:xfrm>
          <a:prstGeom prst="ellipse">
            <a:avLst/>
          </a:prstGeom>
          <a:solidFill>
            <a:schemeClr val="accent2"/>
          </a:solidFill>
          <a:ln/>
        </p:spPr>
        <p:txBody>
          <a:bodyPr/>
          <a:lstStyle/>
          <a:p>
            <a:endParaRPr lang="en-IN"/>
          </a:p>
        </p:txBody>
      </p:sp>
      <p:sp>
        <p:nvSpPr>
          <p:cNvPr id="11" name="Text 8"/>
          <p:cNvSpPr txBox="1"/>
          <p:nvPr/>
        </p:nvSpPr>
        <p:spPr>
          <a:xfrm>
            <a:off x="1280160" y="3273552"/>
            <a:ext cx="4434840" cy="594360"/>
          </a:xfrm>
          <a:prstGeom prst="rect">
            <a:avLst/>
          </a:prstGeom>
          <a:noFill/>
          <a:ln/>
        </p:spPr>
        <p:txBody>
          <a:bodyPr wrap="square" lIns="0" tIns="0" rIns="0" bIns="0" rtlCol="0" anchor="t"/>
          <a:lstStyle/>
          <a:p>
            <a:pPr marL="0" indent="0">
              <a:buNone/>
            </a:pPr>
            <a:r>
              <a:rPr lang="en-US" sz="1400" dirty="0">
                <a:solidFill>
                  <a:schemeClr val="tx1"/>
                </a:solidFill>
              </a:rPr>
              <a:t>Forecasts two hours ahead, beyond the current reading</a:t>
            </a:r>
            <a:endParaRPr lang="en-US" sz="1400" dirty="0"/>
          </a:p>
        </p:txBody>
      </p:sp>
      <p:sp>
        <p:nvSpPr>
          <p:cNvPr id="12" name="Shape 9"/>
          <p:cNvSpPr/>
          <p:nvPr/>
        </p:nvSpPr>
        <p:spPr>
          <a:xfrm>
            <a:off x="932688" y="4014216"/>
            <a:ext cx="146304" cy="146304"/>
          </a:xfrm>
          <a:prstGeom prst="ellipse">
            <a:avLst/>
          </a:prstGeom>
          <a:solidFill>
            <a:schemeClr val="accent2"/>
          </a:solidFill>
          <a:ln/>
        </p:spPr>
        <p:txBody>
          <a:bodyPr/>
          <a:lstStyle/>
          <a:p>
            <a:endParaRPr lang="en-IN"/>
          </a:p>
        </p:txBody>
      </p:sp>
      <p:sp>
        <p:nvSpPr>
          <p:cNvPr id="13" name="Text 10"/>
          <p:cNvSpPr txBox="1"/>
          <p:nvPr/>
        </p:nvSpPr>
        <p:spPr>
          <a:xfrm>
            <a:off x="1280160" y="3941064"/>
            <a:ext cx="4434840" cy="594360"/>
          </a:xfrm>
          <a:prstGeom prst="rect">
            <a:avLst/>
          </a:prstGeom>
          <a:noFill/>
          <a:ln/>
        </p:spPr>
        <p:txBody>
          <a:bodyPr wrap="square" lIns="0" tIns="0" rIns="0" bIns="0" rtlCol="0" anchor="t"/>
          <a:lstStyle/>
          <a:p>
            <a:pPr marL="0" indent="0">
              <a:buNone/>
            </a:pPr>
            <a:r>
              <a:rPr lang="en-US" sz="1400" dirty="0">
                <a:solidFill>
                  <a:schemeClr val="tx1"/>
                </a:solidFill>
              </a:rPr>
              <a:t>Patient-level evaluation on 24 unseen patients</a:t>
            </a:r>
            <a:endParaRPr lang="en-US" sz="1400" dirty="0"/>
          </a:p>
        </p:txBody>
      </p:sp>
      <p:sp>
        <p:nvSpPr>
          <p:cNvPr id="14" name="Shape 11"/>
          <p:cNvSpPr/>
          <p:nvPr/>
        </p:nvSpPr>
        <p:spPr>
          <a:xfrm>
            <a:off x="932688" y="4681728"/>
            <a:ext cx="146304" cy="146304"/>
          </a:xfrm>
          <a:prstGeom prst="ellipse">
            <a:avLst/>
          </a:prstGeom>
          <a:solidFill>
            <a:schemeClr val="accent2"/>
          </a:solidFill>
          <a:ln/>
        </p:spPr>
        <p:txBody>
          <a:bodyPr/>
          <a:lstStyle/>
          <a:p>
            <a:endParaRPr lang="en-IN"/>
          </a:p>
        </p:txBody>
      </p:sp>
      <p:sp>
        <p:nvSpPr>
          <p:cNvPr id="15" name="Text 12"/>
          <p:cNvSpPr txBox="1"/>
          <p:nvPr/>
        </p:nvSpPr>
        <p:spPr>
          <a:xfrm>
            <a:off x="1280160" y="4608576"/>
            <a:ext cx="4434840" cy="594360"/>
          </a:xfrm>
          <a:prstGeom prst="rect">
            <a:avLst/>
          </a:prstGeom>
          <a:noFill/>
          <a:ln/>
        </p:spPr>
        <p:txBody>
          <a:bodyPr wrap="square" lIns="0" tIns="0" rIns="0" bIns="0" rtlCol="0" anchor="t"/>
          <a:lstStyle/>
          <a:p>
            <a:pPr marL="0" indent="0">
              <a:buNone/>
            </a:pPr>
            <a:r>
              <a:rPr lang="en-US" sz="1400" dirty="0">
                <a:solidFill>
                  <a:schemeClr val="tx1"/>
                </a:solidFill>
              </a:rPr>
              <a:t>Interactive dashboard on reproducible synthetic data</a:t>
            </a:r>
            <a:endParaRPr lang="en-US" sz="1400" dirty="0"/>
          </a:p>
        </p:txBody>
      </p:sp>
      <p:sp>
        <p:nvSpPr>
          <p:cNvPr id="16" name="Shape 13"/>
          <p:cNvSpPr/>
          <p:nvPr/>
        </p:nvSpPr>
        <p:spPr>
          <a:xfrm>
            <a:off x="932688" y="5349240"/>
            <a:ext cx="146304" cy="146304"/>
          </a:xfrm>
          <a:prstGeom prst="ellipse">
            <a:avLst/>
          </a:prstGeom>
          <a:solidFill>
            <a:schemeClr val="accent2"/>
          </a:solidFill>
          <a:ln/>
        </p:spPr>
        <p:txBody>
          <a:bodyPr/>
          <a:lstStyle/>
          <a:p>
            <a:endParaRPr lang="en-IN"/>
          </a:p>
        </p:txBody>
      </p:sp>
      <p:sp>
        <p:nvSpPr>
          <p:cNvPr id="17" name="Text 14"/>
          <p:cNvSpPr txBox="1"/>
          <p:nvPr/>
        </p:nvSpPr>
        <p:spPr>
          <a:xfrm>
            <a:off x="1280160" y="5276088"/>
            <a:ext cx="4434840" cy="594360"/>
          </a:xfrm>
          <a:prstGeom prst="rect">
            <a:avLst/>
          </a:prstGeom>
          <a:noFill/>
          <a:ln/>
        </p:spPr>
        <p:txBody>
          <a:bodyPr wrap="square" lIns="0" tIns="0" rIns="0" bIns="0" rtlCol="0" anchor="t"/>
          <a:lstStyle/>
          <a:p>
            <a:pPr marL="0" indent="0">
              <a:buNone/>
            </a:pPr>
            <a:r>
              <a:rPr lang="en-US" sz="1400" dirty="0">
                <a:solidFill>
                  <a:schemeClr val="tx1"/>
                </a:solidFill>
              </a:rPr>
              <a:t>Transparent comparison against a simple baseline</a:t>
            </a:r>
            <a:endParaRPr lang="en-US" sz="1400" dirty="0"/>
          </a:p>
        </p:txBody>
      </p:sp>
      <p:sp>
        <p:nvSpPr>
          <p:cNvPr id="18" name="card"/>
          <p:cNvSpPr/>
          <p:nvPr/>
        </p:nvSpPr>
        <p:spPr>
          <a:xfrm>
            <a:off x="6245352" y="1600200"/>
            <a:ext cx="5394960" cy="4434840"/>
          </a:xfrm>
          <a:prstGeom prst="roundRect">
            <a:avLst>
              <a:gd name="adj" fmla="val 2474"/>
            </a:avLst>
          </a:prstGeom>
          <a:solidFill>
            <a:schemeClr val="bg2"/>
          </a:solidFill>
          <a:ln/>
        </p:spPr>
        <p:txBody>
          <a:bodyPr/>
          <a:lstStyle/>
          <a:p>
            <a:endParaRPr lang="en-IN"/>
          </a:p>
        </p:txBody>
      </p:sp>
      <p:sp>
        <p:nvSpPr>
          <p:cNvPr id="19" name="icon-circle"/>
          <p:cNvSpPr/>
          <p:nvPr/>
        </p:nvSpPr>
        <p:spPr>
          <a:xfrm>
            <a:off x="6519672" y="1801368"/>
            <a:ext cx="548640" cy="548640"/>
          </a:xfrm>
          <a:prstGeom prst="ellipse">
            <a:avLst/>
          </a:prstGeom>
          <a:solidFill>
            <a:schemeClr val="accent3"/>
          </a:solidFill>
          <a:ln/>
        </p:spPr>
        <p:txBody>
          <a:bodyPr/>
          <a:lstStyle/>
          <a:p>
            <a:endParaRPr lang="en-IN"/>
          </a:p>
        </p:txBody>
      </p:sp>
      <p:pic>
        <p:nvPicPr>
          <p:cNvPr id="20" name="icon-FaExclamationTriangle" descr="preencoded.png"/>
          <p:cNvPicPr>
            <a:picLocks noChangeAspect="1"/>
          </p:cNvPicPr>
          <p:nvPr/>
        </p:nvPicPr>
        <p:blipFill>
          <a:blip r:embed="rId4"/>
          <a:stretch>
            <a:fillRect/>
          </a:stretch>
        </p:blipFill>
        <p:spPr>
          <a:xfrm>
            <a:off x="6662318" y="1944014"/>
            <a:ext cx="263347" cy="263347"/>
          </a:xfrm>
          <a:prstGeom prst="rect">
            <a:avLst/>
          </a:prstGeom>
        </p:spPr>
      </p:pic>
      <p:sp>
        <p:nvSpPr>
          <p:cNvPr id="21" name="Text 17"/>
          <p:cNvSpPr txBox="1"/>
          <p:nvPr/>
        </p:nvSpPr>
        <p:spPr>
          <a:xfrm>
            <a:off x="7251192" y="1874520"/>
            <a:ext cx="4114800" cy="411480"/>
          </a:xfrm>
          <a:prstGeom prst="rect">
            <a:avLst/>
          </a:prstGeom>
          <a:noFill/>
          <a:ln/>
        </p:spPr>
        <p:txBody>
          <a:bodyPr wrap="square" lIns="0" tIns="0" rIns="0" bIns="0" rtlCol="0" anchor="t"/>
          <a:lstStyle/>
          <a:p>
            <a:pPr marL="0" indent="0">
              <a:buNone/>
            </a:pPr>
            <a:r>
              <a:rPr lang="en-US" sz="2000" b="1" dirty="0">
                <a:solidFill>
                  <a:schemeClr val="tx1"/>
                </a:solidFill>
              </a:rPr>
              <a:t>Limitations</a:t>
            </a:r>
            <a:endParaRPr lang="en-US" sz="2000" dirty="0"/>
          </a:p>
        </p:txBody>
      </p:sp>
      <p:sp>
        <p:nvSpPr>
          <p:cNvPr id="22" name="Shape 18"/>
          <p:cNvSpPr/>
          <p:nvPr/>
        </p:nvSpPr>
        <p:spPr>
          <a:xfrm>
            <a:off x="6629400" y="2679192"/>
            <a:ext cx="146304" cy="146304"/>
          </a:xfrm>
          <a:prstGeom prst="ellipse">
            <a:avLst/>
          </a:prstGeom>
          <a:solidFill>
            <a:schemeClr val="accent3"/>
          </a:solidFill>
          <a:ln/>
        </p:spPr>
        <p:txBody>
          <a:bodyPr/>
          <a:lstStyle/>
          <a:p>
            <a:endParaRPr lang="en-IN"/>
          </a:p>
        </p:txBody>
      </p:sp>
      <p:sp>
        <p:nvSpPr>
          <p:cNvPr id="23" name="Text 19"/>
          <p:cNvSpPr txBox="1"/>
          <p:nvPr/>
        </p:nvSpPr>
        <p:spPr>
          <a:xfrm>
            <a:off x="6976872" y="2606040"/>
            <a:ext cx="4434840" cy="594360"/>
          </a:xfrm>
          <a:prstGeom prst="rect">
            <a:avLst/>
          </a:prstGeom>
          <a:noFill/>
          <a:ln/>
        </p:spPr>
        <p:txBody>
          <a:bodyPr wrap="square" lIns="0" tIns="0" rIns="0" bIns="0" rtlCol="0" anchor="t"/>
          <a:lstStyle/>
          <a:p>
            <a:pPr marL="0" indent="0">
              <a:buNone/>
            </a:pPr>
            <a:r>
              <a:rPr lang="en-US" sz="1400" dirty="0">
                <a:solidFill>
                  <a:schemeClr val="tx1"/>
                </a:solidFill>
              </a:rPr>
              <a:t>Synthetic data may not reflect real physiology</a:t>
            </a:r>
            <a:endParaRPr lang="en-US" sz="1400" dirty="0"/>
          </a:p>
        </p:txBody>
      </p:sp>
      <p:sp>
        <p:nvSpPr>
          <p:cNvPr id="24" name="Shape 20"/>
          <p:cNvSpPr/>
          <p:nvPr/>
        </p:nvSpPr>
        <p:spPr>
          <a:xfrm>
            <a:off x="6629400" y="3346704"/>
            <a:ext cx="146304" cy="146304"/>
          </a:xfrm>
          <a:prstGeom prst="ellipse">
            <a:avLst/>
          </a:prstGeom>
          <a:solidFill>
            <a:schemeClr val="accent3"/>
          </a:solidFill>
          <a:ln/>
        </p:spPr>
        <p:txBody>
          <a:bodyPr/>
          <a:lstStyle/>
          <a:p>
            <a:endParaRPr lang="en-IN"/>
          </a:p>
        </p:txBody>
      </p:sp>
      <p:sp>
        <p:nvSpPr>
          <p:cNvPr id="25" name="Text 21"/>
          <p:cNvSpPr txBox="1"/>
          <p:nvPr/>
        </p:nvSpPr>
        <p:spPr>
          <a:xfrm>
            <a:off x="6976872" y="3273552"/>
            <a:ext cx="4434840" cy="594360"/>
          </a:xfrm>
          <a:prstGeom prst="rect">
            <a:avLst/>
          </a:prstGeom>
          <a:noFill/>
          <a:ln/>
        </p:spPr>
        <p:txBody>
          <a:bodyPr wrap="square" lIns="0" tIns="0" rIns="0" bIns="0" rtlCol="0" anchor="t"/>
          <a:lstStyle/>
          <a:p>
            <a:pPr marL="0" indent="0">
              <a:buNone/>
            </a:pPr>
            <a:r>
              <a:rPr lang="en-US" sz="1400" dirty="0">
                <a:solidFill>
                  <a:schemeClr val="tx1"/>
                </a:solidFill>
              </a:rPr>
              <a:t>No clinical validation or prospective testing</a:t>
            </a:r>
            <a:endParaRPr lang="en-US" sz="1400" dirty="0"/>
          </a:p>
        </p:txBody>
      </p:sp>
      <p:sp>
        <p:nvSpPr>
          <p:cNvPr id="26" name="Shape 22"/>
          <p:cNvSpPr/>
          <p:nvPr/>
        </p:nvSpPr>
        <p:spPr>
          <a:xfrm>
            <a:off x="6629400" y="4014216"/>
            <a:ext cx="146304" cy="146304"/>
          </a:xfrm>
          <a:prstGeom prst="ellipse">
            <a:avLst/>
          </a:prstGeom>
          <a:solidFill>
            <a:schemeClr val="accent3"/>
          </a:solidFill>
          <a:ln/>
        </p:spPr>
        <p:txBody>
          <a:bodyPr/>
          <a:lstStyle/>
          <a:p>
            <a:endParaRPr lang="en-IN"/>
          </a:p>
        </p:txBody>
      </p:sp>
      <p:sp>
        <p:nvSpPr>
          <p:cNvPr id="27" name="Text 23"/>
          <p:cNvSpPr txBox="1"/>
          <p:nvPr/>
        </p:nvSpPr>
        <p:spPr>
          <a:xfrm>
            <a:off x="6976872" y="3941064"/>
            <a:ext cx="4434840" cy="594360"/>
          </a:xfrm>
          <a:prstGeom prst="rect">
            <a:avLst/>
          </a:prstGeom>
          <a:noFill/>
          <a:ln/>
        </p:spPr>
        <p:txBody>
          <a:bodyPr wrap="square" lIns="0" tIns="0" rIns="0" bIns="0" rtlCol="0" anchor="t"/>
          <a:lstStyle/>
          <a:p>
            <a:pPr marL="0" indent="0">
              <a:buNone/>
            </a:pPr>
            <a:r>
              <a:rPr lang="en-US" sz="1400" dirty="0">
                <a:solidFill>
                  <a:schemeClr val="tx1"/>
                </a:solidFill>
              </a:rPr>
              <a:t>No real wearable integration</a:t>
            </a:r>
            <a:endParaRPr lang="en-US" sz="1400" dirty="0"/>
          </a:p>
        </p:txBody>
      </p:sp>
      <p:sp>
        <p:nvSpPr>
          <p:cNvPr id="28" name="Shape 24"/>
          <p:cNvSpPr/>
          <p:nvPr/>
        </p:nvSpPr>
        <p:spPr>
          <a:xfrm>
            <a:off x="6629400" y="4681728"/>
            <a:ext cx="146304" cy="146304"/>
          </a:xfrm>
          <a:prstGeom prst="ellipse">
            <a:avLst/>
          </a:prstGeom>
          <a:solidFill>
            <a:schemeClr val="accent3"/>
          </a:solidFill>
          <a:ln/>
        </p:spPr>
        <p:txBody>
          <a:bodyPr/>
          <a:lstStyle/>
          <a:p>
            <a:endParaRPr lang="en-IN"/>
          </a:p>
        </p:txBody>
      </p:sp>
      <p:sp>
        <p:nvSpPr>
          <p:cNvPr id="29" name="Text 25"/>
          <p:cNvSpPr txBox="1"/>
          <p:nvPr/>
        </p:nvSpPr>
        <p:spPr>
          <a:xfrm>
            <a:off x="6976872" y="4608576"/>
            <a:ext cx="4434840" cy="594360"/>
          </a:xfrm>
          <a:prstGeom prst="rect">
            <a:avLst/>
          </a:prstGeom>
          <a:noFill/>
          <a:ln/>
        </p:spPr>
        <p:txBody>
          <a:bodyPr wrap="square" lIns="0" tIns="0" rIns="0" bIns="0" rtlCol="0" anchor="t"/>
          <a:lstStyle/>
          <a:p>
            <a:pPr marL="0" indent="0">
              <a:buNone/>
            </a:pPr>
            <a:r>
              <a:rPr lang="en-US" sz="1400" dirty="0">
                <a:solidFill>
                  <a:schemeClr val="tx1"/>
                </a:solidFill>
              </a:rPr>
              <a:t>Predictions are correlations, not causal explanations</a:t>
            </a:r>
            <a:endParaRPr lang="en-US" sz="1400" dirty="0"/>
          </a:p>
        </p:txBody>
      </p:sp>
      <p:sp>
        <p:nvSpPr>
          <p:cNvPr id="30" name="Shape 26"/>
          <p:cNvSpPr/>
          <p:nvPr/>
        </p:nvSpPr>
        <p:spPr>
          <a:xfrm>
            <a:off x="6629400" y="5349240"/>
            <a:ext cx="146304" cy="146304"/>
          </a:xfrm>
          <a:prstGeom prst="ellipse">
            <a:avLst/>
          </a:prstGeom>
          <a:solidFill>
            <a:schemeClr val="accent3"/>
          </a:solidFill>
          <a:ln/>
        </p:spPr>
        <p:txBody>
          <a:bodyPr/>
          <a:lstStyle/>
          <a:p>
            <a:endParaRPr lang="en-IN"/>
          </a:p>
        </p:txBody>
      </p:sp>
      <p:sp>
        <p:nvSpPr>
          <p:cNvPr id="31" name="Text 27"/>
          <p:cNvSpPr txBox="1"/>
          <p:nvPr/>
        </p:nvSpPr>
        <p:spPr>
          <a:xfrm>
            <a:off x="6976872" y="5276088"/>
            <a:ext cx="4434840" cy="594360"/>
          </a:xfrm>
          <a:prstGeom prst="rect">
            <a:avLst/>
          </a:prstGeom>
          <a:noFill/>
          <a:ln/>
        </p:spPr>
        <p:txBody>
          <a:bodyPr wrap="square" lIns="0" tIns="0" rIns="0" bIns="0" rtlCol="0" anchor="t"/>
          <a:lstStyle/>
          <a:p>
            <a:pPr marL="0" indent="0">
              <a:buNone/>
            </a:pPr>
            <a:r>
              <a:rPr lang="en-US" sz="1400" dirty="0">
                <a:solidFill>
                  <a:schemeClr val="tx1"/>
                </a:solidFill>
              </a:rPr>
              <a:t>Any intervention simulation shown is not a validated treatment-effect model</a:t>
            </a:r>
            <a:endParaRPr lang="en-US" sz="1400" dirty="0"/>
          </a:p>
        </p:txBody>
      </p:sp>
      <p:sp>
        <p:nvSpPr>
          <p:cNvPr id="3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7315200" cy="274320"/>
          </a:xfrm>
          <a:prstGeom prst="rect">
            <a:avLst/>
          </a:prstGeom>
          <a:noFill/>
          <a:ln/>
        </p:spPr>
        <p:txBody>
          <a:bodyPr wrap="square" lIns="0" tIns="0" rIns="0" bIns="0" rtlCol="0"/>
          <a:lstStyle/>
          <a:p>
            <a:pPr marL="0" indent="0">
              <a:buNone/>
            </a:pPr>
            <a:r>
              <a:rPr lang="en-US" sz="1200" b="1" kern="0" spc="200" dirty="0">
                <a:solidFill>
                  <a:schemeClr val="accent1"/>
                </a:solidFill>
              </a:rPr>
              <a:t>12  ·  FUTURE SCOPE</a:t>
            </a:r>
            <a:endParaRPr lang="en-US" sz="1200" dirty="0"/>
          </a:p>
        </p:txBody>
      </p:sp>
      <p:sp>
        <p:nvSpPr>
          <p:cNvPr id="3" name="Text 0"/>
          <p:cNvSpPr>
            <a:spLocks noGrp="1"/>
          </p:cNvSpPr>
          <p:nvPr>
            <p:ph type="title" idx="101" hasCustomPrompt="1"/>
          </p:nvPr>
        </p:nvSpPr>
        <p:spPr>
          <a:xfrm>
            <a:off x="548640" y="566928"/>
            <a:ext cx="11064240" cy="731520"/>
          </a:xfrm>
          <a:prstGeom prst="rect">
            <a:avLst/>
          </a:prstGeom>
          <a:noFill/>
          <a:ln/>
        </p:spPr>
        <p:txBody>
          <a:bodyPr wrap="square" lIns="0" tIns="0" rIns="0" bIns="0" rtlCol="0" anchor="t"/>
          <a:lstStyle/>
          <a:p>
            <a:pPr marL="0" indent="0" algn="l">
              <a:buNone/>
            </a:pPr>
            <a:r>
              <a:rPr lang="en-US" sz="3400" b="1" dirty="0">
                <a:solidFill>
                  <a:schemeClr val="tx1"/>
                </a:solidFill>
              </a:rPr>
              <a:t>Next steps move from synthetic proof to real-world evidence</a:t>
            </a:r>
            <a:endParaRPr lang="en-US" sz="3400" dirty="0"/>
          </a:p>
        </p:txBody>
      </p:sp>
      <p:sp>
        <p:nvSpPr>
          <p:cNvPr id="4" name="today"/>
          <p:cNvSpPr/>
          <p:nvPr/>
        </p:nvSpPr>
        <p:spPr>
          <a:xfrm>
            <a:off x="548640" y="1554480"/>
            <a:ext cx="2377440" cy="3383280"/>
          </a:xfrm>
          <a:prstGeom prst="roundRect">
            <a:avLst>
              <a:gd name="adj" fmla="val 4615"/>
            </a:avLst>
          </a:prstGeom>
          <a:solidFill>
            <a:schemeClr val="tx1"/>
          </a:solidFill>
          <a:ln/>
        </p:spPr>
        <p:txBody>
          <a:bodyPr/>
          <a:lstStyle/>
          <a:p>
            <a:endParaRPr lang="en-IN"/>
          </a:p>
        </p:txBody>
      </p:sp>
      <p:sp>
        <p:nvSpPr>
          <p:cNvPr id="5" name="Text 3"/>
          <p:cNvSpPr txBox="1"/>
          <p:nvPr/>
        </p:nvSpPr>
        <p:spPr>
          <a:xfrm>
            <a:off x="777240" y="1783080"/>
            <a:ext cx="1965960" cy="3200400"/>
          </a:xfrm>
          <a:prstGeom prst="rect">
            <a:avLst/>
          </a:prstGeom>
          <a:noFill/>
          <a:ln/>
        </p:spPr>
        <p:txBody>
          <a:bodyPr wrap="square" lIns="0" tIns="0" rIns="0" bIns="0" rtlCol="0" anchor="t"/>
          <a:lstStyle/>
          <a:p>
            <a:pPr marL="0" indent="0">
              <a:buNone/>
            </a:pPr>
            <a:r>
              <a:rPr lang="en-US" sz="1200" b="1" kern="0" spc="200" dirty="0">
                <a:solidFill>
                  <a:schemeClr val="accent6"/>
                </a:solidFill>
              </a:rPr>
              <a:t>TODAY</a:t>
            </a:r>
            <a:endParaRPr lang="en-US" sz="1500" dirty="0"/>
          </a:p>
          <a:p>
            <a:pPr marL="0" indent="0">
              <a:buNone/>
            </a:pPr>
            <a:r>
              <a:rPr lang="en-US" sz="1700" b="1" dirty="0">
                <a:solidFill>
                  <a:schemeClr val="bg1"/>
                </a:solidFill>
              </a:rPr>
              <a:t>Working prototype</a:t>
            </a:r>
            <a:endParaRPr lang="en-US" sz="1500" dirty="0"/>
          </a:p>
          <a:p>
            <a:pPr marL="0" indent="0">
              <a:buNone/>
            </a:pPr>
            <a:r>
              <a:rPr lang="en-US" sz="800" dirty="0">
                <a:solidFill>
                  <a:schemeClr val="tx1"/>
                </a:solidFill>
              </a:rPr>
              <a:t> </a:t>
            </a:r>
            <a:endParaRPr lang="en-US" sz="1500" dirty="0"/>
          </a:p>
          <a:p>
            <a:pPr marL="0" indent="0">
              <a:buNone/>
            </a:pPr>
            <a:r>
              <a:rPr lang="en-US" sz="1300" dirty="0">
                <a:solidFill>
                  <a:schemeClr val="accent6"/>
                </a:solidFill>
              </a:rPr>
              <a:t>Synthetic data, Random Forest, patient-level test, Streamlit dashboard with replay</a:t>
            </a:r>
            <a:endParaRPr lang="en-US" sz="1500" dirty="0"/>
          </a:p>
        </p:txBody>
      </p:sp>
      <p:sp>
        <p:nvSpPr>
          <p:cNvPr id="6" name="Text 4"/>
          <p:cNvSpPr txBox="1"/>
          <p:nvPr/>
        </p:nvSpPr>
        <p:spPr>
          <a:xfrm>
            <a:off x="3200400" y="1554480"/>
            <a:ext cx="841248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FUTURE WORK  ·  not part of the current prototype</a:t>
            </a:r>
            <a:endParaRPr lang="en-US" sz="1100" dirty="0"/>
          </a:p>
        </p:txBody>
      </p:sp>
      <p:sp>
        <p:nvSpPr>
          <p:cNvPr id="7" name="card"/>
          <p:cNvSpPr/>
          <p:nvPr/>
        </p:nvSpPr>
        <p:spPr>
          <a:xfrm>
            <a:off x="3200400" y="1920240"/>
            <a:ext cx="2697480" cy="3017520"/>
          </a:xfrm>
          <a:prstGeom prst="roundRect">
            <a:avLst>
              <a:gd name="adj" fmla="val 4068"/>
            </a:avLst>
          </a:prstGeom>
          <a:solidFill>
            <a:schemeClr val="bg1"/>
          </a:solidFill>
          <a:ln w="12700">
            <a:solidFill>
              <a:srgbClr val="D3DEE4"/>
            </a:solidFill>
            <a:prstDash val="solid"/>
          </a:ln>
        </p:spPr>
        <p:txBody>
          <a:bodyPr/>
          <a:lstStyle/>
          <a:p>
            <a:endParaRPr lang="en-IN"/>
          </a:p>
        </p:txBody>
      </p:sp>
      <p:sp>
        <p:nvSpPr>
          <p:cNvPr id="8" name="Shape 6"/>
          <p:cNvSpPr/>
          <p:nvPr/>
        </p:nvSpPr>
        <p:spPr>
          <a:xfrm>
            <a:off x="3429000" y="2121408"/>
            <a:ext cx="502920" cy="502920"/>
          </a:xfrm>
          <a:prstGeom prst="ellipse">
            <a:avLst/>
          </a:prstGeom>
          <a:solidFill>
            <a:schemeClr val="accent1"/>
          </a:solidFill>
          <a:ln/>
        </p:spPr>
        <p:txBody>
          <a:bodyPr/>
          <a:lstStyle/>
          <a:p>
            <a:endParaRPr lang="en-IN"/>
          </a:p>
        </p:txBody>
      </p:sp>
      <p:sp>
        <p:nvSpPr>
          <p:cNvPr id="9" name="Text 7"/>
          <p:cNvSpPr txBox="1"/>
          <p:nvPr/>
        </p:nvSpPr>
        <p:spPr>
          <a:xfrm>
            <a:off x="3429000" y="212140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0" name="Text 8"/>
          <p:cNvSpPr txBox="1"/>
          <p:nvPr/>
        </p:nvSpPr>
        <p:spPr>
          <a:xfrm>
            <a:off x="4069080" y="2121408"/>
            <a:ext cx="1691640" cy="502920"/>
          </a:xfrm>
          <a:prstGeom prst="rect">
            <a:avLst/>
          </a:prstGeom>
          <a:noFill/>
          <a:ln/>
        </p:spPr>
        <p:txBody>
          <a:bodyPr wrap="square" lIns="0" tIns="0" rIns="0" bIns="0" rtlCol="0" anchor="ctr"/>
          <a:lstStyle/>
          <a:p>
            <a:pPr marL="0" indent="0">
              <a:buNone/>
            </a:pPr>
            <a:r>
              <a:rPr lang="en-US" sz="1500" b="1" dirty="0">
                <a:solidFill>
                  <a:schemeClr val="tx1"/>
                </a:solidFill>
              </a:rPr>
              <a:t>Strengthen the method</a:t>
            </a:r>
            <a:endParaRPr lang="en-US" sz="1500" dirty="0"/>
          </a:p>
        </p:txBody>
      </p:sp>
      <p:sp>
        <p:nvSpPr>
          <p:cNvPr id="11" name="Text 9"/>
          <p:cNvSpPr txBox="1"/>
          <p:nvPr/>
        </p:nvSpPr>
        <p:spPr>
          <a:xfrm>
            <a:off x="3429000" y="2834640"/>
            <a:ext cx="2286000" cy="20116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chemeClr val="tx1"/>
                </a:solidFill>
              </a:rPr>
              <a:t>Benchmark vs persistence, gradient boosting, time-series models</a:t>
            </a:r>
            <a:endParaRPr lang="en-US" sz="1300" dirty="0"/>
          </a:p>
          <a:p>
            <a:pPr marL="342900" indent="-342900">
              <a:spcAft>
                <a:spcPts val="1000"/>
              </a:spcAft>
              <a:buSzPct val="100000"/>
              <a:buChar char="•"/>
            </a:pPr>
            <a:r>
              <a:rPr lang="en-US" sz="1300" dirty="0">
                <a:solidFill>
                  <a:schemeClr val="tx1"/>
                </a:solidFill>
              </a:rPr>
              <a:t>Better missing-data handling</a:t>
            </a:r>
            <a:endParaRPr lang="en-US" sz="1300" dirty="0"/>
          </a:p>
          <a:p>
            <a:pPr marL="342900" indent="-342900">
              <a:spcAft>
                <a:spcPts val="1000"/>
              </a:spcAft>
              <a:buSzPct val="100000"/>
              <a:buChar char="•"/>
            </a:pPr>
            <a:r>
              <a:rPr lang="en-US" sz="1300" dirty="0">
                <a:solidFill>
                  <a:schemeClr val="tx1"/>
                </a:solidFill>
              </a:rPr>
              <a:t>Uncertainty estimates per forecast</a:t>
            </a:r>
            <a:endParaRPr lang="en-US" sz="1300" dirty="0"/>
          </a:p>
        </p:txBody>
      </p:sp>
      <p:sp>
        <p:nvSpPr>
          <p:cNvPr id="12" name="card"/>
          <p:cNvSpPr/>
          <p:nvPr/>
        </p:nvSpPr>
        <p:spPr>
          <a:xfrm>
            <a:off x="6062472" y="1920240"/>
            <a:ext cx="2697480" cy="3017520"/>
          </a:xfrm>
          <a:prstGeom prst="roundRect">
            <a:avLst>
              <a:gd name="adj" fmla="val 4068"/>
            </a:avLst>
          </a:prstGeom>
          <a:solidFill>
            <a:schemeClr val="bg1"/>
          </a:solidFill>
          <a:ln w="12700">
            <a:solidFill>
              <a:srgbClr val="D3DEE4"/>
            </a:solidFill>
            <a:prstDash val="solid"/>
          </a:ln>
        </p:spPr>
        <p:txBody>
          <a:bodyPr/>
          <a:lstStyle/>
          <a:p>
            <a:endParaRPr lang="en-IN"/>
          </a:p>
        </p:txBody>
      </p:sp>
      <p:sp>
        <p:nvSpPr>
          <p:cNvPr id="13" name="Shape 11"/>
          <p:cNvSpPr/>
          <p:nvPr/>
        </p:nvSpPr>
        <p:spPr>
          <a:xfrm>
            <a:off x="6291072" y="2121408"/>
            <a:ext cx="502920" cy="502920"/>
          </a:xfrm>
          <a:prstGeom prst="ellipse">
            <a:avLst/>
          </a:prstGeom>
          <a:solidFill>
            <a:schemeClr val="accent1"/>
          </a:solidFill>
          <a:ln/>
        </p:spPr>
        <p:txBody>
          <a:bodyPr/>
          <a:lstStyle/>
          <a:p>
            <a:endParaRPr lang="en-IN"/>
          </a:p>
        </p:txBody>
      </p:sp>
      <p:sp>
        <p:nvSpPr>
          <p:cNvPr id="14" name="Text 12"/>
          <p:cNvSpPr txBox="1"/>
          <p:nvPr/>
        </p:nvSpPr>
        <p:spPr>
          <a:xfrm>
            <a:off x="6291072" y="212140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5" name="Text 13"/>
          <p:cNvSpPr txBox="1"/>
          <p:nvPr/>
        </p:nvSpPr>
        <p:spPr>
          <a:xfrm>
            <a:off x="6931152" y="2121408"/>
            <a:ext cx="1691640" cy="502920"/>
          </a:xfrm>
          <a:prstGeom prst="rect">
            <a:avLst/>
          </a:prstGeom>
          <a:noFill/>
          <a:ln/>
        </p:spPr>
        <p:txBody>
          <a:bodyPr wrap="square" lIns="0" tIns="0" rIns="0" bIns="0" rtlCol="0" anchor="ctr"/>
          <a:lstStyle/>
          <a:p>
            <a:pPr marL="0" indent="0">
              <a:buNone/>
            </a:pPr>
            <a:r>
              <a:rPr lang="en-US" sz="1500" b="1" dirty="0">
                <a:solidFill>
                  <a:schemeClr val="tx1"/>
                </a:solidFill>
              </a:rPr>
              <a:t>Test on real evidence</a:t>
            </a:r>
            <a:endParaRPr lang="en-US" sz="1500" dirty="0"/>
          </a:p>
        </p:txBody>
      </p:sp>
      <p:sp>
        <p:nvSpPr>
          <p:cNvPr id="16" name="Text 14"/>
          <p:cNvSpPr txBox="1"/>
          <p:nvPr/>
        </p:nvSpPr>
        <p:spPr>
          <a:xfrm>
            <a:off x="6291072" y="2834640"/>
            <a:ext cx="2286000" cy="20116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chemeClr val="tx1"/>
                </a:solidFill>
              </a:rPr>
              <a:t>Authorized, de-identified clinical datasets</a:t>
            </a:r>
            <a:endParaRPr lang="en-US" sz="1300" dirty="0"/>
          </a:p>
          <a:p>
            <a:pPr marL="342900" indent="-342900">
              <a:spcAft>
                <a:spcPts val="1000"/>
              </a:spcAft>
              <a:buSzPct val="100000"/>
              <a:buChar char="•"/>
            </a:pPr>
            <a:r>
              <a:rPr lang="en-US" sz="1300" dirty="0">
                <a:solidFill>
                  <a:schemeClr val="tx1"/>
                </a:solidFill>
              </a:rPr>
              <a:t>External and prospective validation</a:t>
            </a:r>
            <a:endParaRPr lang="en-US" sz="1300" dirty="0"/>
          </a:p>
          <a:p>
            <a:pPr marL="342900" indent="-342900">
              <a:spcAft>
                <a:spcPts val="1000"/>
              </a:spcAft>
              <a:buSzPct val="100000"/>
              <a:buChar char="•"/>
            </a:pPr>
            <a:r>
              <a:rPr lang="en-US" sz="1300" dirty="0">
                <a:solidFill>
                  <a:schemeClr val="tx1"/>
                </a:solidFill>
              </a:rPr>
              <a:t>Clinician feedback, human-factors testing</a:t>
            </a:r>
            <a:endParaRPr lang="en-US" sz="1300" dirty="0"/>
          </a:p>
        </p:txBody>
      </p:sp>
      <p:sp>
        <p:nvSpPr>
          <p:cNvPr id="17" name="card"/>
          <p:cNvSpPr/>
          <p:nvPr/>
        </p:nvSpPr>
        <p:spPr>
          <a:xfrm>
            <a:off x="8924544" y="1920240"/>
            <a:ext cx="2697480" cy="3017520"/>
          </a:xfrm>
          <a:prstGeom prst="roundRect">
            <a:avLst>
              <a:gd name="adj" fmla="val 4068"/>
            </a:avLst>
          </a:prstGeom>
          <a:solidFill>
            <a:schemeClr val="bg1"/>
          </a:solidFill>
          <a:ln w="12700">
            <a:solidFill>
              <a:srgbClr val="D3DEE4"/>
            </a:solidFill>
            <a:prstDash val="solid"/>
          </a:ln>
        </p:spPr>
        <p:txBody>
          <a:bodyPr/>
          <a:lstStyle/>
          <a:p>
            <a:endParaRPr lang="en-IN"/>
          </a:p>
        </p:txBody>
      </p:sp>
      <p:sp>
        <p:nvSpPr>
          <p:cNvPr id="18" name="Shape 16"/>
          <p:cNvSpPr/>
          <p:nvPr/>
        </p:nvSpPr>
        <p:spPr>
          <a:xfrm>
            <a:off x="9153144" y="2121408"/>
            <a:ext cx="502920" cy="502920"/>
          </a:xfrm>
          <a:prstGeom prst="ellipse">
            <a:avLst/>
          </a:prstGeom>
          <a:solidFill>
            <a:schemeClr val="accent5"/>
          </a:solidFill>
          <a:ln/>
        </p:spPr>
        <p:txBody>
          <a:bodyPr/>
          <a:lstStyle/>
          <a:p>
            <a:endParaRPr lang="en-IN"/>
          </a:p>
        </p:txBody>
      </p:sp>
      <p:sp>
        <p:nvSpPr>
          <p:cNvPr id="19" name="Text 17"/>
          <p:cNvSpPr txBox="1"/>
          <p:nvPr/>
        </p:nvSpPr>
        <p:spPr>
          <a:xfrm>
            <a:off x="9153144" y="212140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0" name="Text 18"/>
          <p:cNvSpPr txBox="1"/>
          <p:nvPr/>
        </p:nvSpPr>
        <p:spPr>
          <a:xfrm>
            <a:off x="9793224" y="2121408"/>
            <a:ext cx="1691640" cy="502920"/>
          </a:xfrm>
          <a:prstGeom prst="rect">
            <a:avLst/>
          </a:prstGeom>
          <a:noFill/>
          <a:ln/>
        </p:spPr>
        <p:txBody>
          <a:bodyPr wrap="square" lIns="0" tIns="0" rIns="0" bIns="0" rtlCol="0" anchor="ctr"/>
          <a:lstStyle/>
          <a:p>
            <a:pPr marL="0" indent="0">
              <a:buNone/>
            </a:pPr>
            <a:r>
              <a:rPr lang="en-US" sz="1500" b="1" dirty="0">
                <a:solidFill>
                  <a:schemeClr val="tx1"/>
                </a:solidFill>
              </a:rPr>
              <a:t>Only after safeguards</a:t>
            </a:r>
            <a:endParaRPr lang="en-US" sz="1500" dirty="0"/>
          </a:p>
        </p:txBody>
      </p:sp>
      <p:sp>
        <p:nvSpPr>
          <p:cNvPr id="21" name="Text 19"/>
          <p:cNvSpPr txBox="1"/>
          <p:nvPr/>
        </p:nvSpPr>
        <p:spPr>
          <a:xfrm>
            <a:off x="9153144" y="2834640"/>
            <a:ext cx="2286000" cy="20116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chemeClr val="tx1"/>
                </a:solidFill>
              </a:rPr>
              <a:t>Secure integration with real sensors</a:t>
            </a:r>
            <a:endParaRPr lang="en-US" sz="1300" dirty="0"/>
          </a:p>
          <a:p>
            <a:pPr marL="342900" indent="-342900">
              <a:spcAft>
                <a:spcPts val="1000"/>
              </a:spcAft>
              <a:buSzPct val="100000"/>
              <a:buChar char="•"/>
            </a:pPr>
            <a:r>
              <a:rPr lang="en-US" sz="1300" dirty="0">
                <a:solidFill>
                  <a:schemeClr val="tx1"/>
                </a:solidFill>
              </a:rPr>
              <a:t>A properly validated intervention simulator</a:t>
            </a:r>
            <a:endParaRPr lang="en-US" sz="1300" dirty="0"/>
          </a:p>
        </p:txBody>
      </p:sp>
      <p:sp>
        <p:nvSpPr>
          <p:cNvPr id="22" name="Shape 20"/>
          <p:cNvSpPr/>
          <p:nvPr/>
        </p:nvSpPr>
        <p:spPr>
          <a:xfrm>
            <a:off x="2971800" y="3246120"/>
            <a:ext cx="182880" cy="914"/>
          </a:xfrm>
          <a:prstGeom prst="line">
            <a:avLst/>
          </a:prstGeom>
          <a:noFill/>
          <a:ln w="25400">
            <a:solidFill>
              <a:srgbClr val="0E8C8C"/>
            </a:solidFill>
            <a:prstDash val="solid"/>
            <a:tailEnd type="triangle"/>
          </a:ln>
        </p:spPr>
        <p:txBody>
          <a:bodyPr/>
          <a:lstStyle/>
          <a:p>
            <a:endParaRPr lang="en-IN"/>
          </a:p>
        </p:txBody>
      </p:sp>
      <p:sp>
        <p:nvSpPr>
          <p:cNvPr id="23" name="principle"/>
          <p:cNvSpPr/>
          <p:nvPr/>
        </p:nvSpPr>
        <p:spPr>
          <a:xfrm>
            <a:off x="548640" y="5257800"/>
            <a:ext cx="11091672" cy="731520"/>
          </a:xfrm>
          <a:prstGeom prst="roundRect">
            <a:avLst>
              <a:gd name="adj" fmla="val 12500"/>
            </a:avLst>
          </a:prstGeom>
          <a:solidFill>
            <a:schemeClr val="bg2"/>
          </a:solidFill>
          <a:ln/>
        </p:spPr>
        <p:txBody>
          <a:bodyPr/>
          <a:lstStyle/>
          <a:p>
            <a:endParaRPr lang="en-IN"/>
          </a:p>
        </p:txBody>
      </p:sp>
      <p:sp>
        <p:nvSpPr>
          <p:cNvPr id="24" name="icon-circle"/>
          <p:cNvSpPr/>
          <p:nvPr/>
        </p:nvSpPr>
        <p:spPr>
          <a:xfrm>
            <a:off x="731520" y="5367528"/>
            <a:ext cx="502920" cy="502920"/>
          </a:xfrm>
          <a:prstGeom prst="ellipse">
            <a:avLst/>
          </a:prstGeom>
          <a:solidFill>
            <a:schemeClr val="accent1"/>
          </a:solidFill>
          <a:ln/>
        </p:spPr>
        <p:txBody>
          <a:bodyPr/>
          <a:lstStyle/>
          <a:p>
            <a:endParaRPr lang="en-IN"/>
          </a:p>
        </p:txBody>
      </p:sp>
      <p:pic>
        <p:nvPicPr>
          <p:cNvPr id="25" name="icon-FaShieldAlt" descr="preencoded.png"/>
          <p:cNvPicPr>
            <a:picLocks noChangeAspect="1"/>
          </p:cNvPicPr>
          <p:nvPr/>
        </p:nvPicPr>
        <p:blipFill>
          <a:blip r:embed="rId3"/>
          <a:stretch>
            <a:fillRect/>
          </a:stretch>
        </p:blipFill>
        <p:spPr>
          <a:xfrm>
            <a:off x="862279" y="5498287"/>
            <a:ext cx="241402" cy="241402"/>
          </a:xfrm>
          <a:prstGeom prst="rect">
            <a:avLst/>
          </a:prstGeom>
        </p:spPr>
      </p:pic>
      <p:sp>
        <p:nvSpPr>
          <p:cNvPr id="26" name="Text 23"/>
          <p:cNvSpPr txBox="1"/>
          <p:nvPr/>
        </p:nvSpPr>
        <p:spPr>
          <a:xfrm>
            <a:off x="1417320" y="5257800"/>
            <a:ext cx="10058400" cy="731520"/>
          </a:xfrm>
          <a:prstGeom prst="rect">
            <a:avLst/>
          </a:prstGeom>
          <a:noFill/>
          <a:ln/>
        </p:spPr>
        <p:txBody>
          <a:bodyPr wrap="square" lIns="0" tIns="0" rIns="0" bIns="0" rtlCol="0" anchor="ctr"/>
          <a:lstStyle/>
          <a:p>
            <a:pPr marL="0" indent="0">
              <a:buNone/>
            </a:pPr>
            <a:r>
              <a:rPr lang="en-US" sz="1500" b="1" dirty="0">
                <a:solidFill>
                  <a:schemeClr val="tx1"/>
                </a:solidFill>
              </a:rPr>
              <a:t>Guiding principle: </a:t>
            </a:r>
            <a:r>
              <a:rPr lang="en-US" sz="1500" dirty="0">
                <a:solidFill>
                  <a:schemeClr val="tx1"/>
                </a:solidFill>
              </a:rPr>
              <a:t>no use with real patients until real-data validation, clinician input and appropriate safeguards are in place.</a:t>
            </a:r>
            <a:endParaRPr lang="en-US" sz="1500" dirty="0"/>
          </a:p>
        </p:txBody>
      </p:sp>
      <p:sp>
        <p:nvSpPr>
          <p:cNvPr id="2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7315200" cy="274320"/>
          </a:xfrm>
          <a:prstGeom prst="rect">
            <a:avLst/>
          </a:prstGeom>
          <a:noFill/>
          <a:ln/>
        </p:spPr>
        <p:txBody>
          <a:bodyPr wrap="square" lIns="0" tIns="0" rIns="0" bIns="0" rtlCol="0"/>
          <a:lstStyle/>
          <a:p>
            <a:pPr marL="0" indent="0">
              <a:buNone/>
            </a:pPr>
            <a:r>
              <a:rPr lang="en-US" sz="1200" b="1" kern="0" spc="200" dirty="0">
                <a:solidFill>
                  <a:schemeClr val="accent6"/>
                </a:solidFill>
              </a:rPr>
              <a:t>13  ·  CONCLUSION AND Q&amp;A</a:t>
            </a:r>
            <a:endParaRPr lang="en-US" sz="1200" dirty="0"/>
          </a:p>
        </p:txBody>
      </p:sp>
      <p:sp>
        <p:nvSpPr>
          <p:cNvPr id="3" name="Text 0"/>
          <p:cNvSpPr>
            <a:spLocks noGrp="1"/>
          </p:cNvSpPr>
          <p:nvPr>
            <p:ph type="title" idx="101" hasCustomPrompt="1"/>
          </p:nvPr>
        </p:nvSpPr>
        <p:spPr>
          <a:xfrm>
            <a:off x="548640" y="713232"/>
            <a:ext cx="11064240" cy="731520"/>
          </a:xfrm>
          <a:prstGeom prst="rect">
            <a:avLst/>
          </a:prstGeom>
          <a:noFill/>
          <a:ln/>
        </p:spPr>
        <p:txBody>
          <a:bodyPr wrap="square" lIns="0" tIns="0" rIns="0" bIns="0" rtlCol="0" anchor="t"/>
          <a:lstStyle/>
          <a:p>
            <a:pPr marL="0" indent="0" algn="l">
              <a:buNone/>
            </a:pPr>
            <a:r>
              <a:rPr lang="en-US" sz="3400" b="1" dirty="0">
                <a:solidFill>
                  <a:schemeClr val="bg1"/>
                </a:solidFill>
              </a:rPr>
              <a:t>What we showed, and what comes next</a:t>
            </a:r>
            <a:endParaRPr lang="en-US" sz="3400" dirty="0"/>
          </a:p>
        </p:txBody>
      </p:sp>
      <p:sp>
        <p:nvSpPr>
          <p:cNvPr id="4" name="summary-card"/>
          <p:cNvSpPr/>
          <p:nvPr/>
        </p:nvSpPr>
        <p:spPr>
          <a:xfrm>
            <a:off x="548640" y="1691640"/>
            <a:ext cx="2606040" cy="1828800"/>
          </a:xfrm>
          <a:prstGeom prst="roundRect">
            <a:avLst>
              <a:gd name="adj" fmla="val 6000"/>
            </a:avLst>
          </a:prstGeom>
          <a:solidFill>
            <a:schemeClr val="tx2"/>
          </a:solidFill>
          <a:ln w="12700">
            <a:solidFill>
              <a:srgbClr val="2A4B75"/>
            </a:solidFill>
            <a:prstDash val="solid"/>
          </a:ln>
        </p:spPr>
        <p:txBody>
          <a:bodyPr/>
          <a:lstStyle/>
          <a:p>
            <a:endParaRPr lang="en-IN"/>
          </a:p>
        </p:txBody>
      </p:sp>
      <p:sp>
        <p:nvSpPr>
          <p:cNvPr id="5" name="icon-circle"/>
          <p:cNvSpPr/>
          <p:nvPr/>
        </p:nvSpPr>
        <p:spPr>
          <a:xfrm>
            <a:off x="777240" y="1892808"/>
            <a:ext cx="502920" cy="502920"/>
          </a:xfrm>
          <a:prstGeom prst="ellipse">
            <a:avLst/>
          </a:prstGeom>
          <a:solidFill>
            <a:schemeClr val="accent1"/>
          </a:solidFill>
          <a:ln/>
        </p:spPr>
        <p:txBody>
          <a:bodyPr/>
          <a:lstStyle/>
          <a:p>
            <a:endParaRPr lang="en-IN"/>
          </a:p>
        </p:txBody>
      </p:sp>
      <p:pic>
        <p:nvPicPr>
          <p:cNvPr id="6" name="icon-FaClock" descr="preencoded.png"/>
          <p:cNvPicPr>
            <a:picLocks noChangeAspect="1"/>
          </p:cNvPicPr>
          <p:nvPr/>
        </p:nvPicPr>
        <p:blipFill>
          <a:blip r:embed="rId3"/>
          <a:stretch>
            <a:fillRect/>
          </a:stretch>
        </p:blipFill>
        <p:spPr>
          <a:xfrm>
            <a:off x="907999" y="2023567"/>
            <a:ext cx="241402" cy="241402"/>
          </a:xfrm>
          <a:prstGeom prst="rect">
            <a:avLst/>
          </a:prstGeom>
        </p:spPr>
      </p:pic>
      <p:sp>
        <p:nvSpPr>
          <p:cNvPr id="7" name="Text 4"/>
          <p:cNvSpPr txBox="1"/>
          <p:nvPr/>
        </p:nvSpPr>
        <p:spPr>
          <a:xfrm>
            <a:off x="1417320" y="1920240"/>
            <a:ext cx="1645920" cy="457200"/>
          </a:xfrm>
          <a:prstGeom prst="rect">
            <a:avLst/>
          </a:prstGeom>
          <a:noFill/>
          <a:ln/>
        </p:spPr>
        <p:txBody>
          <a:bodyPr wrap="square" lIns="0" tIns="0" rIns="0" bIns="0" rtlCol="0" anchor="ctr"/>
          <a:lstStyle/>
          <a:p>
            <a:pPr marL="0" indent="0">
              <a:buNone/>
            </a:pPr>
            <a:r>
              <a:rPr lang="en-US" sz="1600" b="1" dirty="0">
                <a:solidFill>
                  <a:schemeClr val="bg1"/>
                </a:solidFill>
              </a:rPr>
              <a:t>Problem</a:t>
            </a:r>
            <a:endParaRPr lang="en-US" sz="1600" dirty="0"/>
          </a:p>
        </p:txBody>
      </p:sp>
      <p:sp>
        <p:nvSpPr>
          <p:cNvPr id="8" name="Text 5"/>
          <p:cNvSpPr txBox="1"/>
          <p:nvPr/>
        </p:nvSpPr>
        <p:spPr>
          <a:xfrm>
            <a:off x="777240" y="2514600"/>
            <a:ext cx="2194560" cy="914400"/>
          </a:xfrm>
          <a:prstGeom prst="rect">
            <a:avLst/>
          </a:prstGeom>
          <a:noFill/>
          <a:ln/>
        </p:spPr>
        <p:txBody>
          <a:bodyPr wrap="square" lIns="0" tIns="0" rIns="0" bIns="0" rtlCol="0" anchor="t"/>
          <a:lstStyle/>
          <a:p>
            <a:pPr marL="0" indent="0">
              <a:buNone/>
            </a:pPr>
            <a:r>
              <a:rPr lang="en-US" sz="1300" dirty="0">
                <a:solidFill>
                  <a:schemeClr val="accent6"/>
                </a:solidFill>
              </a:rPr>
              <a:t>Glucose monitoring is mostly reactive.</a:t>
            </a:r>
            <a:endParaRPr lang="en-US" sz="1300" dirty="0"/>
          </a:p>
        </p:txBody>
      </p:sp>
      <p:sp>
        <p:nvSpPr>
          <p:cNvPr id="9" name="summary-card"/>
          <p:cNvSpPr/>
          <p:nvPr/>
        </p:nvSpPr>
        <p:spPr>
          <a:xfrm>
            <a:off x="3364992" y="1691640"/>
            <a:ext cx="2606040" cy="1828800"/>
          </a:xfrm>
          <a:prstGeom prst="roundRect">
            <a:avLst>
              <a:gd name="adj" fmla="val 6000"/>
            </a:avLst>
          </a:prstGeom>
          <a:solidFill>
            <a:schemeClr val="tx2"/>
          </a:solidFill>
          <a:ln w="12700">
            <a:solidFill>
              <a:srgbClr val="2A4B75"/>
            </a:solidFill>
            <a:prstDash val="solid"/>
          </a:ln>
        </p:spPr>
        <p:txBody>
          <a:bodyPr/>
          <a:lstStyle/>
          <a:p>
            <a:endParaRPr lang="en-IN"/>
          </a:p>
        </p:txBody>
      </p:sp>
      <p:sp>
        <p:nvSpPr>
          <p:cNvPr id="10" name="icon-circle"/>
          <p:cNvSpPr/>
          <p:nvPr/>
        </p:nvSpPr>
        <p:spPr>
          <a:xfrm>
            <a:off x="3593592" y="1892808"/>
            <a:ext cx="502920" cy="502920"/>
          </a:xfrm>
          <a:prstGeom prst="ellipse">
            <a:avLst/>
          </a:prstGeom>
          <a:solidFill>
            <a:schemeClr val="accent1"/>
          </a:solidFill>
          <a:ln/>
        </p:spPr>
        <p:txBody>
          <a:bodyPr/>
          <a:lstStyle/>
          <a:p>
            <a:endParaRPr lang="en-IN"/>
          </a:p>
        </p:txBody>
      </p:sp>
      <p:pic>
        <p:nvPicPr>
          <p:cNvPr id="11" name="icon-FaProjectDiagram" descr="preencoded.png"/>
          <p:cNvPicPr>
            <a:picLocks noChangeAspect="1"/>
          </p:cNvPicPr>
          <p:nvPr/>
        </p:nvPicPr>
        <p:blipFill>
          <a:blip r:embed="rId4"/>
          <a:stretch>
            <a:fillRect/>
          </a:stretch>
        </p:blipFill>
        <p:spPr>
          <a:xfrm>
            <a:off x="3724351" y="2023567"/>
            <a:ext cx="241402" cy="241402"/>
          </a:xfrm>
          <a:prstGeom prst="rect">
            <a:avLst/>
          </a:prstGeom>
        </p:spPr>
      </p:pic>
      <p:sp>
        <p:nvSpPr>
          <p:cNvPr id="12" name="Text 8"/>
          <p:cNvSpPr txBox="1"/>
          <p:nvPr/>
        </p:nvSpPr>
        <p:spPr>
          <a:xfrm>
            <a:off x="4233672" y="1920240"/>
            <a:ext cx="1645920" cy="457200"/>
          </a:xfrm>
          <a:prstGeom prst="rect">
            <a:avLst/>
          </a:prstGeom>
          <a:noFill/>
          <a:ln/>
        </p:spPr>
        <p:txBody>
          <a:bodyPr wrap="square" lIns="0" tIns="0" rIns="0" bIns="0" rtlCol="0" anchor="ctr"/>
          <a:lstStyle/>
          <a:p>
            <a:pPr marL="0" indent="0">
              <a:buNone/>
            </a:pPr>
            <a:r>
              <a:rPr lang="en-US" sz="1600" b="1" dirty="0">
                <a:solidFill>
                  <a:schemeClr val="bg1"/>
                </a:solidFill>
              </a:rPr>
              <a:t>Approach</a:t>
            </a:r>
            <a:endParaRPr lang="en-US" sz="1600" dirty="0"/>
          </a:p>
        </p:txBody>
      </p:sp>
      <p:sp>
        <p:nvSpPr>
          <p:cNvPr id="13" name="Text 9"/>
          <p:cNvSpPr txBox="1"/>
          <p:nvPr/>
        </p:nvSpPr>
        <p:spPr>
          <a:xfrm>
            <a:off x="3593592" y="2514600"/>
            <a:ext cx="2194560" cy="914400"/>
          </a:xfrm>
          <a:prstGeom prst="rect">
            <a:avLst/>
          </a:prstGeom>
          <a:noFill/>
          <a:ln/>
        </p:spPr>
        <p:txBody>
          <a:bodyPr wrap="square" lIns="0" tIns="0" rIns="0" bIns="0" rtlCol="0" anchor="t"/>
          <a:lstStyle/>
          <a:p>
            <a:pPr marL="0" indent="0">
              <a:buNone/>
            </a:pPr>
            <a:r>
              <a:rPr lang="en-US" sz="1300" dirty="0">
                <a:solidFill>
                  <a:schemeClr val="accent6"/>
                </a:solidFill>
              </a:rPr>
              <a:t>EHR profile + sensor history → Random Forest → 2-hour forecast → alert dashboard.</a:t>
            </a:r>
            <a:endParaRPr lang="en-US" sz="1300" dirty="0"/>
          </a:p>
        </p:txBody>
      </p:sp>
      <p:sp>
        <p:nvSpPr>
          <p:cNvPr id="14" name="summary-card"/>
          <p:cNvSpPr/>
          <p:nvPr/>
        </p:nvSpPr>
        <p:spPr>
          <a:xfrm>
            <a:off x="6181344" y="1691640"/>
            <a:ext cx="2606040" cy="1828800"/>
          </a:xfrm>
          <a:prstGeom prst="roundRect">
            <a:avLst>
              <a:gd name="adj" fmla="val 6000"/>
            </a:avLst>
          </a:prstGeom>
          <a:solidFill>
            <a:schemeClr val="tx2"/>
          </a:solidFill>
          <a:ln w="12700">
            <a:solidFill>
              <a:srgbClr val="2A4B75"/>
            </a:solidFill>
            <a:prstDash val="solid"/>
          </a:ln>
        </p:spPr>
        <p:txBody>
          <a:bodyPr/>
          <a:lstStyle/>
          <a:p>
            <a:endParaRPr lang="en-IN"/>
          </a:p>
        </p:txBody>
      </p:sp>
      <p:sp>
        <p:nvSpPr>
          <p:cNvPr id="15" name="icon-circle"/>
          <p:cNvSpPr/>
          <p:nvPr/>
        </p:nvSpPr>
        <p:spPr>
          <a:xfrm>
            <a:off x="6409944" y="1892808"/>
            <a:ext cx="502920" cy="502920"/>
          </a:xfrm>
          <a:prstGeom prst="ellipse">
            <a:avLst/>
          </a:prstGeom>
          <a:solidFill>
            <a:schemeClr val="accent2"/>
          </a:solidFill>
          <a:ln/>
        </p:spPr>
        <p:txBody>
          <a:bodyPr/>
          <a:lstStyle/>
          <a:p>
            <a:endParaRPr lang="en-IN"/>
          </a:p>
        </p:txBody>
      </p:sp>
      <p:pic>
        <p:nvPicPr>
          <p:cNvPr id="16" name="icon-FaChartLine" descr="preencoded.png"/>
          <p:cNvPicPr>
            <a:picLocks noChangeAspect="1"/>
          </p:cNvPicPr>
          <p:nvPr/>
        </p:nvPicPr>
        <p:blipFill>
          <a:blip r:embed="rId5"/>
          <a:stretch>
            <a:fillRect/>
          </a:stretch>
        </p:blipFill>
        <p:spPr>
          <a:xfrm>
            <a:off x="6540703" y="2023567"/>
            <a:ext cx="241402" cy="241402"/>
          </a:xfrm>
          <a:prstGeom prst="rect">
            <a:avLst/>
          </a:prstGeom>
        </p:spPr>
      </p:pic>
      <p:sp>
        <p:nvSpPr>
          <p:cNvPr id="17" name="Text 12"/>
          <p:cNvSpPr txBox="1"/>
          <p:nvPr/>
        </p:nvSpPr>
        <p:spPr>
          <a:xfrm>
            <a:off x="7050024" y="1920240"/>
            <a:ext cx="1645920" cy="457200"/>
          </a:xfrm>
          <a:prstGeom prst="rect">
            <a:avLst/>
          </a:prstGeom>
          <a:noFill/>
          <a:ln/>
        </p:spPr>
        <p:txBody>
          <a:bodyPr wrap="square" lIns="0" tIns="0" rIns="0" bIns="0" rtlCol="0" anchor="ctr"/>
          <a:lstStyle/>
          <a:p>
            <a:pPr marL="0" indent="0">
              <a:buNone/>
            </a:pPr>
            <a:r>
              <a:rPr lang="en-US" sz="1600" b="1" dirty="0">
                <a:solidFill>
                  <a:schemeClr val="bg1"/>
                </a:solidFill>
              </a:rPr>
              <a:t>Result</a:t>
            </a:r>
            <a:endParaRPr lang="en-US" sz="1600" dirty="0"/>
          </a:p>
        </p:txBody>
      </p:sp>
      <p:sp>
        <p:nvSpPr>
          <p:cNvPr id="18" name="Text 13"/>
          <p:cNvSpPr txBox="1"/>
          <p:nvPr/>
        </p:nvSpPr>
        <p:spPr>
          <a:xfrm>
            <a:off x="6409944" y="2514600"/>
            <a:ext cx="2194560" cy="914400"/>
          </a:xfrm>
          <a:prstGeom prst="rect">
            <a:avLst/>
          </a:prstGeom>
          <a:noFill/>
          <a:ln/>
        </p:spPr>
        <p:txBody>
          <a:bodyPr wrap="square" lIns="0" tIns="0" rIns="0" bIns="0" rtlCol="0" anchor="t"/>
          <a:lstStyle/>
          <a:p>
            <a:pPr marL="0" indent="0">
              <a:buNone/>
            </a:pPr>
            <a:r>
              <a:rPr lang="en-US" sz="1300" dirty="0">
                <a:solidFill>
                  <a:schemeClr val="accent6"/>
                </a:solidFill>
              </a:rPr>
              <a:t>MAE 11.439 vs 19.049 mg/dL baseline (≈39.9% lower) on 24 held-out synthetic patients.</a:t>
            </a:r>
            <a:endParaRPr lang="en-US" sz="1300" dirty="0"/>
          </a:p>
        </p:txBody>
      </p:sp>
      <p:sp>
        <p:nvSpPr>
          <p:cNvPr id="19" name="summary-card"/>
          <p:cNvSpPr/>
          <p:nvPr/>
        </p:nvSpPr>
        <p:spPr>
          <a:xfrm>
            <a:off x="8997696" y="1691640"/>
            <a:ext cx="2606040" cy="1828800"/>
          </a:xfrm>
          <a:prstGeom prst="roundRect">
            <a:avLst>
              <a:gd name="adj" fmla="val 6000"/>
            </a:avLst>
          </a:prstGeom>
          <a:solidFill>
            <a:schemeClr val="tx2"/>
          </a:solidFill>
          <a:ln w="12700">
            <a:solidFill>
              <a:srgbClr val="2A4B75"/>
            </a:solidFill>
            <a:prstDash val="solid"/>
          </a:ln>
        </p:spPr>
        <p:txBody>
          <a:bodyPr/>
          <a:lstStyle/>
          <a:p>
            <a:endParaRPr lang="en-IN"/>
          </a:p>
        </p:txBody>
      </p:sp>
      <p:sp>
        <p:nvSpPr>
          <p:cNvPr id="20" name="icon-circle"/>
          <p:cNvSpPr/>
          <p:nvPr/>
        </p:nvSpPr>
        <p:spPr>
          <a:xfrm>
            <a:off x="9226296" y="1892808"/>
            <a:ext cx="502920" cy="502920"/>
          </a:xfrm>
          <a:prstGeom prst="ellipse">
            <a:avLst/>
          </a:prstGeom>
          <a:solidFill>
            <a:schemeClr val="accent1"/>
          </a:solidFill>
          <a:ln/>
        </p:spPr>
        <p:txBody>
          <a:bodyPr/>
          <a:lstStyle/>
          <a:p>
            <a:endParaRPr lang="en-IN"/>
          </a:p>
        </p:txBody>
      </p:sp>
      <p:pic>
        <p:nvPicPr>
          <p:cNvPr id="21" name="icon-FaUserMd" descr="preencoded.png"/>
          <p:cNvPicPr>
            <a:picLocks noChangeAspect="1"/>
          </p:cNvPicPr>
          <p:nvPr/>
        </p:nvPicPr>
        <p:blipFill>
          <a:blip r:embed="rId6"/>
          <a:stretch>
            <a:fillRect/>
          </a:stretch>
        </p:blipFill>
        <p:spPr>
          <a:xfrm>
            <a:off x="9357055" y="2023567"/>
            <a:ext cx="241402" cy="241402"/>
          </a:xfrm>
          <a:prstGeom prst="rect">
            <a:avLst/>
          </a:prstGeom>
        </p:spPr>
      </p:pic>
      <p:sp>
        <p:nvSpPr>
          <p:cNvPr id="22" name="Text 16"/>
          <p:cNvSpPr txBox="1"/>
          <p:nvPr/>
        </p:nvSpPr>
        <p:spPr>
          <a:xfrm>
            <a:off x="9866376" y="1920240"/>
            <a:ext cx="1645920" cy="457200"/>
          </a:xfrm>
          <a:prstGeom prst="rect">
            <a:avLst/>
          </a:prstGeom>
          <a:noFill/>
          <a:ln/>
        </p:spPr>
        <p:txBody>
          <a:bodyPr wrap="square" lIns="0" tIns="0" rIns="0" bIns="0" rtlCol="0" anchor="ctr"/>
          <a:lstStyle/>
          <a:p>
            <a:pPr marL="0" indent="0">
              <a:buNone/>
            </a:pPr>
            <a:r>
              <a:rPr lang="en-US" sz="1600" b="1" dirty="0">
                <a:solidFill>
                  <a:schemeClr val="bg1"/>
                </a:solidFill>
              </a:rPr>
              <a:t>Next step</a:t>
            </a:r>
            <a:endParaRPr lang="en-US" sz="1600" dirty="0"/>
          </a:p>
        </p:txBody>
      </p:sp>
      <p:sp>
        <p:nvSpPr>
          <p:cNvPr id="23" name="Text 17"/>
          <p:cNvSpPr txBox="1"/>
          <p:nvPr/>
        </p:nvSpPr>
        <p:spPr>
          <a:xfrm>
            <a:off x="9226296" y="2514600"/>
            <a:ext cx="2194560" cy="914400"/>
          </a:xfrm>
          <a:prstGeom prst="rect">
            <a:avLst/>
          </a:prstGeom>
          <a:noFill/>
          <a:ln/>
        </p:spPr>
        <p:txBody>
          <a:bodyPr wrap="square" lIns="0" tIns="0" rIns="0" bIns="0" rtlCol="0" anchor="t"/>
          <a:lstStyle/>
          <a:p>
            <a:pPr marL="0" indent="0">
              <a:buNone/>
            </a:pPr>
            <a:r>
              <a:rPr lang="en-US" sz="1300" dirty="0">
                <a:solidFill>
                  <a:schemeClr val="accent6"/>
                </a:solidFill>
              </a:rPr>
              <a:t>Validate on authorized, de-identified real data before any clinical use.</a:t>
            </a:r>
            <a:endParaRPr lang="en-US" sz="1300" dirty="0"/>
          </a:p>
        </p:txBody>
      </p:sp>
      <p:sp>
        <p:nvSpPr>
          <p:cNvPr id="24" name="Text 18"/>
          <p:cNvSpPr txBox="1"/>
          <p:nvPr/>
        </p:nvSpPr>
        <p:spPr>
          <a:xfrm>
            <a:off x="548640" y="3794760"/>
            <a:ext cx="11064240" cy="822960"/>
          </a:xfrm>
          <a:prstGeom prst="rect">
            <a:avLst/>
          </a:prstGeom>
          <a:noFill/>
          <a:ln/>
        </p:spPr>
        <p:txBody>
          <a:bodyPr wrap="square" lIns="0" tIns="0" rIns="0" bIns="0" rtlCol="0" anchor="ctr"/>
          <a:lstStyle/>
          <a:p>
            <a:pPr marL="0" indent="0" algn="ctr">
              <a:buNone/>
            </a:pPr>
            <a:r>
              <a:rPr lang="en-US" sz="2400" b="1" i="1" dirty="0">
                <a:solidFill>
                  <a:schemeClr val="bg1"/>
                </a:solidFill>
              </a:rPr>
              <a:t>From glucose monitoring to glucose forecasting — a research prototype for proactive diabetes care.</a:t>
            </a:r>
            <a:endParaRPr lang="en-US" sz="2400" dirty="0"/>
          </a:p>
        </p:txBody>
      </p:sp>
      <p:pic>
        <p:nvPicPr>
          <p:cNvPr id="25" name="Image 4" descr="preencoded.png"/>
          <p:cNvPicPr>
            <a:picLocks noChangeAspect="1"/>
          </p:cNvPicPr>
          <p:nvPr/>
        </p:nvPicPr>
        <p:blipFill>
          <a:blip r:embed="rId7"/>
          <a:stretch>
            <a:fillRect/>
          </a:stretch>
        </p:blipFill>
        <p:spPr>
          <a:xfrm>
            <a:off x="914400" y="5029200"/>
            <a:ext cx="347472" cy="347472"/>
          </a:xfrm>
          <a:prstGeom prst="rect">
            <a:avLst/>
          </a:prstGeom>
        </p:spPr>
      </p:pic>
      <p:sp>
        <p:nvSpPr>
          <p:cNvPr id="26" name="Text 19"/>
          <p:cNvSpPr txBox="1"/>
          <p:nvPr/>
        </p:nvSpPr>
        <p:spPr>
          <a:xfrm>
            <a:off x="1417320" y="5010912"/>
            <a:ext cx="3017520" cy="384048"/>
          </a:xfrm>
          <a:prstGeom prst="rect">
            <a:avLst/>
          </a:prstGeom>
          <a:noFill/>
          <a:ln/>
        </p:spPr>
        <p:txBody>
          <a:bodyPr wrap="square" lIns="0" tIns="0" rIns="0" bIns="0" rtlCol="0" anchor="ctr"/>
          <a:lstStyle/>
          <a:p>
            <a:pPr marL="0" indent="0">
              <a:buNone/>
            </a:pPr>
            <a:r>
              <a:rPr lang="en-US" sz="1400" b="1" dirty="0">
                <a:solidFill>
                  <a:schemeClr val="accent3"/>
                </a:solidFill>
                <a:hlinkClick r:id="rId8">
                  <a:extLst>
                    <a:ext uri="{A12FA001-AC4F-418D-AE19-62706E023703}">
                      <ahyp:hlinkClr xmlns:ahyp="http://schemas.microsoft.com/office/drawing/2018/hyperlinkcolor" val="tx"/>
                    </a:ext>
                  </a:extLst>
                </a:hlinkClick>
              </a:rPr>
              <a:t>[GITHUB REPOSITORY URL]</a:t>
            </a:r>
            <a:endParaRPr lang="en-US" sz="1400" dirty="0">
              <a:solidFill>
                <a:schemeClr val="accent3"/>
              </a:solidFill>
            </a:endParaRPr>
          </a:p>
        </p:txBody>
      </p:sp>
      <p:pic>
        <p:nvPicPr>
          <p:cNvPr id="27" name="Image 5" descr="preencoded.png"/>
          <p:cNvPicPr>
            <a:picLocks noChangeAspect="1"/>
          </p:cNvPicPr>
          <p:nvPr/>
        </p:nvPicPr>
        <p:blipFill>
          <a:blip r:embed="rId9"/>
          <a:stretch>
            <a:fillRect/>
          </a:stretch>
        </p:blipFill>
        <p:spPr>
          <a:xfrm>
            <a:off x="4572000" y="5029200"/>
            <a:ext cx="347472" cy="347472"/>
          </a:xfrm>
          <a:prstGeom prst="rect">
            <a:avLst/>
          </a:prstGeom>
        </p:spPr>
      </p:pic>
      <p:sp>
        <p:nvSpPr>
          <p:cNvPr id="28" name="Text 20"/>
          <p:cNvSpPr txBox="1"/>
          <p:nvPr/>
        </p:nvSpPr>
        <p:spPr>
          <a:xfrm>
            <a:off x="5074920" y="5010912"/>
            <a:ext cx="3017520" cy="384048"/>
          </a:xfrm>
          <a:prstGeom prst="rect">
            <a:avLst/>
          </a:prstGeom>
          <a:noFill/>
          <a:ln/>
        </p:spPr>
        <p:txBody>
          <a:bodyPr wrap="square" lIns="0" tIns="0" rIns="0" bIns="0" rtlCol="0" anchor="ctr"/>
          <a:lstStyle/>
          <a:p>
            <a:pPr marL="0" indent="0">
              <a:buNone/>
            </a:pPr>
            <a:r>
              <a:rPr lang="en-US" sz="1400" b="1" dirty="0">
                <a:solidFill>
                  <a:schemeClr val="accent3"/>
                </a:solidFill>
                <a:hlinkClick r:id="rId10">
                  <a:extLst>
                    <a:ext uri="{A12FA001-AC4F-418D-AE19-62706E023703}">
                      <ahyp:hlinkClr xmlns:ahyp="http://schemas.microsoft.com/office/drawing/2018/hyperlinkcolor" val="tx"/>
                    </a:ext>
                  </a:extLst>
                </a:hlinkClick>
              </a:rPr>
              <a:t>[DEMO VIDEO URL]</a:t>
            </a:r>
            <a:endParaRPr lang="en-US" sz="1400" dirty="0">
              <a:solidFill>
                <a:schemeClr val="accent3"/>
              </a:solidFill>
            </a:endParaRPr>
          </a:p>
        </p:txBody>
      </p:sp>
      <p:pic>
        <p:nvPicPr>
          <p:cNvPr id="29" name="Image 6" descr="preencoded.png"/>
          <p:cNvPicPr>
            <a:picLocks noChangeAspect="1"/>
          </p:cNvPicPr>
          <p:nvPr/>
        </p:nvPicPr>
        <p:blipFill>
          <a:blip r:embed="rId11"/>
          <a:stretch>
            <a:fillRect/>
          </a:stretch>
        </p:blipFill>
        <p:spPr>
          <a:xfrm>
            <a:off x="8229600" y="5029200"/>
            <a:ext cx="347472" cy="347472"/>
          </a:xfrm>
          <a:prstGeom prst="rect">
            <a:avLst/>
          </a:prstGeom>
        </p:spPr>
      </p:pic>
      <p:sp>
        <p:nvSpPr>
          <p:cNvPr id="30" name="Text 21"/>
          <p:cNvSpPr txBox="1"/>
          <p:nvPr/>
        </p:nvSpPr>
        <p:spPr>
          <a:xfrm>
            <a:off x="8732520" y="5010912"/>
            <a:ext cx="3017520" cy="384048"/>
          </a:xfrm>
          <a:prstGeom prst="rect">
            <a:avLst/>
          </a:prstGeom>
          <a:noFill/>
          <a:ln/>
        </p:spPr>
        <p:txBody>
          <a:bodyPr wrap="square" lIns="0" tIns="0" rIns="0" bIns="0" rtlCol="0" anchor="ctr"/>
          <a:lstStyle/>
          <a:p>
            <a:pPr marL="0" indent="0">
              <a:buNone/>
            </a:pPr>
            <a:r>
              <a:rPr lang="en-US" sz="1400" b="1" dirty="0">
                <a:solidFill>
                  <a:schemeClr val="accent3"/>
                </a:solidFill>
              </a:rPr>
              <a:t>prateekkumarprasad15@gmail.com</a:t>
            </a:r>
            <a:endParaRPr lang="en-US" sz="1400" dirty="0"/>
          </a:p>
        </p:txBody>
      </p:sp>
      <p:sp>
        <p:nvSpPr>
          <p:cNvPr id="31" name="Text 22"/>
          <p:cNvSpPr txBox="1"/>
          <p:nvPr/>
        </p:nvSpPr>
        <p:spPr>
          <a:xfrm>
            <a:off x="548640" y="5897880"/>
            <a:ext cx="5486400" cy="320040"/>
          </a:xfrm>
          <a:prstGeom prst="rect">
            <a:avLst/>
          </a:prstGeom>
          <a:noFill/>
          <a:ln/>
        </p:spPr>
        <p:txBody>
          <a:bodyPr wrap="square" lIns="0" tIns="0" rIns="0" bIns="0" rtlCol="0" anchor="t"/>
          <a:lstStyle/>
          <a:p>
            <a:pPr marL="0" indent="0">
              <a:buNone/>
            </a:pPr>
            <a:r>
              <a:rPr lang="en-US" sz="1300" dirty="0">
                <a:solidFill>
                  <a:schemeClr val="accent6"/>
                </a:solidFill>
              </a:rPr>
              <a:t>Thank you · Questions welcome</a:t>
            </a:r>
            <a:endParaRPr lang="en-US" sz="1300" dirty="0"/>
          </a:p>
        </p:txBody>
      </p:sp>
      <p:sp>
        <p:nvSpPr>
          <p:cNvPr id="3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GlucoTwin">
  <a:themeElements>
    <a:clrScheme name="GlucoTwin">
      <a:dk1>
        <a:srgbClr val="0B2545"/>
      </a:dk1>
      <a:lt1>
        <a:srgbClr val="FFFFFF"/>
      </a:lt1>
      <a:dk2>
        <a:srgbClr val="13315C"/>
      </a:dk2>
      <a:lt2>
        <a:srgbClr val="EEF5F7"/>
      </a:lt2>
      <a:accent1>
        <a:srgbClr val="0E8C8C"/>
      </a:accent1>
      <a:accent2>
        <a:srgbClr val="2BB673"/>
      </a:accent2>
      <a:accent3>
        <a:srgbClr val="E8A33D"/>
      </a:accent3>
      <a:accent4>
        <a:srgbClr val="C8483F"/>
      </a:accent4>
      <a:accent5>
        <a:srgbClr val="5B7083"/>
      </a:accent5>
      <a:accent6>
        <a:srgbClr val="BFE6E3"/>
      </a:accent6>
      <a:hlink>
        <a:srgbClr val="0E8C8C"/>
      </a:hlink>
      <a:folHlink>
        <a:srgbClr val="5B7083"/>
      </a:folHlink>
    </a:clrScheme>
    <a:fontScheme name="GlucoTw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5648</Words>
  <Application>Microsoft Office PowerPoint</Application>
  <PresentationFormat>Widescreen</PresentationFormat>
  <Paragraphs>309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GlucoTwin</vt:lpstr>
      <vt:lpstr>GlucoTwin</vt:lpstr>
      <vt:lpstr>We see today’s glucose, not where it is heading</vt:lpstr>
      <vt:lpstr>GlucoTwin estimates each patient’s glucose two hours ahead</vt:lpstr>
      <vt:lpstr>A virtual patient that updates with data, scoped honestly</vt:lpstr>
      <vt:lpstr>Two synthetic sources: a static profile and a dynamic stream</vt:lpstr>
      <vt:lpstr>An offline training path and a runtime forecasting path</vt:lpstr>
      <vt:lpstr>Inputs look back; the target is 120 minutes ahead</vt:lpstr>
      <vt:lpstr>A Random Forest, tested on patients it has never seen</vt:lpstr>
      <vt:lpstr>One screen to follow a patient’s glucose and forecast</vt:lpstr>
      <vt:lpstr>~40% lower error than a simple baseline</vt:lpstr>
      <vt:lpstr>Simple, transparent rules turn a forecast into an alert</vt:lpstr>
      <vt:lpstr>What we built well, and what it cannot claim yet</vt:lpstr>
      <vt:lpstr>Next steps move from synthetic proof to real-world evidence</vt:lpstr>
      <vt:lpstr>What we showed, and what comes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Predictive Digital Twin for Type 2 Diabetes Monitoring</dc:title>
  <dc:subject>Happiest Health Digital Twin Challenge 2026</dc:subject>
  <dc:creator>PptxGenJS</dc:creator>
  <cp:lastModifiedBy>Prateek Kumar Prasad</cp:lastModifiedBy>
  <cp:revision>2</cp:revision>
  <cp:lastPrinted>2026-10-20T08:09:37Z</cp:lastPrinted>
  <dcterms:created xsi:type="dcterms:W3CDTF">2026-10-20T06:04:07Z</dcterms:created>
  <dcterms:modified xsi:type="dcterms:W3CDTF">2026-10-20T08:10:07Z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2026-10-20T08:10:07Z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c393e2ef-9c24-4bfc-bf28-c48ac7208f2e</vt:lpwstr>
  </property>
  <property fmtid="{D5CDD505-2E9C-101B-9397-08002B2CF9AE}" pid="7" name="MSIP_Label_defa4170-0d19-0005-0004-bc88714345d2_ActionId">
    <vt:lpwstr>a20b190a-e29b-476a-8bfb-ff2d505b5cc2</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